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the time. This is Chromopunk: Resonators — a novel pitch and a universe pitch in one document. It is unofficial fan work: an alternate continuity that grows out of Mike Pondsmith's Cyberpunk, with its own city, its own science, and its own six-month crisis. The tagline is the whole thesis — the person is the final colony. Everything you are about to see runs on one clock: an emergency corporate charter that expires at midnight on December 31, 2084. When I say “the Compact,” that is the clock I mean. Let's start with the sentence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logline, essentially as it appears in the world bible. Three things to hold: a seventeen-year-old escapee whose body is the most valuable object in the hemisphere; a city — Domingo City, on the Texas Gulf coast — walking toward an independence referendum; and a countdown, because Bloodline's emergency charter, the Matagorda Compact, runs out at year's end. And note the phrasing at the end: what the boys are FOR. The entire book is people answering that question wrongly.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remember one slide, it is this one. Three boys in one body — two of them died in the program, and their partial consciousnesses ride with the survivor. A city with a hard deadline. And six factions who all want the same kid, for six different reasons. None of this is metaphor; it is all literally true in the story, and it all pays off. If this hooks you, everything else in the deck is just me showing you the machinery.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anyone tracking IP questions: Chromopunk is a fan continuity, and it is honest about it. It inherits the official foundation — Night City, the Corporate Wars, the DataKrash — unchanged. Then, in 2045, it branches permanently: in this timeline space law failed in 1967, so territory can be owned off Earth, and cybernetics merged with biotech into living chrome. Nothing official gets overwritten or contradicted; the branch simply stops tracking canon and grows its own future. One trunk, one clean break.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deck's thesis slide. One question, asked at every scale: does creating, protecting, financing, or depending on something give you the right to own it? Nations ask it about the heavens. Texas asks it about Domingo. Domingo asks it about the coast beneath it. Bloodline asks it about the people it activates. And Vin asks it about his own body. Every empire in the setting answers yes. The book spends five hundred pages testing that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world tour. The divergence starts in 1967, when the Outer Space Treaty fails — settlement creates ownership, so the Cold War goes four-sided and moves upstairs. The Moon and Mars become territory, then industry, then battlefields. And here is the economic engine of everything: modifying a worker's body turns out to be cheaper than making any environment safe. That is why biotech wins, why Bloodline exists, and why a human being can end up classified as infrastructure. The full 1967-to-2084 timeline is built out in the bible.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setting is the second protagonist. Domingo City: 8.6 million people around Matagorda Bay, inside a sovereign Republic of Texas. It was designed by a founder as a corporate project — and the workers who built it turned it into their own city: Caribbean, Latin American, Black Texan, Tejano, maritime, hurricane-drilled, union-organized. Six districts, each with its own politics, plus South Columbia — a coastal territory Domingo claims, which refuses to be claimed. That refusal mirrors the whole plot. And no: it is not Night City with a Gulf accent.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power system, and the rule that makes it publishable: Resonance is not magic. Bloodline's BEA-V7 process activates a rare dormant trait and shapes it through living chrome. Seven spectra — fire, water, earth, wind, ice, lightning, blood — and every single effect has a biological source, a mechanism, an environmental requirement, and a physical cost. Water needs liquid. Wind needs air. Fire cooks its own user. Readers can trust the system, which means every use of power is a plot decision, not a rescue.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cruelest piece of worldbuilding, and the spine of the book. Activation triggers the Rot — a progressive degeneration. The only management is Reprieve, Bloodline's drug, dosed every three days through hardware only Bloodline can authenticate. And output accelerates decline: the more a Resonator gives, the faster they fail, and the more medicine they need. Power literally increases dependency. Medicine becomes payroll, border control, and prison. Every theme in the novel is this slide, scaled up or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heart. Bloodline's program ran three boys as components. Elik Baptiste — the Heart — a healer who wanted to go home and run a clinic; he died in the program at sixteen. Tomas Vega — Boy Thunder — a war-hero celebrity built from edited footage. And Vin, the vessel built to carry both. Care, glory, choice. The detail I always share: before every test, they said each other's names out loud. Names before numbers. That ritual is the emotional engine of the whole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Vin — and this is the friend-drawn concept art the story grew around. Look at the proportions: the hardware reads as a weapon, the face reads as a kid. That contrast is the character. The gold curls are not style, they are damage — a side effect of the program; his hair was dark before Bloodline. He is seventeen, he lies automatically, he watches exits, and he loves baseball statistics that are decades out of date. What he wants is almost embarrassingly small: to exist without being useful to anyone. Nobody in the story is willing to give him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Nicole is the second pole of the book. Sixteen, Vin's younger sister — and the High Priestess of the Serpentine, the Resonator faith-and-mutual-aid movement. She became a public saint through real courage and a managed lie: she was told her brother died in 2079. He did not. The institution that raised her knew. Her arc runs opposite to Vin's: he is escaping ownership, she is discovering she is owned — by a faith, a brand, and a grief that was engineered. Brother, institution, symbol: she can keep two of the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opposition, and a promise: no cartoon villains. Jaylin Rodríguez — Bloodline's CEO and the kids' uncle — genuinely loves them, and believes love confers the right to decide for them. He is most dangerous when he thinks he is being merciful, and here is the uncomfortable part: he is partially correct — unmanaged Resonance would kill people. Around him: Harrow, who argues the implants, not the boy, are corporate property; Rusk, who prefers recovery but accepts termination; and Kade, who thinks individuality is a rounding error. Everyone here is somebody's reasonable answer to a real catastrophe.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Structure-wise, the book is a fuse. It lights at 23:48 on May 31 — the Fourfold Fall, orbital nuclear strikes on Washington, Night City, Nova York, and Texas. Vin walks out of custody nineteen minutes into June 1. It detonates at midnight, December 31, when the Compact expires and the independence referendum lands — three legal orders colliding at once. Between those bookends, six claims close in on one boy: infrastructure, evidence, leverage, testimony, revelation, family. That last one — the mothers of the dead boys — hits hardest.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parts, May to December: the escape; the crossing of the city's seven cultures; the medicine siege — where captivity could buy Reprieve for thousands and freedom becomes morally expensive; the archive heist that proves no faction is clean; the multi-conspiracy disaster at the barrier; the referendum; and the midnight endgame. There is a prologue in 2081 and an epilogue on January 1, 2085. Under this sits a complete fifty-chapter map — viewpoint, reversal, and consequence per chapter. It exists and travels with the bible; I am deliberately not walking you through it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why the book holds together: every political conflict has an exact mirror inside Vin's body. Texas built Domingo and claims it; Bloodline built Vin's body and claims it. Domingo annexes South Columbia to survive hurricanes; the two anchors seize Vin's controls to survive crises. And the two big systems rhyme: TRINITY GLASS, the three-way orbital deterrent that fires the catastrophe, and CITYHEART, the city's life support keyed to three boys. Keep those straight — one is the weapon, one is the life support. The closing line is the book's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Tone comps, which the creator can re-slate. Edgerunners for the tragedy with warmth. Arcane for a city and a family inside institutions that love badly. The Expanse for politics that behave like weather. And Fullmetal Alchemist: Brotherhood for brothers sharing one body's consequences. The position in one line: street-level intimacy inside continental-scale politics. Chapters live at the scale of food, rent, transit, and bad singing; the stakes live at the scale of secession and orbital law.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universe-minded readers: Book One closes its own story and leaves the engines running. A recognition crisis — three legal orders on one coastline. A scramble for the fragments of a broken monopoly. Off-world programs built on leaked activation research. And one quiet time bomb: a defector kept unauthorized copies of the two dead boys. None of this reopens Book One's plot; all of it grows from Book One's outcome. The universe is built for more, without cliffhanging the novel.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Provenance, plainly. This is an unofficial, fan-created alternate continuity inspired by Mike Pondsmith's Cyberpunk universe — published by R. Talsorian Games, with game-world development by CD PROJEKT RED — and it claims no ownership of official names or settings. It is non-commercial creative development. Behind this deck sits a twelve-volume, fifty-seven-file world bible covering 1967 to 2084. Contact details and the artist credit are being finalized — those are the bracketed fields — and the bible is available on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continue: everything past this slide spoils Book One's ending. If you are evaluating the property, keep going — you should see the landing before you buy the flight. If you are a fan or a potential collaborator who wants to read it cold, stop here; the deck is complete without the appendix. In the interactive HTML version this is an actual locked gate with a confirmation step. In this deck, it is your call — the next slide is the 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intended ending — The Distributed City. Vin, Elik, and Tomas break CITYHEART's authority apart and hand the pieces to district utilities, hospitals, worker networks, Resonator cooperatives, and South Columbia. Independence passes at 56.2 percent and is declared January 1. And it costs: blackouts, medical failures, deaths among the Grid's terminal patients — because Bloodline designed the system to punish removal. Jaylin survives, stripped of command, still insisting the city will prove him right. No clean victory — that is deliberate. The thesis resolves: dependence remains; ownership 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slide: how the mysteries are engineered. Each one is a three-beat structure — the public lie, the hidden truth, and the cost of the truth, because in this book answers always have a price. Domingo's survival was courage and triage. White Mesa was a massacre edited into heroism. The Fourfold Fall has no single villain to blame. And “is Vin alive” costs Nicole her entire public identity. There are ten of these in the bible, each scheduled against the seven parts. Revelation is treated as plot, not trivia. That is the pitch —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SALT_COVER-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ALT_CONTENT-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SALT_DIVIDER-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ALT_COV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522208" y="486460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4A5560"/>
                </a:solidFill>
                <a:latin typeface="Courier New"/>
                <a:ea typeface="Courier New"/>
                <a:cs typeface="Courier New"/>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ALT_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7863840" cy="292608"/>
          </a:xfrm>
          <a:prstGeom prst="rect">
            <a:avLst/>
          </a:prstGeom>
          <a:noFill/>
          <a:ln/>
        </p:spPr>
        <p:txBody>
          <a:bodyPr wrap="square" rtlCol="0"/>
          <a:lstStyle>
            <a:lvl1pPr indent="0" marL="0">
              <a:buNone/>
              <a:defRPr lang="en-US" sz="900" spc="300" kern="0" dirty="0">
                <a:solidFill>
                  <a:srgbClr val="0E4B50"/>
                </a:solidFill>
                <a:latin typeface="Courier New" pitchFamily="34" charset="0"/>
                <a:ea typeface="Courier New" pitchFamily="34" charset="-122"/>
                <a:cs typeface="Courier New" pitchFamily="34" charset="-120"/>
              </a:defRPr>
            </a:lvl1pPr>
          </a:lstStyle>
          <a:p>
            <a:pPr indent="0" marL="0">
              <a:buNone/>
            </a:pPr>
            <a:r>
              <a:rPr lang="en-US" sz="900" spc="300" kern="0" dirty="0">
                <a:solidFill>
                  <a:srgbClr val="0E4B50"/>
                </a:solidFill>
                <a:latin typeface="Courier New" pitchFamily="34" charset="0"/>
                <a:ea typeface="Courier New" pitchFamily="34" charset="-122"/>
                <a:cs typeface="Courier New" pitchFamily="34" charset="-120"/>
              </a:rPr>
              <a:t>SECTION</a:t>
            </a:r>
            <a:endParaRPr lang="en-US" sz="900" dirty="0"/>
          </a:p>
        </p:txBody>
      </p:sp>
      <p:sp>
        <p:nvSpPr>
          <p:cNvPr id="3" name="Text 0"/>
          <p:cNvSpPr/>
          <p:nvPr>
            <p:ph idx="101" type="title" hasCustomPrompt="1"/>
          </p:nvPr>
        </p:nvSpPr>
        <p:spPr>
          <a:xfrm>
            <a:off x="548640" y="658368"/>
            <a:ext cx="8046720" cy="731520"/>
          </a:xfrm>
          <a:prstGeom prst="rect">
            <a:avLst/>
          </a:prstGeom>
          <a:noFill/>
          <a:ln/>
        </p:spPr>
        <p:txBody>
          <a:bodyPr wrap="square" rtlCol="0"/>
          <a:lstStyle>
            <a:lvl1pPr algn="l" indent="0" marL="0">
              <a:buNone/>
              <a:defRPr lang="en-US" sz="2600" b="1" dirty="0">
                <a:solidFill>
                  <a:srgbClr val="16181A"/>
                </a:solidFill>
                <a:latin typeface="Georgia" pitchFamily="34" charset="0"/>
                <a:ea typeface="Georgia" pitchFamily="34" charset="-122"/>
                <a:cs typeface="Georgia" pitchFamily="34" charset="-120"/>
              </a:defRPr>
            </a:lvl1pPr>
          </a:lstStyle>
          <a:p>
            <a:pPr algn="l" indent="0" marL="0">
              <a:buNone/>
            </a:pPr>
            <a:r>
              <a:rPr lang="en-US" sz="2600" b="1" dirty="0">
                <a:solidFill>
                  <a:srgbClr val="16181A"/>
                </a:solidFill>
                <a:latin typeface="Georgia" pitchFamily="34" charset="0"/>
                <a:ea typeface="Georgia" pitchFamily="34" charset="-122"/>
                <a:cs typeface="Georgia" pitchFamily="34" charset="-120"/>
              </a:rPr>
              <a:t>Title</a:t>
            </a:r>
            <a:endParaRPr lang="en-US" sz="2600" dirty="0"/>
          </a:p>
        </p:txBody>
      </p:sp>
      <p:sp>
        <p:nvSpPr>
          <p:cNvPr id="25" name="Slide Number Placeholder 0"/>
          <p:cNvSpPr>
            <a:spLocks noGrp="1"/>
          </p:cNvSpPr>
          <p:nvPr>
            <p:ph type="sldNum" sz="quarter" idx="4294967295"/>
          </p:nvPr>
        </p:nvSpPr>
        <p:spPr>
          <a:xfrm>
            <a:off x="8522208" y="486460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4A5560"/>
                </a:solidFill>
                <a:latin typeface="Courier New"/>
                <a:ea typeface="Courier New"/>
                <a:cs typeface="Courier New"/>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ALT_DIVID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522208" y="486460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4A5560"/>
                </a:solidFill>
                <a:latin typeface="Courier New"/>
                <a:ea typeface="Courier New"/>
                <a:cs typeface="Courier New"/>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522208" y="486460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4A5560"/>
                </a:solidFill>
                <a:latin typeface="Courier New"/>
                <a:ea typeface="Courier New"/>
                <a:cs typeface="Courier New"/>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200" y="566928"/>
            <a:ext cx="8229600" cy="274320"/>
          </a:xfrm>
          <a:prstGeom prst="rect">
            <a:avLst/>
          </a:prstGeom>
          <a:noFill/>
          <a:ln/>
        </p:spPr>
        <p:txBody>
          <a:bodyPr wrap="square" rtlCol="0" anchor="ctr"/>
          <a:lstStyle/>
          <a:p>
            <a:pPr algn="ctr" indent="0" marL="0">
              <a:buNone/>
            </a:pPr>
            <a:r>
              <a:rPr lang="en-US" sz="1000" spc="400" kern="0" dirty="0">
                <a:solidFill>
                  <a:srgbClr val="4A5560"/>
                </a:solidFill>
                <a:latin typeface="Courier New" pitchFamily="34" charset="0"/>
                <a:ea typeface="Courier New" pitchFamily="34" charset="-122"/>
                <a:cs typeface="Courier New" pitchFamily="34" charset="-120"/>
              </a:rPr>
              <a:t>PITCH DOCUMENT · FILE CR-DOM-2084</a:t>
            </a:r>
            <a:endParaRPr lang="en-US" sz="1000" dirty="0"/>
          </a:p>
        </p:txBody>
      </p:sp>
      <p:sp>
        <p:nvSpPr>
          <p:cNvPr id="3" name="Text 1"/>
          <p:cNvSpPr/>
          <p:nvPr/>
        </p:nvSpPr>
        <p:spPr>
          <a:xfrm>
            <a:off x="457200" y="932688"/>
            <a:ext cx="8229600" cy="1371600"/>
          </a:xfrm>
          <a:prstGeom prst="rect">
            <a:avLst/>
          </a:prstGeom>
          <a:noFill/>
          <a:ln/>
        </p:spPr>
        <p:txBody>
          <a:bodyPr wrap="square" rtlCol="0" anchor="ctr"/>
          <a:lstStyle/>
          <a:p>
            <a:pPr algn="ctr" indent="0" marL="0">
              <a:buNone/>
            </a:pPr>
            <a:r>
              <a:rPr lang="en-US" sz="4700" b="1" dirty="0">
                <a:solidFill>
                  <a:srgbClr val="16181A"/>
                </a:solidFill>
                <a:latin typeface="Georgia" pitchFamily="34" charset="0"/>
                <a:ea typeface="Georgia" pitchFamily="34" charset="-122"/>
                <a:cs typeface="Georgia" pitchFamily="34" charset="-120"/>
              </a:rPr>
              <a:t>Chromopunk: Resonators</a:t>
            </a:r>
            <a:endParaRPr lang="en-US" sz="4700" dirty="0"/>
          </a:p>
        </p:txBody>
      </p:sp>
      <p:sp>
        <p:nvSpPr>
          <p:cNvPr id="4" name="Text 2"/>
          <p:cNvSpPr/>
          <p:nvPr/>
        </p:nvSpPr>
        <p:spPr>
          <a:xfrm>
            <a:off x="457200" y="2304288"/>
            <a:ext cx="8229600" cy="411480"/>
          </a:xfrm>
          <a:prstGeom prst="rect">
            <a:avLst/>
          </a:prstGeom>
          <a:noFill/>
          <a:ln/>
        </p:spPr>
        <p:txBody>
          <a:bodyPr wrap="square" rtlCol="0" anchor="ctr"/>
          <a:lstStyle/>
          <a:p>
            <a:pPr algn="ctr" indent="0" marL="0">
              <a:buNone/>
            </a:pPr>
            <a:r>
              <a:rPr lang="en-US" sz="1700" i="1" dirty="0">
                <a:solidFill>
                  <a:srgbClr val="0E4B50"/>
                </a:solidFill>
                <a:latin typeface="Georgia" pitchFamily="34" charset="0"/>
                <a:ea typeface="Georgia" pitchFamily="34" charset="-122"/>
                <a:cs typeface="Georgia" pitchFamily="34" charset="-120"/>
              </a:rPr>
              <a:t>Book One: The Last Compact</a:t>
            </a:r>
            <a:endParaRPr lang="en-US" sz="1700" dirty="0"/>
          </a:p>
        </p:txBody>
      </p:sp>
      <p:sp>
        <p:nvSpPr>
          <p:cNvPr id="5" name="Text 3"/>
          <p:cNvSpPr/>
          <p:nvPr/>
        </p:nvSpPr>
        <p:spPr>
          <a:xfrm>
            <a:off x="457200" y="2907792"/>
            <a:ext cx="8229600" cy="457200"/>
          </a:xfrm>
          <a:prstGeom prst="rect">
            <a:avLst/>
          </a:prstGeom>
          <a:noFill/>
          <a:ln/>
        </p:spPr>
        <p:txBody>
          <a:bodyPr wrap="square" rtlCol="0" anchor="ctr"/>
          <a:lstStyle/>
          <a:p>
            <a:pPr algn="ctr" indent="0" marL="0">
              <a:buNone/>
            </a:pPr>
            <a:r>
              <a:rPr lang="en-US" sz="1600" i="1" dirty="0">
                <a:solidFill>
                  <a:srgbClr val="16181A"/>
                </a:solidFill>
                <a:latin typeface="Georgia" pitchFamily="34" charset="0"/>
                <a:ea typeface="Georgia" pitchFamily="34" charset="-122"/>
                <a:cs typeface="Georgia" pitchFamily="34" charset="-120"/>
              </a:rPr>
              <a:t>“The person is the final colony.”</a:t>
            </a:r>
            <a:endParaRPr lang="en-US" sz="1600" dirty="0"/>
          </a:p>
        </p:txBody>
      </p:sp>
      <p:sp>
        <p:nvSpPr>
          <p:cNvPr id="6" name="Text 4"/>
          <p:cNvSpPr/>
          <p:nvPr/>
        </p:nvSpPr>
        <p:spPr>
          <a:xfrm>
            <a:off x="1874520" y="3584448"/>
            <a:ext cx="5394960" cy="365760"/>
          </a:xfrm>
          <a:prstGeom prst="rect">
            <a:avLst/>
          </a:prstGeom>
          <a:solidFill>
            <a:srgbClr val="C9A24B">
              <a:alpha val="10000"/>
            </a:srgbClr>
          </a:solidFill>
          <a:ln w="12700">
            <a:solidFill>
              <a:srgbClr val="C9A24B"/>
            </a:solidFill>
          </a:ln>
        </p:spPr>
        <p:txBody>
          <a:bodyPr wrap="square" lIns="38100" tIns="38100" rIns="38100" bIns="38100" rtlCol="0" anchor="ctr"/>
          <a:lstStyle/>
          <a:p>
            <a:pPr algn="ctr" indent="0" marL="0">
              <a:buNone/>
            </a:pPr>
            <a:r>
              <a:rPr lang="en-US" sz="700" spc="100" kern="0" dirty="0">
                <a:solidFill>
                  <a:srgbClr val="A3212E"/>
                </a:solidFill>
                <a:latin typeface="Courier New" pitchFamily="34" charset="0"/>
                <a:ea typeface="Courier New" pitchFamily="34" charset="-122"/>
                <a:cs typeface="Courier New" pitchFamily="34" charset="-120"/>
              </a:rPr>
              <a:t>● </a:t>
            </a:r>
            <a:pPr algn="ctr" indent="0" marL="0">
              <a:buNone/>
            </a:pPr>
            <a:r>
              <a:rPr lang="en-US" sz="850" spc="100" kern="0" dirty="0">
                <a:solidFill>
                  <a:srgbClr val="16181A"/>
                </a:solidFill>
                <a:latin typeface="Courier New" pitchFamily="34" charset="0"/>
                <a:ea typeface="Courier New" pitchFamily="34" charset="-122"/>
                <a:cs typeface="Courier New" pitchFamily="34" charset="-120"/>
              </a:rPr>
              <a:t>214 DAYS ON THE CLOCK · THE COMPACT EXPIRES MIDNIGHT, DEC 31, 2084</a:t>
            </a:r>
            <a:endParaRPr lang="en-US" sz="850" dirty="0"/>
          </a:p>
        </p:txBody>
      </p:sp>
      <p:sp>
        <p:nvSpPr>
          <p:cNvPr id="7" name="Text 5"/>
          <p:cNvSpPr/>
          <p:nvPr/>
        </p:nvSpPr>
        <p:spPr>
          <a:xfrm>
            <a:off x="457200" y="4160520"/>
            <a:ext cx="8229600" cy="274320"/>
          </a:xfrm>
          <a:prstGeom prst="rect">
            <a:avLst/>
          </a:prstGeom>
          <a:noFill/>
          <a:ln/>
        </p:spPr>
        <p:txBody>
          <a:bodyPr wrap="square" rtlCol="0" anchor="ctr"/>
          <a:lstStyle/>
          <a:p>
            <a:pPr algn="ctr" indent="0" marL="0">
              <a:buNone/>
            </a:pPr>
            <a:r>
              <a:rPr lang="en-US" sz="800" spc="200" kern="0" dirty="0">
                <a:solidFill>
                  <a:srgbClr val="4A5560"/>
                </a:solidFill>
                <a:latin typeface="Courier New" pitchFamily="34" charset="0"/>
                <a:ea typeface="Courier New" pitchFamily="34" charset="-122"/>
                <a:cs typeface="Courier New" pitchFamily="34" charset="-120"/>
              </a:rPr>
              <a:t>AN ORIGINAL CONTINUITY OF THE CYBERPUNK UNIVERSE — UNOFFICIAL FAN WORK</a:t>
            </a:r>
            <a:endParaRPr lang="en-US" sz="800" dirty="0"/>
          </a:p>
        </p:txBody>
      </p:sp>
      <p:sp>
        <p:nvSpPr>
          <p:cNvPr id="8" name="Text 6"/>
          <p:cNvSpPr/>
          <p:nvPr/>
        </p:nvSpPr>
        <p:spPr>
          <a:xfrm>
            <a:off x="640080" y="4681728"/>
            <a:ext cx="7863840" cy="365760"/>
          </a:xfrm>
          <a:prstGeom prst="rect">
            <a:avLst/>
          </a:prstGeom>
          <a:noFill/>
          <a:ln/>
        </p:spPr>
        <p:txBody>
          <a:bodyPr wrap="square" rtlCol="0" anchor="ctr"/>
          <a:lstStyle/>
          <a:p>
            <a:pPr algn="ctr" indent="0" marL="0">
              <a:buNone/>
            </a:pPr>
            <a:r>
              <a:rPr lang="en-US" sz="700" dirty="0">
                <a:solidFill>
                  <a:srgbClr val="4A5560"/>
                </a:solidFill>
                <a:latin typeface="Arial" pitchFamily="34" charset="0"/>
                <a:ea typeface="Arial" pitchFamily="34" charset="-122"/>
                <a:cs typeface="Arial" pitchFamily="34" charset="-120"/>
              </a:rPr>
              <a:t>Unofficial fan work inspired by the Cyberpunk universe (Mike Pondsmith · R. Talsorian Games · CD PROJEKT RED). Non-commercial. No ownership claimed over official names, settings, or terminology.</a:t>
            </a:r>
            <a:endParaRPr lang="en-US" sz="700" dirty="0"/>
          </a:p>
        </p:txBody>
      </p:sp>
      <p:sp>
        <p:nvSpPr>
          <p:cNvPr id="25" name="Slide Number Placeholder 0"/>
          <p:cNvSpPr>
            <a:spLocks noGrp="1"/>
          </p:cNvSpPr>
          <p:nvPr>
            <p:ph type="sldNum" sz="quarter" idx="4294967295"/>
          </p:nvPr>
        </p:nvSpPr>
        <p:spPr>
          <a:xfrm>
            <a:off x="8522208" y="486460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4A5560"/>
                </a:solidFill>
                <a:latin typeface="Courier New"/>
                <a:ea typeface="Courier New"/>
                <a:cs typeface="Courier New"/>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7863840" cy="292608"/>
          </a:xfrm>
          <a:prstGeom prst="rect">
            <a:avLst/>
          </a:prstGeom>
          <a:noFill/>
          <a:ln/>
        </p:spPr>
        <p:txBody>
          <a:bodyPr wrap="square" lIns="0" tIns="0" rIns="0" bIns="0" rtlCol="0"/>
          <a:lstStyle/>
          <a:p>
            <a:pPr indent="0" marL="0">
              <a:buNone/>
            </a:pPr>
            <a:r>
              <a:rPr lang="en-US" sz="900" spc="300" kern="0" dirty="0">
                <a:solidFill>
                  <a:srgbClr val="0E4B50"/>
                </a:solidFill>
                <a:latin typeface="Courier New" pitchFamily="34" charset="0"/>
                <a:ea typeface="Courier New" pitchFamily="34" charset="-122"/>
                <a:cs typeface="Courier New" pitchFamily="34" charset="-120"/>
              </a:rPr>
              <a:t>01 · LOGLINE</a:t>
            </a:r>
            <a:endParaRPr lang="en-US" sz="900" dirty="0"/>
          </a:p>
        </p:txBody>
      </p:sp>
      <p:sp>
        <p:nvSpPr>
          <p:cNvPr id="3" name="Text 0"/>
          <p:cNvSpPr/>
          <p:nvPr>
            <p:ph idx="101" type="title" hasCustomPrompt="1"/>
          </p:nvPr>
        </p:nvSpPr>
        <p:spPr>
          <a:xfrm>
            <a:off x="548640" y="658368"/>
            <a:ext cx="8046720" cy="731520"/>
          </a:xfrm>
          <a:prstGeom prst="rect">
            <a:avLst/>
          </a:prstGeom>
          <a:noFill/>
          <a:ln/>
        </p:spPr>
        <p:txBody>
          <a:bodyPr wrap="square" lIns="0" tIns="0" rIns="0" bIns="0" rtlCol="0"/>
          <a:lstStyle/>
          <a:p>
            <a:pPr algn="l" indent="0" marL="0">
              <a:buNone/>
            </a:pPr>
            <a:r>
              <a:rPr lang="en-US" sz="2600" b="1" dirty="0">
                <a:solidFill>
                  <a:srgbClr val="16181A"/>
                </a:solidFill>
                <a:latin typeface="Georgia" pitchFamily="34" charset="0"/>
                <a:ea typeface="Georgia" pitchFamily="34" charset="-122"/>
                <a:cs typeface="Georgia" pitchFamily="34" charset="-120"/>
              </a:rPr>
              <a:t>The sentence version</a:t>
            </a:r>
            <a:endParaRPr lang="en-US" sz="2600" dirty="0"/>
          </a:p>
        </p:txBody>
      </p:sp>
      <p:sp>
        <p:nvSpPr>
          <p:cNvPr id="4" name="Text 2"/>
          <p:cNvSpPr/>
          <p:nvPr/>
        </p:nvSpPr>
        <p:spPr>
          <a:xfrm>
            <a:off x="548640" y="1481328"/>
            <a:ext cx="8046720" cy="1737360"/>
          </a:xfrm>
          <a:prstGeom prst="rect">
            <a:avLst/>
          </a:prstGeom>
          <a:noFill/>
          <a:ln/>
        </p:spPr>
        <p:txBody>
          <a:bodyPr wrap="square" lIns="0" tIns="0" rIns="0" bIns="0" rtlCol="0" anchor="t"/>
          <a:lstStyle/>
          <a:p>
            <a:pPr indent="0" marL="0">
              <a:lnSpc>
                <a:spcPct val="130000"/>
              </a:lnSpc>
              <a:buNone/>
            </a:pPr>
            <a:r>
              <a:rPr lang="en-US" sz="1650" dirty="0">
                <a:solidFill>
                  <a:srgbClr val="16181A"/>
                </a:solidFill>
                <a:latin typeface="Georgia" pitchFamily="34" charset="0"/>
                <a:ea typeface="Georgia" pitchFamily="34" charset="-122"/>
                <a:cs typeface="Georgia" pitchFamily="34" charset="-120"/>
              </a:rPr>
              <a:t>Days after an orbital nuclear catastrophe, a seventeen-year-old full-spectrum </a:t>
            </a:r>
            <a:pPr indent="0" marL="0">
              <a:lnSpc>
                <a:spcPct val="130000"/>
              </a:lnSpc>
              <a:buNone/>
            </a:pPr>
            <a:r>
              <a:rPr lang="en-US" sz="1650" b="1" dirty="0">
                <a:solidFill>
                  <a:srgbClr val="16181A"/>
                </a:solidFill>
                <a:latin typeface="Georgia" pitchFamily="34" charset="0"/>
                <a:ea typeface="Georgia" pitchFamily="34" charset="-122"/>
                <a:cs typeface="Georgia" pitchFamily="34" charset="-120"/>
              </a:rPr>
              <a:t>Resonator</a:t>
            </a:r>
            <a:pPr indent="0" marL="0">
              <a:lnSpc>
                <a:spcPct val="130000"/>
              </a:lnSpc>
              <a:buNone/>
            </a:pPr>
            <a:r>
              <a:rPr lang="en-US" sz="1650" dirty="0">
                <a:solidFill>
                  <a:srgbClr val="16181A"/>
                </a:solidFill>
                <a:latin typeface="Georgia" pitchFamily="34" charset="0"/>
                <a:ea typeface="Georgia" pitchFamily="34" charset="-122"/>
                <a:cs typeface="Georgia" pitchFamily="34" charset="-120"/>
              </a:rPr>
              <a:t> escapes </a:t>
            </a:r>
            <a:pPr indent="0" marL="0">
              <a:lnSpc>
                <a:spcPct val="130000"/>
              </a:lnSpc>
              <a:buNone/>
            </a:pPr>
            <a:r>
              <a:rPr lang="en-US" sz="1650" b="1" dirty="0">
                <a:solidFill>
                  <a:srgbClr val="16181A"/>
                </a:solidFill>
                <a:latin typeface="Georgia" pitchFamily="34" charset="0"/>
                <a:ea typeface="Georgia" pitchFamily="34" charset="-122"/>
                <a:cs typeface="Georgia" pitchFamily="34" charset="-120"/>
              </a:rPr>
              <a:t>Bloodline</a:t>
            </a:r>
            <a:pPr indent="0" marL="0">
              <a:lnSpc>
                <a:spcPct val="130000"/>
              </a:lnSpc>
              <a:buNone/>
            </a:pPr>
            <a:r>
              <a:rPr lang="en-US" sz="1650" dirty="0">
                <a:solidFill>
                  <a:srgbClr val="16181A"/>
                </a:solidFill>
                <a:latin typeface="Georgia" pitchFamily="34" charset="0"/>
                <a:ea typeface="Georgia" pitchFamily="34" charset="-122"/>
                <a:cs typeface="Georgia" pitchFamily="34" charset="-120"/>
              </a:rPr>
              <a:t>, carrying the partial consciousnesses of two dead boys. As </a:t>
            </a:r>
            <a:pPr indent="0" marL="0">
              <a:lnSpc>
                <a:spcPct val="130000"/>
              </a:lnSpc>
              <a:buNone/>
            </a:pPr>
            <a:r>
              <a:rPr lang="en-US" sz="1650" b="1" dirty="0">
                <a:solidFill>
                  <a:srgbClr val="16181A"/>
                </a:solidFill>
                <a:latin typeface="Georgia" pitchFamily="34" charset="0"/>
                <a:ea typeface="Georgia" pitchFamily="34" charset="-122"/>
                <a:cs typeface="Georgia" pitchFamily="34" charset="-120"/>
              </a:rPr>
              <a:t>Domingo City</a:t>
            </a:r>
            <a:pPr indent="0" marL="0">
              <a:lnSpc>
                <a:spcPct val="130000"/>
              </a:lnSpc>
              <a:buNone/>
            </a:pPr>
            <a:r>
              <a:rPr lang="en-US" sz="1650" dirty="0">
                <a:solidFill>
                  <a:srgbClr val="16181A"/>
                </a:solidFill>
                <a:latin typeface="Georgia" pitchFamily="34" charset="0"/>
                <a:ea typeface="Georgia" pitchFamily="34" charset="-122"/>
                <a:cs typeface="Georgia" pitchFamily="34" charset="-120"/>
              </a:rPr>
              <a:t> moves toward independence and Bloodline’s emergency charter runs out, every government, corporation, religion, movement, and family tries to decide what the three boys are </a:t>
            </a:r>
            <a:pPr indent="0" marL="0">
              <a:lnSpc>
                <a:spcPct val="130000"/>
              </a:lnSpc>
              <a:buNone/>
            </a:pPr>
            <a:r>
              <a:rPr lang="en-US" sz="1650" i="1" dirty="0">
                <a:solidFill>
                  <a:srgbClr val="16181A"/>
                </a:solidFill>
                <a:latin typeface="Georgia" pitchFamily="34" charset="0"/>
                <a:ea typeface="Georgia" pitchFamily="34" charset="-122"/>
                <a:cs typeface="Georgia" pitchFamily="34" charset="-120"/>
              </a:rPr>
              <a:t>for.</a:t>
            </a:r>
            <a:endParaRPr lang="en-US" sz="1650" dirty="0"/>
          </a:p>
        </p:txBody>
      </p:sp>
      <p:sp>
        <p:nvSpPr>
          <p:cNvPr id="5" name="Text 3"/>
          <p:cNvSpPr/>
          <p:nvPr/>
        </p:nvSpPr>
        <p:spPr>
          <a:xfrm>
            <a:off x="548640" y="3520440"/>
            <a:ext cx="4114800" cy="457200"/>
          </a:xfrm>
          <a:prstGeom prst="rect">
            <a:avLst/>
          </a:prstGeom>
          <a:solidFill>
            <a:srgbClr val="FFFFFF">
              <a:alpha val="38000"/>
            </a:srgbClr>
          </a:solidFill>
          <a:ln w="9525">
            <a:solidFill>
              <a:srgbClr val="9AA0A6"/>
            </a:solidFill>
          </a:ln>
        </p:spPr>
        <p:txBody>
          <a:bodyPr wrap="square" lIns="38100" tIns="38100" rIns="38100" bIns="38100" rtlCol="0" anchor="ctr"/>
          <a:lstStyle/>
          <a:p>
            <a:pPr algn="l" indent="0" marL="0">
              <a:buNone/>
            </a:pPr>
            <a:r>
              <a:rPr lang="en-US" sz="800" dirty="0">
                <a:solidFill>
                  <a:srgbClr val="4A5560"/>
                </a:solidFill>
                <a:latin typeface="Courier New" pitchFamily="34" charset="0"/>
                <a:ea typeface="Courier New" pitchFamily="34" charset="-122"/>
                <a:cs typeface="Courier New" pitchFamily="34" charset="-120"/>
              </a:rPr>
              <a:t>RESONATOR — implants that turn a person’s own biology into elemental-scale power</a:t>
            </a:r>
            <a:endParaRPr lang="en-US" sz="800" dirty="0"/>
          </a:p>
        </p:txBody>
      </p:sp>
      <p:sp>
        <p:nvSpPr>
          <p:cNvPr id="6" name="Text 4"/>
          <p:cNvSpPr/>
          <p:nvPr/>
        </p:nvSpPr>
        <p:spPr>
          <a:xfrm>
            <a:off x="4800600" y="3520440"/>
            <a:ext cx="3794760" cy="457200"/>
          </a:xfrm>
          <a:prstGeom prst="rect">
            <a:avLst/>
          </a:prstGeom>
          <a:solidFill>
            <a:srgbClr val="FFFFFF">
              <a:alpha val="38000"/>
            </a:srgbClr>
          </a:solidFill>
          <a:ln w="9525">
            <a:solidFill>
              <a:srgbClr val="9AA0A6"/>
            </a:solidFill>
          </a:ln>
        </p:spPr>
        <p:txBody>
          <a:bodyPr wrap="square" lIns="38100" tIns="38100" rIns="38100" bIns="38100" rtlCol="0" anchor="ctr"/>
          <a:lstStyle/>
          <a:p>
            <a:pPr algn="l" indent="0" marL="0">
              <a:buNone/>
            </a:pPr>
            <a:r>
              <a:rPr lang="en-US" sz="800" dirty="0">
                <a:solidFill>
                  <a:srgbClr val="4A5560"/>
                </a:solidFill>
                <a:latin typeface="Courier New" pitchFamily="34" charset="0"/>
                <a:ea typeface="Courier New" pitchFamily="34" charset="-122"/>
                <a:cs typeface="Courier New" pitchFamily="34" charset="-120"/>
              </a:rPr>
              <a:t>BLOODLINE — the corporation that builds them</a:t>
            </a:r>
            <a:endParaRPr lang="en-US" sz="800" dirty="0"/>
          </a:p>
        </p:txBody>
      </p:sp>
      <p:sp>
        <p:nvSpPr>
          <p:cNvPr id="7" name="Text 5"/>
          <p:cNvSpPr/>
          <p:nvPr/>
        </p:nvSpPr>
        <p:spPr>
          <a:xfrm>
            <a:off x="548640" y="4069080"/>
            <a:ext cx="4114800" cy="457200"/>
          </a:xfrm>
          <a:prstGeom prst="rect">
            <a:avLst/>
          </a:prstGeom>
          <a:solidFill>
            <a:srgbClr val="FFFFFF">
              <a:alpha val="38000"/>
            </a:srgbClr>
          </a:solidFill>
          <a:ln w="9525">
            <a:solidFill>
              <a:srgbClr val="9AA0A6"/>
            </a:solidFill>
          </a:ln>
        </p:spPr>
        <p:txBody>
          <a:bodyPr wrap="square" lIns="38100" tIns="38100" rIns="38100" bIns="38100" rtlCol="0" anchor="ctr"/>
          <a:lstStyle/>
          <a:p>
            <a:pPr algn="l" indent="0" marL="0">
              <a:buNone/>
            </a:pPr>
            <a:r>
              <a:rPr lang="en-US" sz="800" dirty="0">
                <a:solidFill>
                  <a:srgbClr val="4A5560"/>
                </a:solidFill>
                <a:latin typeface="Courier New" pitchFamily="34" charset="0"/>
                <a:ea typeface="Courier New" pitchFamily="34" charset="-122"/>
                <a:cs typeface="Courier New" pitchFamily="34" charset="-120"/>
              </a:rPr>
              <a:t>DOMINGO CITY — Gulf metropolis, sovereign Republic of Texas</a:t>
            </a:r>
            <a:endParaRPr lang="en-US" sz="800" dirty="0"/>
          </a:p>
        </p:txBody>
      </p:sp>
      <p:sp>
        <p:nvSpPr>
          <p:cNvPr id="25" name="Slide Number Placeholder 0"/>
          <p:cNvSpPr>
            <a:spLocks noGrp="1"/>
          </p:cNvSpPr>
          <p:nvPr>
            <p:ph type="sldNum" sz="quarter" idx="4294967295"/>
          </p:nvPr>
        </p:nvSpPr>
        <p:spPr>
          <a:xfrm>
            <a:off x="8522208" y="486460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4A5560"/>
                </a:solidFill>
                <a:latin typeface="Courier New"/>
                <a:ea typeface="Courier New"/>
                <a:cs typeface="Courier New"/>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7863840" cy="292608"/>
          </a:xfrm>
          <a:prstGeom prst="rect">
            <a:avLst/>
          </a:prstGeom>
          <a:noFill/>
          <a:ln/>
        </p:spPr>
        <p:txBody>
          <a:bodyPr wrap="square" lIns="0" tIns="0" rIns="0" bIns="0" rtlCol="0"/>
          <a:lstStyle/>
          <a:p>
            <a:pPr indent="0" marL="0">
              <a:buNone/>
            </a:pPr>
            <a:r>
              <a:rPr lang="en-US" sz="900" spc="300" kern="0" dirty="0">
                <a:solidFill>
                  <a:srgbClr val="0E4B50"/>
                </a:solidFill>
                <a:latin typeface="Courier New" pitchFamily="34" charset="0"/>
                <a:ea typeface="Courier New" pitchFamily="34" charset="-122"/>
                <a:cs typeface="Courier New" pitchFamily="34" charset="-120"/>
              </a:rPr>
              <a:t>02 · THE HOOK</a:t>
            </a:r>
            <a:endParaRPr lang="en-US" sz="900" dirty="0"/>
          </a:p>
        </p:txBody>
      </p:sp>
      <p:sp>
        <p:nvSpPr>
          <p:cNvPr id="3" name="Text 0"/>
          <p:cNvSpPr/>
          <p:nvPr>
            <p:ph idx="101" type="title" hasCustomPrompt="1"/>
          </p:nvPr>
        </p:nvSpPr>
        <p:spPr>
          <a:xfrm>
            <a:off x="548640" y="658368"/>
            <a:ext cx="8046720" cy="731520"/>
          </a:xfrm>
          <a:prstGeom prst="rect">
            <a:avLst/>
          </a:prstGeom>
          <a:noFill/>
          <a:ln/>
        </p:spPr>
        <p:txBody>
          <a:bodyPr wrap="square" lIns="0" tIns="0" rIns="0" bIns="0" rtlCol="0"/>
          <a:lstStyle/>
          <a:p>
            <a:pPr algn="l" indent="0" marL="0">
              <a:buNone/>
            </a:pPr>
            <a:r>
              <a:rPr lang="en-US" sz="2600" b="1" dirty="0">
                <a:solidFill>
                  <a:srgbClr val="16181A"/>
                </a:solidFill>
                <a:latin typeface="Georgia" pitchFamily="34" charset="0"/>
                <a:ea typeface="Georgia" pitchFamily="34" charset="-122"/>
                <a:cs typeface="Georgia" pitchFamily="34" charset="-120"/>
              </a:rPr>
              <a:t>Three sentences</a:t>
            </a:r>
            <a:endParaRPr lang="en-US" sz="2600" dirty="0"/>
          </a:p>
        </p:txBody>
      </p:sp>
      <p:sp>
        <p:nvSpPr>
          <p:cNvPr id="4" name="Text 2"/>
          <p:cNvSpPr/>
          <p:nvPr/>
        </p:nvSpPr>
        <p:spPr>
          <a:xfrm>
            <a:off x="548640" y="1600200"/>
            <a:ext cx="8046720" cy="640080"/>
          </a:xfrm>
          <a:prstGeom prst="rect">
            <a:avLst/>
          </a:prstGeom>
          <a:noFill/>
          <a:ln/>
        </p:spPr>
        <p:txBody>
          <a:bodyPr wrap="square" lIns="0" tIns="0" rIns="0" bIns="0" rtlCol="0" anchor="ctr"/>
          <a:lstStyle/>
          <a:p>
            <a:pPr indent="0" marL="0">
              <a:buNone/>
            </a:pPr>
            <a:r>
              <a:rPr lang="en-US" sz="2100" dirty="0">
                <a:solidFill>
                  <a:srgbClr val="16181A"/>
                </a:solidFill>
                <a:latin typeface="Georgia" pitchFamily="34" charset="0"/>
                <a:ea typeface="Georgia" pitchFamily="34" charset="-122"/>
                <a:cs typeface="Georgia" pitchFamily="34" charset="-120"/>
              </a:rPr>
              <a:t>Three boys share one body. </a:t>
            </a:r>
            <a:pPr indent="0" marL="0">
              <a:buNone/>
            </a:pPr>
            <a:r>
              <a:rPr lang="en-US" sz="2100" dirty="0">
                <a:solidFill>
                  <a:srgbClr val="A3212E"/>
                </a:solidFill>
                <a:latin typeface="Georgia" pitchFamily="34" charset="0"/>
                <a:ea typeface="Georgia" pitchFamily="34" charset="-122"/>
                <a:cs typeface="Georgia" pitchFamily="34" charset="-120"/>
              </a:rPr>
              <a:t>Two of them are dead.</a:t>
            </a:r>
            <a:endParaRPr lang="en-US" sz="2100" dirty="0"/>
          </a:p>
        </p:txBody>
      </p:sp>
      <p:sp>
        <p:nvSpPr>
          <p:cNvPr id="5" name="Text 3"/>
          <p:cNvSpPr/>
          <p:nvPr/>
        </p:nvSpPr>
        <p:spPr>
          <a:xfrm>
            <a:off x="548640" y="2377440"/>
            <a:ext cx="8046720" cy="640080"/>
          </a:xfrm>
          <a:prstGeom prst="rect">
            <a:avLst/>
          </a:prstGeom>
          <a:noFill/>
          <a:ln/>
        </p:spPr>
        <p:txBody>
          <a:bodyPr wrap="square" lIns="0" tIns="0" rIns="0" bIns="0" rtlCol="0" anchor="ctr"/>
          <a:lstStyle/>
          <a:p>
            <a:pPr indent="0" marL="0">
              <a:buNone/>
            </a:pPr>
            <a:r>
              <a:rPr lang="en-US" sz="2100" dirty="0">
                <a:solidFill>
                  <a:srgbClr val="16181A"/>
                </a:solidFill>
                <a:latin typeface="Georgia" pitchFamily="34" charset="0"/>
                <a:ea typeface="Georgia" pitchFamily="34" charset="-122"/>
                <a:cs typeface="Georgia" pitchFamily="34" charset="-120"/>
              </a:rPr>
              <a:t>Their city has </a:t>
            </a:r>
            <a:pPr indent="0" marL="0">
              <a:buNone/>
            </a:pPr>
            <a:r>
              <a:rPr lang="en-US" sz="2100" b="1" dirty="0">
                <a:solidFill>
                  <a:srgbClr val="C9A24B"/>
                </a:solidFill>
                <a:latin typeface="Georgia" pitchFamily="34" charset="0"/>
                <a:ea typeface="Georgia" pitchFamily="34" charset="-122"/>
                <a:cs typeface="Georgia" pitchFamily="34" charset="-120"/>
              </a:rPr>
              <a:t>214 days</a:t>
            </a:r>
            <a:pPr indent="0" marL="0">
              <a:buNone/>
            </a:pPr>
            <a:r>
              <a:rPr lang="en-US" sz="2100" dirty="0">
                <a:solidFill>
                  <a:srgbClr val="16181A"/>
                </a:solidFill>
                <a:latin typeface="Georgia" pitchFamily="34" charset="0"/>
                <a:ea typeface="Georgia" pitchFamily="34" charset="-122"/>
                <a:cs typeface="Georgia" pitchFamily="34" charset="-120"/>
              </a:rPr>
              <a:t> to decide who owns its future.</a:t>
            </a:r>
            <a:endParaRPr lang="en-US" sz="2100" dirty="0"/>
          </a:p>
        </p:txBody>
      </p:sp>
      <p:sp>
        <p:nvSpPr>
          <p:cNvPr id="6" name="Text 4"/>
          <p:cNvSpPr/>
          <p:nvPr/>
        </p:nvSpPr>
        <p:spPr>
          <a:xfrm>
            <a:off x="548640" y="3154680"/>
            <a:ext cx="8046720" cy="1005840"/>
          </a:xfrm>
          <a:prstGeom prst="rect">
            <a:avLst/>
          </a:prstGeom>
          <a:noFill/>
          <a:ln/>
        </p:spPr>
        <p:txBody>
          <a:bodyPr wrap="square" lIns="0" tIns="0" rIns="0" bIns="0" rtlCol="0" anchor="ctr"/>
          <a:lstStyle/>
          <a:p>
            <a:pPr indent="0" marL="0">
              <a:buNone/>
            </a:pPr>
            <a:r>
              <a:rPr lang="en-US" sz="2100" dirty="0">
                <a:solidFill>
                  <a:srgbClr val="16181A"/>
                </a:solidFill>
                <a:latin typeface="Georgia" pitchFamily="34" charset="0"/>
                <a:ea typeface="Georgia" pitchFamily="34" charset="-122"/>
                <a:cs typeface="Georgia" pitchFamily="34" charset="-120"/>
              </a:rPr>
              <a:t>Every power on the Gulf wants the same seventeen-year-old — each for a different reason.</a:t>
            </a:r>
            <a:endParaRPr lang="en-US" sz="2100" dirty="0"/>
          </a:p>
        </p:txBody>
      </p:sp>
      <p:sp>
        <p:nvSpPr>
          <p:cNvPr id="25" name="Slide Number Placeholder 0"/>
          <p:cNvSpPr>
            <a:spLocks noGrp="1"/>
          </p:cNvSpPr>
          <p:nvPr>
            <p:ph type="sldNum" sz="quarter" idx="4294967295"/>
          </p:nvPr>
        </p:nvSpPr>
        <p:spPr>
          <a:xfrm>
            <a:off x="8522208" y="486460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4A5560"/>
                </a:solidFill>
                <a:latin typeface="Courier New"/>
                <a:ea typeface="Courier New"/>
                <a:cs typeface="Courier New"/>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7863840" cy="292608"/>
          </a:xfrm>
          <a:prstGeom prst="rect">
            <a:avLst/>
          </a:prstGeom>
          <a:noFill/>
          <a:ln/>
        </p:spPr>
        <p:txBody>
          <a:bodyPr wrap="square" lIns="0" tIns="0" rIns="0" bIns="0" rtlCol="0"/>
          <a:lstStyle/>
          <a:p>
            <a:pPr indent="0" marL="0">
              <a:buNone/>
            </a:pPr>
            <a:r>
              <a:rPr lang="en-US" sz="900" spc="300" kern="0" dirty="0">
                <a:solidFill>
                  <a:srgbClr val="0E4B50"/>
                </a:solidFill>
                <a:latin typeface="Courier New" pitchFamily="34" charset="0"/>
                <a:ea typeface="Courier New" pitchFamily="34" charset="-122"/>
                <a:cs typeface="Courier New" pitchFamily="34" charset="-120"/>
              </a:rPr>
              <a:t>03 · THE CONTINUITY</a:t>
            </a:r>
            <a:endParaRPr lang="en-US" sz="900" dirty="0"/>
          </a:p>
        </p:txBody>
      </p:sp>
      <p:sp>
        <p:nvSpPr>
          <p:cNvPr id="3" name="Text 0"/>
          <p:cNvSpPr/>
          <p:nvPr>
            <p:ph idx="101" type="title" hasCustomPrompt="1"/>
          </p:nvPr>
        </p:nvSpPr>
        <p:spPr>
          <a:xfrm>
            <a:off x="548640" y="658368"/>
            <a:ext cx="8046720" cy="731520"/>
          </a:xfrm>
          <a:prstGeom prst="rect">
            <a:avLst/>
          </a:prstGeom>
          <a:noFill/>
          <a:ln/>
        </p:spPr>
        <p:txBody>
          <a:bodyPr wrap="square" lIns="0" tIns="0" rIns="0" bIns="0" rtlCol="0"/>
          <a:lstStyle/>
          <a:p>
            <a:pPr algn="l" indent="0" marL="0">
              <a:buNone/>
            </a:pPr>
            <a:r>
              <a:rPr lang="en-US" sz="2600" b="1" dirty="0">
                <a:solidFill>
                  <a:srgbClr val="16181A"/>
                </a:solidFill>
                <a:latin typeface="Georgia" pitchFamily="34" charset="0"/>
                <a:ea typeface="Georgia" pitchFamily="34" charset="-122"/>
                <a:cs typeface="Georgia" pitchFamily="34" charset="-120"/>
              </a:rPr>
              <a:t>One trunk. One clean break.</a:t>
            </a:r>
            <a:endParaRPr lang="en-US" sz="2600" dirty="0"/>
          </a:p>
        </p:txBody>
      </p:sp>
      <p:sp>
        <p:nvSpPr>
          <p:cNvPr id="4" name="Text 2"/>
          <p:cNvSpPr/>
          <p:nvPr/>
        </p:nvSpPr>
        <p:spPr>
          <a:xfrm>
            <a:off x="548640" y="1481328"/>
            <a:ext cx="8046720" cy="1005840"/>
          </a:xfrm>
          <a:prstGeom prst="rect">
            <a:avLst/>
          </a:prstGeom>
          <a:noFill/>
          <a:ln/>
        </p:spPr>
        <p:txBody>
          <a:bodyPr wrap="square" lIns="0" tIns="0" rIns="0" bIns="0" rtlCol="0" anchor="t"/>
          <a:lstStyle/>
          <a:p>
            <a:pPr indent="0" marL="0">
              <a:lnSpc>
                <a:spcPct val="125000"/>
              </a:lnSpc>
              <a:buNone/>
            </a:pPr>
            <a:r>
              <a:rPr lang="en-US" sz="1250" dirty="0">
                <a:solidFill>
                  <a:srgbClr val="16181A"/>
                </a:solidFill>
                <a:latin typeface="Arial" pitchFamily="34" charset="0"/>
                <a:ea typeface="Arial" pitchFamily="34" charset="-122"/>
                <a:cs typeface="Arial" pitchFamily="34" charset="-120"/>
              </a:rPr>
              <a:t>Chromopunk inherits Cyberpunk’s foundation whole — Night City, the Corporate Wars, the DataKrash. In 2045 the branch becomes permanent: space can be owned, and chrome becomes living tissue. Same wounds, different future. Nothing official is overwritten — it is inherited, then left behind.</a:t>
            </a:r>
            <a:endParaRPr lang="en-US" sz="1250" dirty="0"/>
          </a:p>
        </p:txBody>
      </p:sp>
      <p:sp>
        <p:nvSpPr>
          <p:cNvPr id="5" name="Shape 3"/>
          <p:cNvSpPr/>
          <p:nvPr/>
        </p:nvSpPr>
        <p:spPr>
          <a:xfrm>
            <a:off x="731520" y="3520440"/>
            <a:ext cx="3840480" cy="0"/>
          </a:xfrm>
          <a:prstGeom prst="line">
            <a:avLst/>
          </a:prstGeom>
          <a:noFill/>
          <a:ln w="31750">
            <a:solidFill>
              <a:srgbClr val="16181A"/>
            </a:solidFill>
            <a:prstDash val="solid"/>
          </a:ln>
        </p:spPr>
      </p:sp>
      <p:sp>
        <p:nvSpPr>
          <p:cNvPr id="6" name="Shape 4"/>
          <p:cNvSpPr/>
          <p:nvPr/>
        </p:nvSpPr>
        <p:spPr>
          <a:xfrm>
            <a:off x="1010412" y="3479292"/>
            <a:ext cx="82296" cy="82296"/>
          </a:xfrm>
          <a:prstGeom prst="ellipse">
            <a:avLst/>
          </a:prstGeom>
          <a:solidFill>
            <a:srgbClr val="16181A"/>
          </a:solidFill>
          <a:ln w="6350">
            <a:solidFill>
              <a:srgbClr val="16181A"/>
            </a:solidFill>
            <a:prstDash val="solid"/>
          </a:ln>
        </p:spPr>
      </p:sp>
      <p:sp>
        <p:nvSpPr>
          <p:cNvPr id="7" name="Text 5"/>
          <p:cNvSpPr/>
          <p:nvPr/>
        </p:nvSpPr>
        <p:spPr>
          <a:xfrm>
            <a:off x="411480" y="3639312"/>
            <a:ext cx="1371600" cy="228600"/>
          </a:xfrm>
          <a:prstGeom prst="rect">
            <a:avLst/>
          </a:prstGeom>
          <a:noFill/>
          <a:ln/>
        </p:spPr>
        <p:txBody>
          <a:bodyPr wrap="square" lIns="0" tIns="0" rIns="0" bIns="0" rtlCol="0" anchor="ctr"/>
          <a:lstStyle/>
          <a:p>
            <a:pPr algn="ctr" indent="0" marL="0">
              <a:buNone/>
            </a:pPr>
            <a:r>
              <a:rPr lang="en-US" sz="800" spc="100" kern="0" dirty="0">
                <a:solidFill>
                  <a:srgbClr val="4A5560"/>
                </a:solidFill>
                <a:latin typeface="Courier New" pitchFamily="34" charset="0"/>
                <a:ea typeface="Courier New" pitchFamily="34" charset="-122"/>
                <a:cs typeface="Courier New" pitchFamily="34" charset="-120"/>
              </a:rPr>
              <a:t>NIGHT CITY</a:t>
            </a:r>
            <a:endParaRPr lang="en-US" sz="800" dirty="0"/>
          </a:p>
        </p:txBody>
      </p:sp>
      <p:sp>
        <p:nvSpPr>
          <p:cNvPr id="8" name="Shape 6"/>
          <p:cNvSpPr/>
          <p:nvPr/>
        </p:nvSpPr>
        <p:spPr>
          <a:xfrm>
            <a:off x="2107692" y="3479292"/>
            <a:ext cx="82296" cy="82296"/>
          </a:xfrm>
          <a:prstGeom prst="ellipse">
            <a:avLst/>
          </a:prstGeom>
          <a:solidFill>
            <a:srgbClr val="16181A"/>
          </a:solidFill>
          <a:ln w="6350">
            <a:solidFill>
              <a:srgbClr val="16181A"/>
            </a:solidFill>
            <a:prstDash val="solid"/>
          </a:ln>
        </p:spPr>
      </p:sp>
      <p:sp>
        <p:nvSpPr>
          <p:cNvPr id="9" name="Text 7"/>
          <p:cNvSpPr/>
          <p:nvPr/>
        </p:nvSpPr>
        <p:spPr>
          <a:xfrm>
            <a:off x="1508760" y="3639312"/>
            <a:ext cx="1371600" cy="228600"/>
          </a:xfrm>
          <a:prstGeom prst="rect">
            <a:avLst/>
          </a:prstGeom>
          <a:noFill/>
          <a:ln/>
        </p:spPr>
        <p:txBody>
          <a:bodyPr wrap="square" lIns="0" tIns="0" rIns="0" bIns="0" rtlCol="0" anchor="ctr"/>
          <a:lstStyle/>
          <a:p>
            <a:pPr algn="ctr" indent="0" marL="0">
              <a:buNone/>
            </a:pPr>
            <a:r>
              <a:rPr lang="en-US" sz="800" spc="100" kern="0" dirty="0">
                <a:solidFill>
                  <a:srgbClr val="4A5560"/>
                </a:solidFill>
                <a:latin typeface="Courier New" pitchFamily="34" charset="0"/>
                <a:ea typeface="Courier New" pitchFamily="34" charset="-122"/>
                <a:cs typeface="Courier New" pitchFamily="34" charset="-120"/>
              </a:rPr>
              <a:t>CORPORATE WARS</a:t>
            </a:r>
            <a:endParaRPr lang="en-US" sz="800" dirty="0"/>
          </a:p>
        </p:txBody>
      </p:sp>
      <p:sp>
        <p:nvSpPr>
          <p:cNvPr id="10" name="Shape 8"/>
          <p:cNvSpPr/>
          <p:nvPr/>
        </p:nvSpPr>
        <p:spPr>
          <a:xfrm>
            <a:off x="3342132" y="3479292"/>
            <a:ext cx="82296" cy="82296"/>
          </a:xfrm>
          <a:prstGeom prst="ellipse">
            <a:avLst/>
          </a:prstGeom>
          <a:solidFill>
            <a:srgbClr val="16181A"/>
          </a:solidFill>
          <a:ln w="6350">
            <a:solidFill>
              <a:srgbClr val="16181A"/>
            </a:solidFill>
            <a:prstDash val="solid"/>
          </a:ln>
        </p:spPr>
      </p:sp>
      <p:sp>
        <p:nvSpPr>
          <p:cNvPr id="11" name="Text 9"/>
          <p:cNvSpPr/>
          <p:nvPr/>
        </p:nvSpPr>
        <p:spPr>
          <a:xfrm>
            <a:off x="2743200" y="3639312"/>
            <a:ext cx="1371600" cy="228600"/>
          </a:xfrm>
          <a:prstGeom prst="rect">
            <a:avLst/>
          </a:prstGeom>
          <a:noFill/>
          <a:ln/>
        </p:spPr>
        <p:txBody>
          <a:bodyPr wrap="square" lIns="0" tIns="0" rIns="0" bIns="0" rtlCol="0" anchor="ctr"/>
          <a:lstStyle/>
          <a:p>
            <a:pPr algn="ctr" indent="0" marL="0">
              <a:buNone/>
            </a:pPr>
            <a:r>
              <a:rPr lang="en-US" sz="800" spc="100" kern="0" dirty="0">
                <a:solidFill>
                  <a:srgbClr val="4A5560"/>
                </a:solidFill>
                <a:latin typeface="Courier New" pitchFamily="34" charset="0"/>
                <a:ea typeface="Courier New" pitchFamily="34" charset="-122"/>
                <a:cs typeface="Courier New" pitchFamily="34" charset="-120"/>
              </a:rPr>
              <a:t>DATAKRASH</a:t>
            </a:r>
            <a:endParaRPr lang="en-US" sz="800" dirty="0"/>
          </a:p>
        </p:txBody>
      </p:sp>
      <p:sp>
        <p:nvSpPr>
          <p:cNvPr id="12" name="Shape 10"/>
          <p:cNvSpPr/>
          <p:nvPr/>
        </p:nvSpPr>
        <p:spPr>
          <a:xfrm>
            <a:off x="4517136" y="3465576"/>
            <a:ext cx="109728" cy="109728"/>
          </a:xfrm>
          <a:prstGeom prst="ellipse">
            <a:avLst/>
          </a:prstGeom>
          <a:solidFill>
            <a:srgbClr val="A3212E"/>
          </a:solidFill>
          <a:ln w="6350">
            <a:solidFill>
              <a:srgbClr val="A3212E"/>
            </a:solidFill>
            <a:prstDash val="solid"/>
          </a:ln>
        </p:spPr>
      </p:sp>
      <p:sp>
        <p:nvSpPr>
          <p:cNvPr id="13" name="Text 11"/>
          <p:cNvSpPr/>
          <p:nvPr/>
        </p:nvSpPr>
        <p:spPr>
          <a:xfrm>
            <a:off x="4206240" y="3154680"/>
            <a:ext cx="731520" cy="228600"/>
          </a:xfrm>
          <a:prstGeom prst="rect">
            <a:avLst/>
          </a:prstGeom>
          <a:noFill/>
          <a:ln/>
        </p:spPr>
        <p:txBody>
          <a:bodyPr wrap="square" lIns="0" tIns="0" rIns="0" bIns="0" rtlCol="0" anchor="ctr"/>
          <a:lstStyle/>
          <a:p>
            <a:pPr algn="ctr" indent="0" marL="0">
              <a:buNone/>
            </a:pPr>
            <a:r>
              <a:rPr lang="en-US" sz="1000" b="1" dirty="0">
                <a:solidFill>
                  <a:srgbClr val="A3212E"/>
                </a:solidFill>
                <a:latin typeface="Courier New" pitchFamily="34" charset="0"/>
                <a:ea typeface="Courier New" pitchFamily="34" charset="-122"/>
                <a:cs typeface="Courier New" pitchFamily="34" charset="-120"/>
              </a:rPr>
              <a:t>2045</a:t>
            </a:r>
            <a:endParaRPr lang="en-US" sz="1000" dirty="0"/>
          </a:p>
        </p:txBody>
      </p:sp>
      <p:sp>
        <p:nvSpPr>
          <p:cNvPr id="14" name="Shape 12"/>
          <p:cNvSpPr/>
          <p:nvPr/>
        </p:nvSpPr>
        <p:spPr>
          <a:xfrm flipV="1">
            <a:off x="4572000" y="3017520"/>
            <a:ext cx="1188720" cy="502920"/>
          </a:xfrm>
          <a:prstGeom prst="line">
            <a:avLst/>
          </a:prstGeom>
          <a:noFill/>
          <a:ln w="31750">
            <a:solidFill>
              <a:srgbClr val="C9A24B"/>
            </a:solidFill>
            <a:prstDash val="solid"/>
          </a:ln>
        </p:spPr>
      </p:sp>
      <p:sp>
        <p:nvSpPr>
          <p:cNvPr id="15" name="Shape 13"/>
          <p:cNvSpPr/>
          <p:nvPr/>
        </p:nvSpPr>
        <p:spPr>
          <a:xfrm flipV="1">
            <a:off x="5760720" y="2834640"/>
            <a:ext cx="2743200" cy="182880"/>
          </a:xfrm>
          <a:prstGeom prst="line">
            <a:avLst/>
          </a:prstGeom>
          <a:noFill/>
          <a:ln w="31750">
            <a:solidFill>
              <a:srgbClr val="C9A24B"/>
            </a:solidFill>
            <a:prstDash val="solid"/>
          </a:ln>
        </p:spPr>
      </p:sp>
      <p:sp>
        <p:nvSpPr>
          <p:cNvPr id="16" name="Shape 14"/>
          <p:cNvSpPr/>
          <p:nvPr/>
        </p:nvSpPr>
        <p:spPr>
          <a:xfrm>
            <a:off x="4572000" y="3520440"/>
            <a:ext cx="3931920" cy="0"/>
          </a:xfrm>
          <a:prstGeom prst="line">
            <a:avLst/>
          </a:prstGeom>
          <a:noFill/>
          <a:ln w="15240">
            <a:solidFill>
              <a:srgbClr val="4A5560"/>
            </a:solidFill>
            <a:prstDash val="dash"/>
          </a:ln>
        </p:spPr>
      </p:sp>
      <p:sp>
        <p:nvSpPr>
          <p:cNvPr id="17" name="Text 15"/>
          <p:cNvSpPr/>
          <p:nvPr/>
        </p:nvSpPr>
        <p:spPr>
          <a:xfrm>
            <a:off x="5943600" y="2487168"/>
            <a:ext cx="2377440" cy="274320"/>
          </a:xfrm>
          <a:prstGeom prst="rect">
            <a:avLst/>
          </a:prstGeom>
          <a:noFill/>
          <a:ln/>
        </p:spPr>
        <p:txBody>
          <a:bodyPr wrap="square" lIns="0" tIns="0" rIns="0" bIns="0" rtlCol="0" anchor="ctr"/>
          <a:lstStyle/>
          <a:p>
            <a:pPr indent="0" marL="0">
              <a:buNone/>
            </a:pPr>
            <a:r>
              <a:rPr lang="en-US" sz="1050" b="1" spc="200" kern="0" dirty="0">
                <a:solidFill>
                  <a:srgbClr val="C9A24B"/>
                </a:solidFill>
                <a:latin typeface="Courier New" pitchFamily="34" charset="0"/>
                <a:ea typeface="Courier New" pitchFamily="34" charset="-122"/>
                <a:cs typeface="Courier New" pitchFamily="34" charset="-120"/>
              </a:rPr>
              <a:t>CHROMOPUNK →</a:t>
            </a:r>
            <a:endParaRPr lang="en-US" sz="1050" dirty="0"/>
          </a:p>
        </p:txBody>
      </p:sp>
      <p:sp>
        <p:nvSpPr>
          <p:cNvPr id="18" name="Text 16"/>
          <p:cNvSpPr/>
          <p:nvPr/>
        </p:nvSpPr>
        <p:spPr>
          <a:xfrm>
            <a:off x="5943600" y="3621024"/>
            <a:ext cx="2560320" cy="228600"/>
          </a:xfrm>
          <a:prstGeom prst="rect">
            <a:avLst/>
          </a:prstGeom>
          <a:noFill/>
          <a:ln/>
        </p:spPr>
        <p:txBody>
          <a:bodyPr wrap="square" lIns="0" tIns="0" rIns="0" bIns="0" rtlCol="0" anchor="ctr"/>
          <a:lstStyle/>
          <a:p>
            <a:pPr indent="0" marL="0">
              <a:buNone/>
            </a:pPr>
            <a:r>
              <a:rPr lang="en-US" sz="800" dirty="0">
                <a:solidFill>
                  <a:srgbClr val="4A5560"/>
                </a:solidFill>
                <a:latin typeface="Courier New" pitchFamily="34" charset="0"/>
                <a:ea typeface="Courier New" pitchFamily="34" charset="-122"/>
                <a:cs typeface="Courier New" pitchFamily="34" charset="-120"/>
              </a:rPr>
              <a:t>official canon continues →</a:t>
            </a:r>
            <a:endParaRPr lang="en-US" sz="800" dirty="0"/>
          </a:p>
        </p:txBody>
      </p:sp>
      <p:sp>
        <p:nvSpPr>
          <p:cNvPr id="25" name="Slide Number Placeholder 0"/>
          <p:cNvSpPr>
            <a:spLocks noGrp="1"/>
          </p:cNvSpPr>
          <p:nvPr>
            <p:ph type="sldNum" sz="quarter" idx="4294967295"/>
          </p:nvPr>
        </p:nvSpPr>
        <p:spPr>
          <a:xfrm>
            <a:off x="8522208" y="486460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4A5560"/>
                </a:solidFill>
                <a:latin typeface="Courier New"/>
                <a:ea typeface="Courier New"/>
                <a:cs typeface="Courier New"/>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7863840" cy="292608"/>
          </a:xfrm>
          <a:prstGeom prst="rect">
            <a:avLst/>
          </a:prstGeom>
          <a:noFill/>
          <a:ln/>
        </p:spPr>
        <p:txBody>
          <a:bodyPr wrap="square" lIns="0" tIns="0" rIns="0" bIns="0" rtlCol="0"/>
          <a:lstStyle/>
          <a:p>
            <a:pPr indent="0" marL="0">
              <a:buNone/>
            </a:pPr>
            <a:r>
              <a:rPr lang="en-US" sz="900" spc="300" kern="0" dirty="0">
                <a:solidFill>
                  <a:srgbClr val="0E4B50"/>
                </a:solidFill>
                <a:latin typeface="Courier New" pitchFamily="34" charset="0"/>
                <a:ea typeface="Courier New" pitchFamily="34" charset="-122"/>
                <a:cs typeface="Courier New" pitchFamily="34" charset="-120"/>
              </a:rPr>
              <a:t>04 · THE THESIS</a:t>
            </a:r>
            <a:endParaRPr lang="en-US" sz="900" dirty="0"/>
          </a:p>
        </p:txBody>
      </p:sp>
      <p:sp>
        <p:nvSpPr>
          <p:cNvPr id="3" name="Text 1"/>
          <p:cNvSpPr/>
          <p:nvPr/>
        </p:nvSpPr>
        <p:spPr>
          <a:xfrm>
            <a:off x="548640" y="658368"/>
            <a:ext cx="8046720" cy="1051560"/>
          </a:xfrm>
          <a:prstGeom prst="rect">
            <a:avLst/>
          </a:prstGeom>
          <a:noFill/>
          <a:ln/>
        </p:spPr>
        <p:txBody>
          <a:bodyPr wrap="square" lIns="0" tIns="0" rIns="0" bIns="0" rtlCol="0" anchor="ctr"/>
          <a:lstStyle/>
          <a:p>
            <a:pPr indent="0" marL="0">
              <a:lnSpc>
                <a:spcPct val="115000"/>
              </a:lnSpc>
              <a:buNone/>
            </a:pPr>
            <a:r>
              <a:rPr lang="en-US" sz="2000" i="1" dirty="0">
                <a:solidFill>
                  <a:srgbClr val="16181A"/>
                </a:solidFill>
                <a:latin typeface="Georgia" pitchFamily="34" charset="0"/>
                <a:ea typeface="Georgia" pitchFamily="34" charset="-122"/>
                <a:cs typeface="Georgia" pitchFamily="34" charset="-120"/>
              </a:rPr>
              <a:t>“Does creating, protecting, financing, or depending upon something grant the right to own it?”</a:t>
            </a:r>
            <a:endParaRPr lang="en-US" sz="2000" dirty="0"/>
          </a:p>
        </p:txBody>
      </p:sp>
      <p:sp>
        <p:nvSpPr>
          <p:cNvPr id="4" name="Text 2"/>
          <p:cNvSpPr/>
          <p:nvPr/>
        </p:nvSpPr>
        <p:spPr>
          <a:xfrm>
            <a:off x="548640" y="1938528"/>
            <a:ext cx="1600200" cy="320040"/>
          </a:xfrm>
          <a:prstGeom prst="rect">
            <a:avLst/>
          </a:prstGeom>
          <a:noFill/>
          <a:ln/>
        </p:spPr>
        <p:txBody>
          <a:bodyPr wrap="square" lIns="0" tIns="0" rIns="0" bIns="0" rtlCol="0" anchor="ctr"/>
          <a:lstStyle/>
          <a:p>
            <a:pPr indent="0" marL="0">
              <a:buNone/>
            </a:pPr>
            <a:r>
              <a:rPr lang="en-US" sz="1000" b="1" spc="200" kern="0" dirty="0">
                <a:solidFill>
                  <a:srgbClr val="0E4B50"/>
                </a:solidFill>
                <a:latin typeface="Courier New" pitchFamily="34" charset="0"/>
                <a:ea typeface="Courier New" pitchFamily="34" charset="-122"/>
                <a:cs typeface="Courier New" pitchFamily="34" charset="-120"/>
              </a:rPr>
              <a:t>NATIONS</a:t>
            </a:r>
            <a:endParaRPr lang="en-US" sz="1000" dirty="0"/>
          </a:p>
        </p:txBody>
      </p:sp>
      <p:sp>
        <p:nvSpPr>
          <p:cNvPr id="5" name="Text 3"/>
          <p:cNvSpPr/>
          <p:nvPr/>
        </p:nvSpPr>
        <p:spPr>
          <a:xfrm>
            <a:off x="2240280" y="1920240"/>
            <a:ext cx="6309360" cy="347472"/>
          </a:xfrm>
          <a:prstGeom prst="rect">
            <a:avLst/>
          </a:prstGeom>
          <a:noFill/>
          <a:ln/>
        </p:spPr>
        <p:txBody>
          <a:bodyPr wrap="square" lIns="0" tIns="0" rIns="0" bIns="0" rtlCol="0" anchor="ctr"/>
          <a:lstStyle/>
          <a:p>
            <a:pPr indent="0" marL="0">
              <a:buNone/>
            </a:pPr>
            <a:r>
              <a:rPr lang="en-US" sz="1200" dirty="0">
                <a:solidFill>
                  <a:srgbClr val="16181A"/>
                </a:solidFill>
                <a:latin typeface="Arial" pitchFamily="34" charset="0"/>
                <a:ea typeface="Arial" pitchFamily="34" charset="-122"/>
                <a:cs typeface="Arial" pitchFamily="34" charset="-120"/>
              </a:rPr>
              <a:t>ask it about the heavens.</a:t>
            </a:r>
            <a:endParaRPr lang="en-US" sz="1200" dirty="0"/>
          </a:p>
        </p:txBody>
      </p:sp>
      <p:sp>
        <p:nvSpPr>
          <p:cNvPr id="6" name="Shape 4"/>
          <p:cNvSpPr/>
          <p:nvPr/>
        </p:nvSpPr>
        <p:spPr>
          <a:xfrm>
            <a:off x="548640" y="2286000"/>
            <a:ext cx="7955280" cy="0"/>
          </a:xfrm>
          <a:prstGeom prst="line">
            <a:avLst/>
          </a:prstGeom>
          <a:noFill/>
          <a:ln w="6350">
            <a:solidFill>
              <a:srgbClr val="4A5560">
                <a:alpha val="45000"/>
              </a:srgbClr>
            </a:solidFill>
            <a:prstDash val="solid"/>
          </a:ln>
        </p:spPr>
      </p:sp>
      <p:sp>
        <p:nvSpPr>
          <p:cNvPr id="7" name="Text 5"/>
          <p:cNvSpPr/>
          <p:nvPr/>
        </p:nvSpPr>
        <p:spPr>
          <a:xfrm>
            <a:off x="548640" y="2395728"/>
            <a:ext cx="1600200" cy="320040"/>
          </a:xfrm>
          <a:prstGeom prst="rect">
            <a:avLst/>
          </a:prstGeom>
          <a:noFill/>
          <a:ln/>
        </p:spPr>
        <p:txBody>
          <a:bodyPr wrap="square" lIns="0" tIns="0" rIns="0" bIns="0" rtlCol="0" anchor="ctr"/>
          <a:lstStyle/>
          <a:p>
            <a:pPr indent="0" marL="0">
              <a:buNone/>
            </a:pPr>
            <a:r>
              <a:rPr lang="en-US" sz="1000" b="1" spc="200" kern="0" dirty="0">
                <a:solidFill>
                  <a:srgbClr val="0E4B50"/>
                </a:solidFill>
                <a:latin typeface="Courier New" pitchFamily="34" charset="0"/>
                <a:ea typeface="Courier New" pitchFamily="34" charset="-122"/>
                <a:cs typeface="Courier New" pitchFamily="34" charset="-120"/>
              </a:rPr>
              <a:t>TEXAS</a:t>
            </a:r>
            <a:endParaRPr lang="en-US" sz="1000" dirty="0"/>
          </a:p>
        </p:txBody>
      </p:sp>
      <p:sp>
        <p:nvSpPr>
          <p:cNvPr id="8" name="Text 6"/>
          <p:cNvSpPr/>
          <p:nvPr/>
        </p:nvSpPr>
        <p:spPr>
          <a:xfrm>
            <a:off x="2240280" y="2377440"/>
            <a:ext cx="6309360" cy="347472"/>
          </a:xfrm>
          <a:prstGeom prst="rect">
            <a:avLst/>
          </a:prstGeom>
          <a:noFill/>
          <a:ln/>
        </p:spPr>
        <p:txBody>
          <a:bodyPr wrap="square" lIns="0" tIns="0" rIns="0" bIns="0" rtlCol="0" anchor="ctr"/>
          <a:lstStyle/>
          <a:p>
            <a:pPr indent="0" marL="0">
              <a:buNone/>
            </a:pPr>
            <a:r>
              <a:rPr lang="en-US" sz="1200" dirty="0">
                <a:solidFill>
                  <a:srgbClr val="16181A"/>
                </a:solidFill>
                <a:latin typeface="Arial" pitchFamily="34" charset="0"/>
                <a:ea typeface="Arial" pitchFamily="34" charset="-122"/>
                <a:cs typeface="Arial" pitchFamily="34" charset="-120"/>
              </a:rPr>
              <a:t>asks it about Domingo City.</a:t>
            </a:r>
            <a:endParaRPr lang="en-US" sz="1200" dirty="0"/>
          </a:p>
        </p:txBody>
      </p:sp>
      <p:sp>
        <p:nvSpPr>
          <p:cNvPr id="9" name="Shape 7"/>
          <p:cNvSpPr/>
          <p:nvPr/>
        </p:nvSpPr>
        <p:spPr>
          <a:xfrm>
            <a:off x="548640" y="2743200"/>
            <a:ext cx="7955280" cy="0"/>
          </a:xfrm>
          <a:prstGeom prst="line">
            <a:avLst/>
          </a:prstGeom>
          <a:noFill/>
          <a:ln w="6350">
            <a:solidFill>
              <a:srgbClr val="4A5560">
                <a:alpha val="45000"/>
              </a:srgbClr>
            </a:solidFill>
            <a:prstDash val="solid"/>
          </a:ln>
        </p:spPr>
      </p:sp>
      <p:sp>
        <p:nvSpPr>
          <p:cNvPr id="10" name="Text 8"/>
          <p:cNvSpPr/>
          <p:nvPr/>
        </p:nvSpPr>
        <p:spPr>
          <a:xfrm>
            <a:off x="548640" y="2852928"/>
            <a:ext cx="1600200" cy="320040"/>
          </a:xfrm>
          <a:prstGeom prst="rect">
            <a:avLst/>
          </a:prstGeom>
          <a:noFill/>
          <a:ln/>
        </p:spPr>
        <p:txBody>
          <a:bodyPr wrap="square" lIns="0" tIns="0" rIns="0" bIns="0" rtlCol="0" anchor="ctr"/>
          <a:lstStyle/>
          <a:p>
            <a:pPr indent="0" marL="0">
              <a:buNone/>
            </a:pPr>
            <a:r>
              <a:rPr lang="en-US" sz="1000" b="1" spc="200" kern="0" dirty="0">
                <a:solidFill>
                  <a:srgbClr val="0E4B50"/>
                </a:solidFill>
                <a:latin typeface="Courier New" pitchFamily="34" charset="0"/>
                <a:ea typeface="Courier New" pitchFamily="34" charset="-122"/>
                <a:cs typeface="Courier New" pitchFamily="34" charset="-120"/>
              </a:rPr>
              <a:t>DOMINGO</a:t>
            </a:r>
            <a:endParaRPr lang="en-US" sz="1000" dirty="0"/>
          </a:p>
        </p:txBody>
      </p:sp>
      <p:sp>
        <p:nvSpPr>
          <p:cNvPr id="11" name="Text 9"/>
          <p:cNvSpPr/>
          <p:nvPr/>
        </p:nvSpPr>
        <p:spPr>
          <a:xfrm>
            <a:off x="2240280" y="2834640"/>
            <a:ext cx="6309360" cy="347472"/>
          </a:xfrm>
          <a:prstGeom prst="rect">
            <a:avLst/>
          </a:prstGeom>
          <a:noFill/>
          <a:ln/>
        </p:spPr>
        <p:txBody>
          <a:bodyPr wrap="square" lIns="0" tIns="0" rIns="0" bIns="0" rtlCol="0" anchor="ctr"/>
          <a:lstStyle/>
          <a:p>
            <a:pPr indent="0" marL="0">
              <a:buNone/>
            </a:pPr>
            <a:r>
              <a:rPr lang="en-US" sz="1200" dirty="0">
                <a:solidFill>
                  <a:srgbClr val="16181A"/>
                </a:solidFill>
                <a:latin typeface="Arial" pitchFamily="34" charset="0"/>
                <a:ea typeface="Arial" pitchFamily="34" charset="-122"/>
                <a:cs typeface="Arial" pitchFamily="34" charset="-120"/>
              </a:rPr>
              <a:t>asks it about the territory beneath it.</a:t>
            </a:r>
            <a:endParaRPr lang="en-US" sz="1200" dirty="0"/>
          </a:p>
        </p:txBody>
      </p:sp>
      <p:sp>
        <p:nvSpPr>
          <p:cNvPr id="12" name="Shape 10"/>
          <p:cNvSpPr/>
          <p:nvPr/>
        </p:nvSpPr>
        <p:spPr>
          <a:xfrm>
            <a:off x="548640" y="3200400"/>
            <a:ext cx="7955280" cy="0"/>
          </a:xfrm>
          <a:prstGeom prst="line">
            <a:avLst/>
          </a:prstGeom>
          <a:noFill/>
          <a:ln w="6350">
            <a:solidFill>
              <a:srgbClr val="4A5560">
                <a:alpha val="45000"/>
              </a:srgbClr>
            </a:solidFill>
            <a:prstDash val="solid"/>
          </a:ln>
        </p:spPr>
      </p:sp>
      <p:sp>
        <p:nvSpPr>
          <p:cNvPr id="13" name="Text 11"/>
          <p:cNvSpPr/>
          <p:nvPr/>
        </p:nvSpPr>
        <p:spPr>
          <a:xfrm>
            <a:off x="548640" y="3310128"/>
            <a:ext cx="1600200" cy="320040"/>
          </a:xfrm>
          <a:prstGeom prst="rect">
            <a:avLst/>
          </a:prstGeom>
          <a:noFill/>
          <a:ln/>
        </p:spPr>
        <p:txBody>
          <a:bodyPr wrap="square" lIns="0" tIns="0" rIns="0" bIns="0" rtlCol="0" anchor="ctr"/>
          <a:lstStyle/>
          <a:p>
            <a:pPr indent="0" marL="0">
              <a:buNone/>
            </a:pPr>
            <a:r>
              <a:rPr lang="en-US" sz="1000" b="1" spc="200" kern="0" dirty="0">
                <a:solidFill>
                  <a:srgbClr val="0E4B50"/>
                </a:solidFill>
                <a:latin typeface="Courier New" pitchFamily="34" charset="0"/>
                <a:ea typeface="Courier New" pitchFamily="34" charset="-122"/>
                <a:cs typeface="Courier New" pitchFamily="34" charset="-120"/>
              </a:rPr>
              <a:t>BLOODLINE</a:t>
            </a:r>
            <a:endParaRPr lang="en-US" sz="1000" dirty="0"/>
          </a:p>
        </p:txBody>
      </p:sp>
      <p:sp>
        <p:nvSpPr>
          <p:cNvPr id="14" name="Text 12"/>
          <p:cNvSpPr/>
          <p:nvPr/>
        </p:nvSpPr>
        <p:spPr>
          <a:xfrm>
            <a:off x="2240280" y="3291840"/>
            <a:ext cx="6309360" cy="347472"/>
          </a:xfrm>
          <a:prstGeom prst="rect">
            <a:avLst/>
          </a:prstGeom>
          <a:noFill/>
          <a:ln/>
        </p:spPr>
        <p:txBody>
          <a:bodyPr wrap="square" lIns="0" tIns="0" rIns="0" bIns="0" rtlCol="0" anchor="ctr"/>
          <a:lstStyle/>
          <a:p>
            <a:pPr indent="0" marL="0">
              <a:buNone/>
            </a:pPr>
            <a:r>
              <a:rPr lang="en-US" sz="1200" dirty="0">
                <a:solidFill>
                  <a:srgbClr val="16181A"/>
                </a:solidFill>
                <a:latin typeface="Arial" pitchFamily="34" charset="0"/>
                <a:ea typeface="Arial" pitchFamily="34" charset="-122"/>
                <a:cs typeface="Arial" pitchFamily="34" charset="-120"/>
              </a:rPr>
              <a:t>asks it about Resonators.</a:t>
            </a:r>
            <a:endParaRPr lang="en-US" sz="1200" dirty="0"/>
          </a:p>
        </p:txBody>
      </p:sp>
      <p:sp>
        <p:nvSpPr>
          <p:cNvPr id="15" name="Shape 13"/>
          <p:cNvSpPr/>
          <p:nvPr/>
        </p:nvSpPr>
        <p:spPr>
          <a:xfrm>
            <a:off x="548640" y="3657600"/>
            <a:ext cx="7955280" cy="0"/>
          </a:xfrm>
          <a:prstGeom prst="line">
            <a:avLst/>
          </a:prstGeom>
          <a:noFill/>
          <a:ln w="6350">
            <a:solidFill>
              <a:srgbClr val="4A5560">
                <a:alpha val="45000"/>
              </a:srgbClr>
            </a:solidFill>
            <a:prstDash val="solid"/>
          </a:ln>
        </p:spPr>
      </p:sp>
      <p:sp>
        <p:nvSpPr>
          <p:cNvPr id="16" name="Text 14"/>
          <p:cNvSpPr/>
          <p:nvPr/>
        </p:nvSpPr>
        <p:spPr>
          <a:xfrm>
            <a:off x="548640" y="3767328"/>
            <a:ext cx="1600200" cy="320040"/>
          </a:xfrm>
          <a:prstGeom prst="rect">
            <a:avLst/>
          </a:prstGeom>
          <a:noFill/>
          <a:ln/>
        </p:spPr>
        <p:txBody>
          <a:bodyPr wrap="square" lIns="0" tIns="0" rIns="0" bIns="0" rtlCol="0" anchor="ctr"/>
          <a:lstStyle/>
          <a:p>
            <a:pPr indent="0" marL="0">
              <a:buNone/>
            </a:pPr>
            <a:r>
              <a:rPr lang="en-US" sz="1000" b="1" spc="200" kern="0" dirty="0">
                <a:solidFill>
                  <a:srgbClr val="C9A24B"/>
                </a:solidFill>
                <a:latin typeface="Courier New" pitchFamily="34" charset="0"/>
                <a:ea typeface="Courier New" pitchFamily="34" charset="-122"/>
                <a:cs typeface="Courier New" pitchFamily="34" charset="-120"/>
              </a:rPr>
              <a:t>VIN</a:t>
            </a:r>
            <a:endParaRPr lang="en-US" sz="1000" dirty="0"/>
          </a:p>
        </p:txBody>
      </p:sp>
      <p:sp>
        <p:nvSpPr>
          <p:cNvPr id="17" name="Text 15"/>
          <p:cNvSpPr/>
          <p:nvPr/>
        </p:nvSpPr>
        <p:spPr>
          <a:xfrm>
            <a:off x="2240280" y="3749040"/>
            <a:ext cx="6309360" cy="347472"/>
          </a:xfrm>
          <a:prstGeom prst="rect">
            <a:avLst/>
          </a:prstGeom>
          <a:noFill/>
          <a:ln/>
        </p:spPr>
        <p:txBody>
          <a:bodyPr wrap="square" lIns="0" tIns="0" rIns="0" bIns="0" rtlCol="0" anchor="ctr"/>
          <a:lstStyle/>
          <a:p>
            <a:pPr indent="0" marL="0">
              <a:buNone/>
            </a:pPr>
            <a:r>
              <a:rPr lang="en-US" sz="1200" dirty="0">
                <a:solidFill>
                  <a:srgbClr val="16181A"/>
                </a:solidFill>
                <a:latin typeface="Arial" pitchFamily="34" charset="0"/>
                <a:ea typeface="Arial" pitchFamily="34" charset="-122"/>
                <a:cs typeface="Arial" pitchFamily="34" charset="-120"/>
              </a:rPr>
              <a:t>— the seventeen-year-old — asks it about his own body.</a:t>
            </a:r>
            <a:endParaRPr lang="en-US" sz="1200" dirty="0"/>
          </a:p>
        </p:txBody>
      </p:sp>
      <p:sp>
        <p:nvSpPr>
          <p:cNvPr id="18" name="Shape 16"/>
          <p:cNvSpPr/>
          <p:nvPr/>
        </p:nvSpPr>
        <p:spPr>
          <a:xfrm>
            <a:off x="548640" y="4114800"/>
            <a:ext cx="7955280" cy="0"/>
          </a:xfrm>
          <a:prstGeom prst="line">
            <a:avLst/>
          </a:prstGeom>
          <a:noFill/>
          <a:ln w="6350">
            <a:solidFill>
              <a:srgbClr val="4A5560">
                <a:alpha val="45000"/>
              </a:srgbClr>
            </a:solidFill>
            <a:prstDash val="solid"/>
          </a:ln>
        </p:spPr>
      </p:sp>
      <p:sp>
        <p:nvSpPr>
          <p:cNvPr id="19" name="Text 17"/>
          <p:cNvSpPr/>
          <p:nvPr/>
        </p:nvSpPr>
        <p:spPr>
          <a:xfrm>
            <a:off x="548640" y="4370832"/>
            <a:ext cx="8046720" cy="365760"/>
          </a:xfrm>
          <a:prstGeom prst="rect">
            <a:avLst/>
          </a:prstGeom>
          <a:noFill/>
          <a:ln/>
        </p:spPr>
        <p:txBody>
          <a:bodyPr wrap="square" lIns="0" tIns="0" rIns="0" bIns="0" rtlCol="0" anchor="ctr"/>
          <a:lstStyle/>
          <a:p>
            <a:pPr indent="0" marL="0">
              <a:buNone/>
            </a:pPr>
            <a:r>
              <a:rPr lang="en-US" sz="1200" i="1" dirty="0">
                <a:solidFill>
                  <a:srgbClr val="16181A"/>
                </a:solidFill>
                <a:latin typeface="Arial" pitchFamily="34" charset="0"/>
                <a:ea typeface="Arial" pitchFamily="34" charset="-122"/>
                <a:cs typeface="Arial" pitchFamily="34" charset="-120"/>
              </a:rPr>
              <a:t>Every empire in the setting answers yes. The story tests the answer.</a:t>
            </a:r>
            <a:endParaRPr lang="en-US" sz="1200" dirty="0"/>
          </a:p>
        </p:txBody>
      </p:sp>
      <p:sp>
        <p:nvSpPr>
          <p:cNvPr id="21" name="Text 0"/>
          <p:cNvSpPr/>
          <p:nvPr>
            <p:ph idx="101" type="title" hasCustomPrompt="1"/>
          </p:nvPr>
        </p:nvSpPr>
        <p:spPr>
          <a:xfrm>
            <a:off x="548640" y="658368"/>
            <a:ext cx="8046720" cy="731520"/>
          </a:xfrm>
          <a:prstGeom prst="rect">
            <a:avLst/>
          </a:prstGeom>
          <a:noFill/>
          <a:ln/>
        </p:spPr>
        <p:txBody>
          <a:bodyPr wrap="square" lIns="0" tIns="0" rIns="0" bIns="0" rtlCol="0"/>
          <a:lstStyle/>
          <a:p>
            <a:pPr algn="l" indent="0" marL="0">
              <a:buNone/>
            </a:pPr>
            <a:endParaRPr lang="en-US" sz="2600" dirty="0"/>
          </a:p>
        </p:txBody>
      </p:sp>
      <p:sp>
        <p:nvSpPr>
          <p:cNvPr id="25" name="Slide Number Placeholder 0"/>
          <p:cNvSpPr>
            <a:spLocks noGrp="1"/>
          </p:cNvSpPr>
          <p:nvPr>
            <p:ph type="sldNum" sz="quarter" idx="4294967295"/>
          </p:nvPr>
        </p:nvSpPr>
        <p:spPr>
          <a:xfrm>
            <a:off x="8522208" y="486460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4A5560"/>
                </a:solidFill>
                <a:latin typeface="Courier New"/>
                <a:ea typeface="Courier New"/>
                <a:cs typeface="Courier New"/>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7863840" cy="292608"/>
          </a:xfrm>
          <a:prstGeom prst="rect">
            <a:avLst/>
          </a:prstGeom>
          <a:noFill/>
          <a:ln/>
        </p:spPr>
        <p:txBody>
          <a:bodyPr wrap="square" lIns="0" tIns="0" rIns="0" bIns="0" rtlCol="0"/>
          <a:lstStyle/>
          <a:p>
            <a:pPr indent="0" marL="0">
              <a:buNone/>
            </a:pPr>
            <a:r>
              <a:rPr lang="en-US" sz="900" spc="300" kern="0" dirty="0">
                <a:solidFill>
                  <a:srgbClr val="0E4B50"/>
                </a:solidFill>
                <a:latin typeface="Courier New" pitchFamily="34" charset="0"/>
                <a:ea typeface="Courier New" pitchFamily="34" charset="-122"/>
                <a:cs typeface="Courier New" pitchFamily="34" charset="-120"/>
              </a:rPr>
              <a:t>05 · THE WORLD</a:t>
            </a:r>
            <a:endParaRPr lang="en-US" sz="900" dirty="0"/>
          </a:p>
        </p:txBody>
      </p:sp>
      <p:sp>
        <p:nvSpPr>
          <p:cNvPr id="3" name="Text 0"/>
          <p:cNvSpPr/>
          <p:nvPr>
            <p:ph idx="101" type="title" hasCustomPrompt="1"/>
          </p:nvPr>
        </p:nvSpPr>
        <p:spPr>
          <a:xfrm>
            <a:off x="548640" y="658368"/>
            <a:ext cx="8046720" cy="731520"/>
          </a:xfrm>
          <a:prstGeom prst="rect">
            <a:avLst/>
          </a:prstGeom>
          <a:noFill/>
          <a:ln/>
        </p:spPr>
        <p:txBody>
          <a:bodyPr wrap="square" lIns="0" tIns="0" rIns="0" bIns="0" rtlCol="0"/>
          <a:lstStyle/>
          <a:p>
            <a:pPr algn="l" indent="0" marL="0">
              <a:buNone/>
            </a:pPr>
            <a:r>
              <a:rPr lang="en-US" sz="2600" b="1" dirty="0">
                <a:solidFill>
                  <a:srgbClr val="16181A"/>
                </a:solidFill>
                <a:latin typeface="Georgia" pitchFamily="34" charset="0"/>
                <a:ea typeface="Georgia" pitchFamily="34" charset="-122"/>
                <a:cs typeface="Georgia" pitchFamily="34" charset="-120"/>
              </a:rPr>
              <a:t>The claimed heavens</a:t>
            </a:r>
            <a:endParaRPr lang="en-US" sz="2600" dirty="0"/>
          </a:p>
        </p:txBody>
      </p:sp>
      <p:sp>
        <p:nvSpPr>
          <p:cNvPr id="4" name="Text 2"/>
          <p:cNvSpPr/>
          <p:nvPr/>
        </p:nvSpPr>
        <p:spPr>
          <a:xfrm>
            <a:off x="548640" y="1481328"/>
            <a:ext cx="8046720" cy="960120"/>
          </a:xfrm>
          <a:prstGeom prst="rect">
            <a:avLst/>
          </a:prstGeom>
          <a:noFill/>
          <a:ln/>
        </p:spPr>
        <p:txBody>
          <a:bodyPr wrap="square" lIns="0" tIns="0" rIns="0" bIns="0" rtlCol="0" anchor="t"/>
          <a:lstStyle/>
          <a:p>
            <a:pPr indent="0" marL="0">
              <a:lnSpc>
                <a:spcPct val="125000"/>
              </a:lnSpc>
              <a:buNone/>
            </a:pPr>
            <a:r>
              <a:rPr lang="en-US" sz="1250" dirty="0">
                <a:solidFill>
                  <a:srgbClr val="16181A"/>
                </a:solidFill>
                <a:latin typeface="Arial" pitchFamily="34" charset="0"/>
                <a:ea typeface="Arial" pitchFamily="34" charset="-122"/>
                <a:cs typeface="Arial" pitchFamily="34" charset="-120"/>
              </a:rPr>
              <a:t>In 1967 the Outer Space Treaty fails: settlement creates ownership. The Cold War turns four-sided and refuses to die. The Moon and Mars become territory, then industry, then battlefields. And redesigning the worker’s body proves cheaper than repairing the world.</a:t>
            </a:r>
            <a:endParaRPr lang="en-US" sz="1250" dirty="0"/>
          </a:p>
        </p:txBody>
      </p:sp>
      <p:sp>
        <p:nvSpPr>
          <p:cNvPr id="5" name="Shape 3"/>
          <p:cNvSpPr/>
          <p:nvPr/>
        </p:nvSpPr>
        <p:spPr>
          <a:xfrm>
            <a:off x="548640" y="2880360"/>
            <a:ext cx="8046720" cy="0"/>
          </a:xfrm>
          <a:prstGeom prst="line">
            <a:avLst/>
          </a:prstGeom>
          <a:noFill/>
          <a:ln w="19050">
            <a:solidFill>
              <a:srgbClr val="C9A24B"/>
            </a:solidFill>
            <a:prstDash val="solid"/>
          </a:ln>
        </p:spPr>
      </p:sp>
      <p:sp>
        <p:nvSpPr>
          <p:cNvPr id="6" name="Shape 4"/>
          <p:cNvSpPr/>
          <p:nvPr/>
        </p:nvSpPr>
        <p:spPr>
          <a:xfrm>
            <a:off x="621792" y="2843784"/>
            <a:ext cx="73152" cy="73152"/>
          </a:xfrm>
          <a:prstGeom prst="ellipse">
            <a:avLst/>
          </a:prstGeom>
          <a:solidFill>
            <a:srgbClr val="C9A24B"/>
          </a:solidFill>
          <a:ln w="6350">
            <a:solidFill>
              <a:srgbClr val="C9A24B"/>
            </a:solidFill>
            <a:prstDash val="solid"/>
          </a:ln>
        </p:spPr>
      </p:sp>
      <p:sp>
        <p:nvSpPr>
          <p:cNvPr id="7" name="Text 5"/>
          <p:cNvSpPr/>
          <p:nvPr/>
        </p:nvSpPr>
        <p:spPr>
          <a:xfrm>
            <a:off x="201168" y="2999232"/>
            <a:ext cx="960120" cy="228600"/>
          </a:xfrm>
          <a:prstGeom prst="rect">
            <a:avLst/>
          </a:prstGeom>
          <a:noFill/>
          <a:ln/>
        </p:spPr>
        <p:txBody>
          <a:bodyPr wrap="square" lIns="0" tIns="0" rIns="0" bIns="0" rtlCol="0" anchor="ctr"/>
          <a:lstStyle/>
          <a:p>
            <a:pPr algn="ctr" indent="0" marL="0">
              <a:buNone/>
            </a:pPr>
            <a:r>
              <a:rPr lang="en-US" sz="950" b="1" dirty="0">
                <a:solidFill>
                  <a:srgbClr val="16181A"/>
                </a:solidFill>
                <a:latin typeface="Courier New" pitchFamily="34" charset="0"/>
                <a:ea typeface="Courier New" pitchFamily="34" charset="-122"/>
                <a:cs typeface="Courier New" pitchFamily="34" charset="-120"/>
              </a:rPr>
              <a:t>1967</a:t>
            </a:r>
            <a:endParaRPr lang="en-US" sz="950" dirty="0"/>
          </a:p>
        </p:txBody>
      </p:sp>
      <p:sp>
        <p:nvSpPr>
          <p:cNvPr id="8" name="Text 6"/>
          <p:cNvSpPr/>
          <p:nvPr/>
        </p:nvSpPr>
        <p:spPr>
          <a:xfrm>
            <a:off x="155448" y="3227832"/>
            <a:ext cx="1051560" cy="548640"/>
          </a:xfrm>
          <a:prstGeom prst="rect">
            <a:avLst/>
          </a:prstGeom>
          <a:noFill/>
          <a:ln/>
        </p:spPr>
        <p:txBody>
          <a:bodyPr wrap="square" lIns="0" tIns="0" rIns="0" bIns="0" rtlCol="0" anchor="ctr"/>
          <a:lstStyle/>
          <a:p>
            <a:pPr algn="ctr" indent="0" marL="0">
              <a:buNone/>
            </a:pPr>
            <a:r>
              <a:rPr lang="en-US" sz="660" dirty="0">
                <a:solidFill>
                  <a:srgbClr val="4A5560"/>
                </a:solidFill>
                <a:latin typeface="Courier New" pitchFamily="34" charset="0"/>
                <a:ea typeface="Courier New" pitchFamily="34" charset="-122"/>
                <a:cs typeface="Courier New" pitchFamily="34" charset="-120"/>
              </a:rPr>
              <a:t>SPACE LAW FAILS</a:t>
            </a:r>
            <a:endParaRPr lang="en-US" sz="660" dirty="0"/>
          </a:p>
        </p:txBody>
      </p:sp>
      <p:sp>
        <p:nvSpPr>
          <p:cNvPr id="9" name="Shape 7"/>
          <p:cNvSpPr/>
          <p:nvPr/>
        </p:nvSpPr>
        <p:spPr>
          <a:xfrm>
            <a:off x="1636776" y="2843784"/>
            <a:ext cx="73152" cy="73152"/>
          </a:xfrm>
          <a:prstGeom prst="ellipse">
            <a:avLst/>
          </a:prstGeom>
          <a:solidFill>
            <a:srgbClr val="C9A24B"/>
          </a:solidFill>
          <a:ln w="6350">
            <a:solidFill>
              <a:srgbClr val="C9A24B"/>
            </a:solidFill>
            <a:prstDash val="solid"/>
          </a:ln>
        </p:spPr>
      </p:sp>
      <p:sp>
        <p:nvSpPr>
          <p:cNvPr id="10" name="Text 8"/>
          <p:cNvSpPr/>
          <p:nvPr/>
        </p:nvSpPr>
        <p:spPr>
          <a:xfrm>
            <a:off x="1216152" y="2999232"/>
            <a:ext cx="960120" cy="228600"/>
          </a:xfrm>
          <a:prstGeom prst="rect">
            <a:avLst/>
          </a:prstGeom>
          <a:noFill/>
          <a:ln/>
        </p:spPr>
        <p:txBody>
          <a:bodyPr wrap="square" lIns="0" tIns="0" rIns="0" bIns="0" rtlCol="0" anchor="ctr"/>
          <a:lstStyle/>
          <a:p>
            <a:pPr algn="ctr" indent="0" marL="0">
              <a:buNone/>
            </a:pPr>
            <a:r>
              <a:rPr lang="en-US" sz="950" b="1" dirty="0">
                <a:solidFill>
                  <a:srgbClr val="16181A"/>
                </a:solidFill>
                <a:latin typeface="Courier New" pitchFamily="34" charset="0"/>
                <a:ea typeface="Courier New" pitchFamily="34" charset="-122"/>
                <a:cs typeface="Courier New" pitchFamily="34" charset="-120"/>
              </a:rPr>
              <a:t>1996</a:t>
            </a:r>
            <a:endParaRPr lang="en-US" sz="950" dirty="0"/>
          </a:p>
        </p:txBody>
      </p:sp>
      <p:sp>
        <p:nvSpPr>
          <p:cNvPr id="11" name="Text 9"/>
          <p:cNvSpPr/>
          <p:nvPr/>
        </p:nvSpPr>
        <p:spPr>
          <a:xfrm>
            <a:off x="1170432" y="3227832"/>
            <a:ext cx="1051560" cy="548640"/>
          </a:xfrm>
          <a:prstGeom prst="rect">
            <a:avLst/>
          </a:prstGeom>
          <a:noFill/>
          <a:ln/>
        </p:spPr>
        <p:txBody>
          <a:bodyPr wrap="square" lIns="0" tIns="0" rIns="0" bIns="0" rtlCol="0" anchor="ctr"/>
          <a:lstStyle/>
          <a:p>
            <a:pPr algn="ctr" indent="0" marL="0">
              <a:buNone/>
            </a:pPr>
            <a:r>
              <a:rPr lang="en-US" sz="660" dirty="0">
                <a:solidFill>
                  <a:srgbClr val="4A5560"/>
                </a:solidFill>
                <a:latin typeface="Courier New" pitchFamily="34" charset="0"/>
                <a:ea typeface="Courier New" pitchFamily="34" charset="-122"/>
                <a:cs typeface="Courier New" pitchFamily="34" charset="-120"/>
              </a:rPr>
              <a:t>AMERICAN COLLAPSE</a:t>
            </a:r>
            <a:endParaRPr lang="en-US" sz="660" dirty="0"/>
          </a:p>
        </p:txBody>
      </p:sp>
      <p:sp>
        <p:nvSpPr>
          <p:cNvPr id="12" name="Shape 10"/>
          <p:cNvSpPr/>
          <p:nvPr/>
        </p:nvSpPr>
        <p:spPr>
          <a:xfrm>
            <a:off x="2651760" y="2843784"/>
            <a:ext cx="73152" cy="73152"/>
          </a:xfrm>
          <a:prstGeom prst="ellipse">
            <a:avLst/>
          </a:prstGeom>
          <a:solidFill>
            <a:srgbClr val="C9A24B"/>
          </a:solidFill>
          <a:ln w="6350">
            <a:solidFill>
              <a:srgbClr val="C9A24B"/>
            </a:solidFill>
            <a:prstDash val="solid"/>
          </a:ln>
        </p:spPr>
      </p:sp>
      <p:sp>
        <p:nvSpPr>
          <p:cNvPr id="13" name="Text 11"/>
          <p:cNvSpPr/>
          <p:nvPr/>
        </p:nvSpPr>
        <p:spPr>
          <a:xfrm>
            <a:off x="2231136" y="2999232"/>
            <a:ext cx="960120" cy="228600"/>
          </a:xfrm>
          <a:prstGeom prst="rect">
            <a:avLst/>
          </a:prstGeom>
          <a:noFill/>
          <a:ln/>
        </p:spPr>
        <p:txBody>
          <a:bodyPr wrap="square" lIns="0" tIns="0" rIns="0" bIns="0" rtlCol="0" anchor="ctr"/>
          <a:lstStyle/>
          <a:p>
            <a:pPr algn="ctr" indent="0" marL="0">
              <a:buNone/>
            </a:pPr>
            <a:r>
              <a:rPr lang="en-US" sz="950" b="1" dirty="0">
                <a:solidFill>
                  <a:srgbClr val="16181A"/>
                </a:solidFill>
                <a:latin typeface="Courier New" pitchFamily="34" charset="0"/>
                <a:ea typeface="Courier New" pitchFamily="34" charset="-122"/>
                <a:cs typeface="Courier New" pitchFamily="34" charset="-120"/>
              </a:rPr>
              <a:t>2022</a:t>
            </a:r>
            <a:endParaRPr lang="en-US" sz="950" dirty="0"/>
          </a:p>
        </p:txBody>
      </p:sp>
      <p:sp>
        <p:nvSpPr>
          <p:cNvPr id="14" name="Text 12"/>
          <p:cNvSpPr/>
          <p:nvPr/>
        </p:nvSpPr>
        <p:spPr>
          <a:xfrm>
            <a:off x="2185416" y="3227832"/>
            <a:ext cx="1051560" cy="548640"/>
          </a:xfrm>
          <a:prstGeom prst="rect">
            <a:avLst/>
          </a:prstGeom>
          <a:noFill/>
          <a:ln/>
        </p:spPr>
        <p:txBody>
          <a:bodyPr wrap="square" lIns="0" tIns="0" rIns="0" bIns="0" rtlCol="0" anchor="ctr"/>
          <a:lstStyle/>
          <a:p>
            <a:pPr algn="ctr" indent="0" marL="0">
              <a:buNone/>
            </a:pPr>
            <a:r>
              <a:rPr lang="en-US" sz="660" dirty="0">
                <a:solidFill>
                  <a:srgbClr val="4A5560"/>
                </a:solidFill>
                <a:latin typeface="Courier New" pitchFamily="34" charset="0"/>
                <a:ea typeface="Courier New" pitchFamily="34" charset="-122"/>
                <a:cs typeface="Courier New" pitchFamily="34" charset="-120"/>
              </a:rPr>
              <a:t>DATAKRASH</a:t>
            </a:r>
            <a:endParaRPr lang="en-US" sz="660" dirty="0"/>
          </a:p>
        </p:txBody>
      </p:sp>
      <p:sp>
        <p:nvSpPr>
          <p:cNvPr id="15" name="Shape 13"/>
          <p:cNvSpPr/>
          <p:nvPr/>
        </p:nvSpPr>
        <p:spPr>
          <a:xfrm>
            <a:off x="3666744" y="2843784"/>
            <a:ext cx="73152" cy="73152"/>
          </a:xfrm>
          <a:prstGeom prst="ellipse">
            <a:avLst/>
          </a:prstGeom>
          <a:solidFill>
            <a:srgbClr val="C9A24B"/>
          </a:solidFill>
          <a:ln w="6350">
            <a:solidFill>
              <a:srgbClr val="C9A24B"/>
            </a:solidFill>
            <a:prstDash val="solid"/>
          </a:ln>
        </p:spPr>
      </p:sp>
      <p:sp>
        <p:nvSpPr>
          <p:cNvPr id="16" name="Text 14"/>
          <p:cNvSpPr/>
          <p:nvPr/>
        </p:nvSpPr>
        <p:spPr>
          <a:xfrm>
            <a:off x="3246120" y="2999232"/>
            <a:ext cx="960120" cy="228600"/>
          </a:xfrm>
          <a:prstGeom prst="rect">
            <a:avLst/>
          </a:prstGeom>
          <a:noFill/>
          <a:ln/>
        </p:spPr>
        <p:txBody>
          <a:bodyPr wrap="square" lIns="0" tIns="0" rIns="0" bIns="0" rtlCol="0" anchor="ctr"/>
          <a:lstStyle/>
          <a:p>
            <a:pPr algn="ctr" indent="0" marL="0">
              <a:buNone/>
            </a:pPr>
            <a:r>
              <a:rPr lang="en-US" sz="950" b="1" dirty="0">
                <a:solidFill>
                  <a:srgbClr val="16181A"/>
                </a:solidFill>
                <a:latin typeface="Courier New" pitchFamily="34" charset="0"/>
                <a:ea typeface="Courier New" pitchFamily="34" charset="-122"/>
                <a:cs typeface="Courier New" pitchFamily="34" charset="-120"/>
              </a:rPr>
              <a:t>2033</a:t>
            </a:r>
            <a:endParaRPr lang="en-US" sz="950" dirty="0"/>
          </a:p>
        </p:txBody>
      </p:sp>
      <p:sp>
        <p:nvSpPr>
          <p:cNvPr id="17" name="Text 15"/>
          <p:cNvSpPr/>
          <p:nvPr/>
        </p:nvSpPr>
        <p:spPr>
          <a:xfrm>
            <a:off x="3200400" y="3227832"/>
            <a:ext cx="1051560" cy="548640"/>
          </a:xfrm>
          <a:prstGeom prst="rect">
            <a:avLst/>
          </a:prstGeom>
          <a:noFill/>
          <a:ln/>
        </p:spPr>
        <p:txBody>
          <a:bodyPr wrap="square" lIns="0" tIns="0" rIns="0" bIns="0" rtlCol="0" anchor="ctr"/>
          <a:lstStyle/>
          <a:p>
            <a:pPr algn="ctr" indent="0" marL="0">
              <a:buNone/>
            </a:pPr>
            <a:r>
              <a:rPr lang="en-US" sz="660" dirty="0">
                <a:solidFill>
                  <a:srgbClr val="4A5560"/>
                </a:solidFill>
                <a:latin typeface="Courier New" pitchFamily="34" charset="0"/>
                <a:ea typeface="Courier New" pitchFamily="34" charset="-122"/>
                <a:cs typeface="Courier New" pitchFamily="34" charset="-120"/>
              </a:rPr>
              <a:t>COLD WAR ENDS IN FIRE</a:t>
            </a:r>
            <a:endParaRPr lang="en-US" sz="660" dirty="0"/>
          </a:p>
        </p:txBody>
      </p:sp>
      <p:sp>
        <p:nvSpPr>
          <p:cNvPr id="18" name="Shape 16"/>
          <p:cNvSpPr/>
          <p:nvPr/>
        </p:nvSpPr>
        <p:spPr>
          <a:xfrm>
            <a:off x="4681728" y="2843784"/>
            <a:ext cx="73152" cy="73152"/>
          </a:xfrm>
          <a:prstGeom prst="ellipse">
            <a:avLst/>
          </a:prstGeom>
          <a:solidFill>
            <a:srgbClr val="A3212E"/>
          </a:solidFill>
          <a:ln w="6350">
            <a:solidFill>
              <a:srgbClr val="A3212E"/>
            </a:solidFill>
            <a:prstDash val="solid"/>
          </a:ln>
        </p:spPr>
      </p:sp>
      <p:sp>
        <p:nvSpPr>
          <p:cNvPr id="19" name="Text 17"/>
          <p:cNvSpPr/>
          <p:nvPr/>
        </p:nvSpPr>
        <p:spPr>
          <a:xfrm>
            <a:off x="4261104" y="2999232"/>
            <a:ext cx="960120" cy="228600"/>
          </a:xfrm>
          <a:prstGeom prst="rect">
            <a:avLst/>
          </a:prstGeom>
          <a:noFill/>
          <a:ln/>
        </p:spPr>
        <p:txBody>
          <a:bodyPr wrap="square" lIns="0" tIns="0" rIns="0" bIns="0" rtlCol="0" anchor="ctr"/>
          <a:lstStyle/>
          <a:p>
            <a:pPr algn="ctr" indent="0" marL="0">
              <a:buNone/>
            </a:pPr>
            <a:r>
              <a:rPr lang="en-US" sz="950" b="1" dirty="0">
                <a:solidFill>
                  <a:srgbClr val="A3212E"/>
                </a:solidFill>
                <a:latin typeface="Courier New" pitchFamily="34" charset="0"/>
                <a:ea typeface="Courier New" pitchFamily="34" charset="-122"/>
                <a:cs typeface="Courier New" pitchFamily="34" charset="-120"/>
              </a:rPr>
              <a:t>2045</a:t>
            </a:r>
            <a:endParaRPr lang="en-US" sz="950" dirty="0"/>
          </a:p>
        </p:txBody>
      </p:sp>
      <p:sp>
        <p:nvSpPr>
          <p:cNvPr id="20" name="Text 18"/>
          <p:cNvSpPr/>
          <p:nvPr/>
        </p:nvSpPr>
        <p:spPr>
          <a:xfrm>
            <a:off x="4215384" y="3227832"/>
            <a:ext cx="1051560" cy="548640"/>
          </a:xfrm>
          <a:prstGeom prst="rect">
            <a:avLst/>
          </a:prstGeom>
          <a:noFill/>
          <a:ln/>
        </p:spPr>
        <p:txBody>
          <a:bodyPr wrap="square" lIns="0" tIns="0" rIns="0" bIns="0" rtlCol="0" anchor="ctr"/>
          <a:lstStyle/>
          <a:p>
            <a:pPr algn="ctr" indent="0" marL="0">
              <a:buNone/>
            </a:pPr>
            <a:r>
              <a:rPr lang="en-US" sz="660" dirty="0">
                <a:solidFill>
                  <a:srgbClr val="4A5560"/>
                </a:solidFill>
                <a:latin typeface="Courier New" pitchFamily="34" charset="0"/>
                <a:ea typeface="Courier New" pitchFamily="34" charset="-122"/>
                <a:cs typeface="Courier New" pitchFamily="34" charset="-120"/>
              </a:rPr>
              <a:t>THE BRANCH LOCKS</a:t>
            </a:r>
            <a:endParaRPr lang="en-US" sz="660" dirty="0"/>
          </a:p>
        </p:txBody>
      </p:sp>
      <p:sp>
        <p:nvSpPr>
          <p:cNvPr id="21" name="Shape 19"/>
          <p:cNvSpPr/>
          <p:nvPr/>
        </p:nvSpPr>
        <p:spPr>
          <a:xfrm>
            <a:off x="5696712" y="2843784"/>
            <a:ext cx="73152" cy="73152"/>
          </a:xfrm>
          <a:prstGeom prst="ellipse">
            <a:avLst/>
          </a:prstGeom>
          <a:solidFill>
            <a:srgbClr val="C9A24B"/>
          </a:solidFill>
          <a:ln w="6350">
            <a:solidFill>
              <a:srgbClr val="C9A24B"/>
            </a:solidFill>
            <a:prstDash val="solid"/>
          </a:ln>
        </p:spPr>
      </p:sp>
      <p:sp>
        <p:nvSpPr>
          <p:cNvPr id="22" name="Text 20"/>
          <p:cNvSpPr/>
          <p:nvPr/>
        </p:nvSpPr>
        <p:spPr>
          <a:xfrm>
            <a:off x="5276088" y="2999232"/>
            <a:ext cx="960120" cy="228600"/>
          </a:xfrm>
          <a:prstGeom prst="rect">
            <a:avLst/>
          </a:prstGeom>
          <a:noFill/>
          <a:ln/>
        </p:spPr>
        <p:txBody>
          <a:bodyPr wrap="square" lIns="0" tIns="0" rIns="0" bIns="0" rtlCol="0" anchor="ctr"/>
          <a:lstStyle/>
          <a:p>
            <a:pPr algn="ctr" indent="0" marL="0">
              <a:buNone/>
            </a:pPr>
            <a:r>
              <a:rPr lang="en-US" sz="950" b="1" dirty="0">
                <a:solidFill>
                  <a:srgbClr val="16181A"/>
                </a:solidFill>
                <a:latin typeface="Courier New" pitchFamily="34" charset="0"/>
                <a:ea typeface="Courier New" pitchFamily="34" charset="-122"/>
                <a:cs typeface="Courier New" pitchFamily="34" charset="-120"/>
              </a:rPr>
              <a:t>2054</a:t>
            </a:r>
            <a:endParaRPr lang="en-US" sz="950" dirty="0"/>
          </a:p>
        </p:txBody>
      </p:sp>
      <p:sp>
        <p:nvSpPr>
          <p:cNvPr id="23" name="Text 21"/>
          <p:cNvSpPr/>
          <p:nvPr/>
        </p:nvSpPr>
        <p:spPr>
          <a:xfrm>
            <a:off x="5230368" y="3227832"/>
            <a:ext cx="1051560" cy="548640"/>
          </a:xfrm>
          <a:prstGeom prst="rect">
            <a:avLst/>
          </a:prstGeom>
          <a:noFill/>
          <a:ln/>
        </p:spPr>
        <p:txBody>
          <a:bodyPr wrap="square" lIns="0" tIns="0" rIns="0" bIns="0" rtlCol="0" anchor="ctr"/>
          <a:lstStyle/>
          <a:p>
            <a:pPr algn="ctr" indent="0" marL="0">
              <a:buNone/>
            </a:pPr>
            <a:r>
              <a:rPr lang="en-US" sz="660" dirty="0">
                <a:solidFill>
                  <a:srgbClr val="4A5560"/>
                </a:solidFill>
                <a:latin typeface="Courier New" pitchFamily="34" charset="0"/>
                <a:ea typeface="Courier New" pitchFamily="34" charset="-122"/>
                <a:cs typeface="Courier New" pitchFamily="34" charset="-120"/>
              </a:rPr>
              <a:t>BLOODLINE FOUNDED</a:t>
            </a:r>
            <a:endParaRPr lang="en-US" sz="660" dirty="0"/>
          </a:p>
        </p:txBody>
      </p:sp>
      <p:sp>
        <p:nvSpPr>
          <p:cNvPr id="24" name="Shape 22"/>
          <p:cNvSpPr/>
          <p:nvPr/>
        </p:nvSpPr>
        <p:spPr>
          <a:xfrm>
            <a:off x="6711696" y="2843784"/>
            <a:ext cx="73152" cy="73152"/>
          </a:xfrm>
          <a:prstGeom prst="ellipse">
            <a:avLst/>
          </a:prstGeom>
          <a:solidFill>
            <a:srgbClr val="C9A24B"/>
          </a:solidFill>
          <a:ln w="6350">
            <a:solidFill>
              <a:srgbClr val="C9A24B"/>
            </a:solidFill>
            <a:prstDash val="solid"/>
          </a:ln>
        </p:spPr>
      </p:sp>
      <p:sp>
        <p:nvSpPr>
          <p:cNvPr id="25" name="Text 23"/>
          <p:cNvSpPr/>
          <p:nvPr/>
        </p:nvSpPr>
        <p:spPr>
          <a:xfrm>
            <a:off x="6291072" y="2999232"/>
            <a:ext cx="960120" cy="228600"/>
          </a:xfrm>
          <a:prstGeom prst="rect">
            <a:avLst/>
          </a:prstGeom>
          <a:noFill/>
          <a:ln/>
        </p:spPr>
        <p:txBody>
          <a:bodyPr wrap="square" lIns="0" tIns="0" rIns="0" bIns="0" rtlCol="0" anchor="ctr"/>
          <a:lstStyle/>
          <a:p>
            <a:pPr algn="ctr" indent="0" marL="0">
              <a:buNone/>
            </a:pPr>
            <a:r>
              <a:rPr lang="en-US" sz="950" b="1" dirty="0">
                <a:solidFill>
                  <a:srgbClr val="16181A"/>
                </a:solidFill>
                <a:latin typeface="Courier New" pitchFamily="34" charset="0"/>
                <a:ea typeface="Courier New" pitchFamily="34" charset="-122"/>
                <a:cs typeface="Courier New" pitchFamily="34" charset="-120"/>
              </a:rPr>
              <a:t>2075</a:t>
            </a:r>
            <a:endParaRPr lang="en-US" sz="950" dirty="0"/>
          </a:p>
        </p:txBody>
      </p:sp>
      <p:sp>
        <p:nvSpPr>
          <p:cNvPr id="26" name="Text 24"/>
          <p:cNvSpPr/>
          <p:nvPr/>
        </p:nvSpPr>
        <p:spPr>
          <a:xfrm>
            <a:off x="6245352" y="3227832"/>
            <a:ext cx="1051560" cy="548640"/>
          </a:xfrm>
          <a:prstGeom prst="rect">
            <a:avLst/>
          </a:prstGeom>
          <a:noFill/>
          <a:ln/>
        </p:spPr>
        <p:txBody>
          <a:bodyPr wrap="square" lIns="0" tIns="0" rIns="0" bIns="0" rtlCol="0" anchor="ctr"/>
          <a:lstStyle/>
          <a:p>
            <a:pPr algn="ctr" indent="0" marL="0">
              <a:buNone/>
            </a:pPr>
            <a:r>
              <a:rPr lang="en-US" sz="660" dirty="0">
                <a:solidFill>
                  <a:srgbClr val="4A5560"/>
                </a:solidFill>
                <a:latin typeface="Courier New" pitchFamily="34" charset="0"/>
                <a:ea typeface="Courier New" pitchFamily="34" charset="-122"/>
                <a:cs typeface="Courier New" pitchFamily="34" charset="-120"/>
              </a:rPr>
              <a:t>THE COMPACT SIGNED</a:t>
            </a:r>
            <a:endParaRPr lang="en-US" sz="660" dirty="0"/>
          </a:p>
        </p:txBody>
      </p:sp>
      <p:sp>
        <p:nvSpPr>
          <p:cNvPr id="27" name="Shape 25"/>
          <p:cNvSpPr/>
          <p:nvPr/>
        </p:nvSpPr>
        <p:spPr>
          <a:xfrm>
            <a:off x="7726680" y="2843784"/>
            <a:ext cx="73152" cy="73152"/>
          </a:xfrm>
          <a:prstGeom prst="ellipse">
            <a:avLst/>
          </a:prstGeom>
          <a:solidFill>
            <a:srgbClr val="C9A24B"/>
          </a:solidFill>
          <a:ln w="6350">
            <a:solidFill>
              <a:srgbClr val="C9A24B"/>
            </a:solidFill>
            <a:prstDash val="solid"/>
          </a:ln>
        </p:spPr>
      </p:sp>
      <p:sp>
        <p:nvSpPr>
          <p:cNvPr id="28" name="Text 26"/>
          <p:cNvSpPr/>
          <p:nvPr/>
        </p:nvSpPr>
        <p:spPr>
          <a:xfrm>
            <a:off x="7306056" y="2999232"/>
            <a:ext cx="960120" cy="228600"/>
          </a:xfrm>
          <a:prstGeom prst="rect">
            <a:avLst/>
          </a:prstGeom>
          <a:noFill/>
          <a:ln/>
        </p:spPr>
        <p:txBody>
          <a:bodyPr wrap="square" lIns="0" tIns="0" rIns="0" bIns="0" rtlCol="0" anchor="ctr"/>
          <a:lstStyle/>
          <a:p>
            <a:pPr algn="ctr" indent="0" marL="0">
              <a:buNone/>
            </a:pPr>
            <a:r>
              <a:rPr lang="en-US" sz="950" b="1" dirty="0">
                <a:solidFill>
                  <a:srgbClr val="16181A"/>
                </a:solidFill>
                <a:latin typeface="Courier New" pitchFamily="34" charset="0"/>
                <a:ea typeface="Courier New" pitchFamily="34" charset="-122"/>
                <a:cs typeface="Courier New" pitchFamily="34" charset="-120"/>
              </a:rPr>
              <a:t>2084</a:t>
            </a:r>
            <a:endParaRPr lang="en-US" sz="950" dirty="0"/>
          </a:p>
        </p:txBody>
      </p:sp>
      <p:sp>
        <p:nvSpPr>
          <p:cNvPr id="29" name="Text 27"/>
          <p:cNvSpPr/>
          <p:nvPr/>
        </p:nvSpPr>
        <p:spPr>
          <a:xfrm>
            <a:off x="7260336" y="3227832"/>
            <a:ext cx="1051560" cy="548640"/>
          </a:xfrm>
          <a:prstGeom prst="rect">
            <a:avLst/>
          </a:prstGeom>
          <a:noFill/>
          <a:ln/>
        </p:spPr>
        <p:txBody>
          <a:bodyPr wrap="square" lIns="0" tIns="0" rIns="0" bIns="0" rtlCol="0" anchor="ctr"/>
          <a:lstStyle/>
          <a:p>
            <a:pPr algn="ctr" indent="0" marL="0">
              <a:buNone/>
            </a:pPr>
            <a:r>
              <a:rPr lang="en-US" sz="660" dirty="0">
                <a:solidFill>
                  <a:srgbClr val="4A5560"/>
                </a:solidFill>
                <a:latin typeface="Courier New" pitchFamily="34" charset="0"/>
                <a:ea typeface="Courier New" pitchFamily="34" charset="-122"/>
                <a:cs typeface="Courier New" pitchFamily="34" charset="-120"/>
              </a:rPr>
              <a:t>STORY YEAR</a:t>
            </a:r>
            <a:endParaRPr lang="en-US" sz="660" dirty="0"/>
          </a:p>
        </p:txBody>
      </p:sp>
      <p:sp>
        <p:nvSpPr>
          <p:cNvPr id="30" name="Text 28"/>
          <p:cNvSpPr/>
          <p:nvPr/>
        </p:nvSpPr>
        <p:spPr>
          <a:xfrm>
            <a:off x="548640" y="4160520"/>
            <a:ext cx="6035040" cy="365760"/>
          </a:xfrm>
          <a:prstGeom prst="rect">
            <a:avLst/>
          </a:prstGeom>
          <a:solidFill>
            <a:srgbClr val="C9A24B">
              <a:alpha val="10000"/>
            </a:srgbClr>
          </a:solidFill>
          <a:ln w="12700">
            <a:solidFill>
              <a:srgbClr val="C9A24B"/>
            </a:solidFill>
          </a:ln>
        </p:spPr>
        <p:txBody>
          <a:bodyPr wrap="square" lIns="38100" tIns="38100" rIns="38100" bIns="38100" rtlCol="0" anchor="ctr"/>
          <a:lstStyle/>
          <a:p>
            <a:pPr algn="ctr" indent="0" marL="0">
              <a:buNone/>
            </a:pPr>
            <a:r>
              <a:rPr lang="en-US" sz="700" spc="100" kern="0" dirty="0">
                <a:solidFill>
                  <a:srgbClr val="A3212E"/>
                </a:solidFill>
                <a:latin typeface="Courier New" pitchFamily="34" charset="0"/>
                <a:ea typeface="Courier New" pitchFamily="34" charset="-122"/>
                <a:cs typeface="Courier New" pitchFamily="34" charset="-120"/>
              </a:rPr>
              <a:t>● </a:t>
            </a:r>
            <a:pPr algn="ctr" indent="0" marL="0">
              <a:buNone/>
            </a:pPr>
            <a:r>
              <a:rPr lang="en-US" sz="850" spc="100" kern="0" dirty="0">
                <a:solidFill>
                  <a:srgbClr val="16181A"/>
                </a:solidFill>
                <a:latin typeface="Courier New" pitchFamily="34" charset="0"/>
                <a:ea typeface="Courier New" pitchFamily="34" charset="-122"/>
                <a:cs typeface="Courier New" pitchFamily="34" charset="-120"/>
              </a:rPr>
              <a:t>THE COMPACT — BLOODLINE’S EMERGENCY CHARTER · EXPIRES DEC 31, 2084</a:t>
            </a:r>
            <a:endParaRPr lang="en-US" sz="850" dirty="0"/>
          </a:p>
        </p:txBody>
      </p:sp>
      <p:sp>
        <p:nvSpPr>
          <p:cNvPr id="25" name="Slide Number Placeholder 0"/>
          <p:cNvSpPr>
            <a:spLocks noGrp="1"/>
          </p:cNvSpPr>
          <p:nvPr>
            <p:ph type="sldNum" sz="quarter" idx="4294967295"/>
          </p:nvPr>
        </p:nvSpPr>
        <p:spPr>
          <a:xfrm>
            <a:off x="8522208" y="486460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4A5560"/>
                </a:solidFill>
                <a:latin typeface="Courier New"/>
                <a:ea typeface="Courier New"/>
                <a:cs typeface="Courier New"/>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7863840" cy="292608"/>
          </a:xfrm>
          <a:prstGeom prst="rect">
            <a:avLst/>
          </a:prstGeom>
          <a:noFill/>
          <a:ln/>
        </p:spPr>
        <p:txBody>
          <a:bodyPr wrap="square" lIns="0" tIns="0" rIns="0" bIns="0" rtlCol="0"/>
          <a:lstStyle/>
          <a:p>
            <a:pPr indent="0" marL="0">
              <a:buNone/>
            </a:pPr>
            <a:r>
              <a:rPr lang="en-US" sz="900" spc="300" kern="0" dirty="0">
                <a:solidFill>
                  <a:srgbClr val="0E4B50"/>
                </a:solidFill>
                <a:latin typeface="Courier New" pitchFamily="34" charset="0"/>
                <a:ea typeface="Courier New" pitchFamily="34" charset="-122"/>
                <a:cs typeface="Courier New" pitchFamily="34" charset="-120"/>
              </a:rPr>
              <a:t>06 · THE SETTING</a:t>
            </a:r>
            <a:endParaRPr lang="en-US" sz="900" dirty="0"/>
          </a:p>
        </p:txBody>
      </p:sp>
      <p:sp>
        <p:nvSpPr>
          <p:cNvPr id="3" name="Text 0"/>
          <p:cNvSpPr/>
          <p:nvPr>
            <p:ph idx="101" type="title" hasCustomPrompt="1"/>
          </p:nvPr>
        </p:nvSpPr>
        <p:spPr>
          <a:xfrm>
            <a:off x="548640" y="658368"/>
            <a:ext cx="8046720" cy="731520"/>
          </a:xfrm>
          <a:prstGeom prst="rect">
            <a:avLst/>
          </a:prstGeom>
          <a:noFill/>
          <a:ln/>
        </p:spPr>
        <p:txBody>
          <a:bodyPr wrap="square" lIns="0" tIns="0" rIns="0" bIns="0" rtlCol="0"/>
          <a:lstStyle/>
          <a:p>
            <a:pPr algn="l" indent="0" marL="0">
              <a:buNone/>
            </a:pPr>
            <a:r>
              <a:rPr lang="en-US" sz="2600" b="1" dirty="0">
                <a:solidFill>
                  <a:srgbClr val="16181A"/>
                </a:solidFill>
                <a:latin typeface="Georgia" pitchFamily="34" charset="0"/>
                <a:ea typeface="Georgia" pitchFamily="34" charset="-122"/>
                <a:cs typeface="Georgia" pitchFamily="34" charset="-120"/>
              </a:rPr>
              <a:t>Not Night City with a Gulf accent</a:t>
            </a:r>
            <a:endParaRPr lang="en-US" sz="2600" dirty="0"/>
          </a:p>
        </p:txBody>
      </p:sp>
      <p:sp>
        <p:nvSpPr>
          <p:cNvPr id="4" name="Text 2"/>
          <p:cNvSpPr/>
          <p:nvPr/>
        </p:nvSpPr>
        <p:spPr>
          <a:xfrm>
            <a:off x="548640" y="1463040"/>
            <a:ext cx="8046720" cy="1097280"/>
          </a:xfrm>
          <a:prstGeom prst="rect">
            <a:avLst/>
          </a:prstGeom>
          <a:noFill/>
          <a:ln/>
        </p:spPr>
        <p:txBody>
          <a:bodyPr wrap="square" lIns="0" tIns="0" rIns="0" bIns="0" rtlCol="0" anchor="t"/>
          <a:lstStyle/>
          <a:p>
            <a:pPr indent="0" marL="0">
              <a:lnSpc>
                <a:spcPct val="125000"/>
              </a:lnSpc>
              <a:buNone/>
            </a:pPr>
            <a:r>
              <a:rPr lang="en-US" sz="1200" dirty="0">
                <a:solidFill>
                  <a:srgbClr val="16181A"/>
                </a:solidFill>
                <a:latin typeface="Arial" pitchFamily="34" charset="0"/>
                <a:ea typeface="Arial" pitchFamily="34" charset="-122"/>
                <a:cs typeface="Arial" pitchFamily="34" charset="-120"/>
              </a:rPr>
              <a:t>Domingo City: a crescent metropolis of 8.6 million wrapped around Matagorda Bay, inside the sovereign Republic of Texas. Caribbean, Latin American, Black Texan, Tejano, maritime, hurricane, and labor identities — a founder’s corporate project that its workers turned into their own city. Now it wants out.</a:t>
            </a:r>
            <a:endParaRPr lang="en-US" sz="1200" dirty="0"/>
          </a:p>
        </p:txBody>
      </p:sp>
      <p:sp>
        <p:nvSpPr>
          <p:cNvPr id="5" name="Text 3"/>
          <p:cNvSpPr/>
          <p:nvPr/>
        </p:nvSpPr>
        <p:spPr>
          <a:xfrm>
            <a:off x="548640" y="2697480"/>
            <a:ext cx="2633472" cy="548640"/>
          </a:xfrm>
          <a:prstGeom prst="rect">
            <a:avLst/>
          </a:prstGeom>
          <a:solidFill>
            <a:srgbClr val="0E4B50">
              <a:alpha val="6000"/>
            </a:srgbClr>
          </a:solidFill>
          <a:ln w="9525">
            <a:solidFill>
              <a:srgbClr val="0E4B50"/>
            </a:solidFill>
          </a:ln>
        </p:spPr>
        <p:txBody>
          <a:bodyPr wrap="square" lIns="76200" tIns="76200" rIns="76200" bIns="76200" rtlCol="0" anchor="ctr"/>
          <a:lstStyle/>
          <a:p>
            <a:pPr algn="l" indent="0" marL="0">
              <a:buNone/>
            </a:pPr>
            <a:r>
              <a:rPr lang="en-US" sz="850" b="1" spc="100" kern="0" dirty="0">
                <a:solidFill>
                  <a:srgbClr val="0E4B50"/>
                </a:solidFill>
                <a:latin typeface="Courier New" pitchFamily="34" charset="0"/>
                <a:ea typeface="Courier New" pitchFamily="34" charset="-122"/>
                <a:cs typeface="Courier New" pitchFamily="34" charset="-120"/>
              </a:rPr>
              <a:t>LIBERTY</a:t>
            </a:r>
            <a:pPr algn="l" indent="0" marL="0">
              <a:buNone/>
            </a:pPr>
            <a:r>
              <a:rPr lang="en-US" sz="850" dirty="0">
                <a:solidFill>
                  <a:srgbClr val="4A5560"/>
                </a:solidFill>
                <a:latin typeface="Arial" pitchFamily="34" charset="0"/>
                <a:ea typeface="Arial" pitchFamily="34" charset="-122"/>
                <a:cs typeface="Arial" pitchFamily="34" charset="-120"/>
              </a:rPr>
              <a:t> — the port engine</a:t>
            </a:r>
            <a:endParaRPr lang="en-US" sz="850" dirty="0"/>
          </a:p>
        </p:txBody>
      </p:sp>
      <p:sp>
        <p:nvSpPr>
          <p:cNvPr id="6" name="Text 4"/>
          <p:cNvSpPr/>
          <p:nvPr/>
        </p:nvSpPr>
        <p:spPr>
          <a:xfrm>
            <a:off x="3291840" y="2697480"/>
            <a:ext cx="2633472" cy="548640"/>
          </a:xfrm>
          <a:prstGeom prst="rect">
            <a:avLst/>
          </a:prstGeom>
          <a:solidFill>
            <a:srgbClr val="0E4B50">
              <a:alpha val="6000"/>
            </a:srgbClr>
          </a:solidFill>
          <a:ln w="9525">
            <a:solidFill>
              <a:srgbClr val="0E4B50"/>
            </a:solidFill>
          </a:ln>
        </p:spPr>
        <p:txBody>
          <a:bodyPr wrap="square" lIns="76200" tIns="76200" rIns="76200" bIns="76200" rtlCol="0" anchor="ctr"/>
          <a:lstStyle/>
          <a:p>
            <a:pPr algn="l" indent="0" marL="0">
              <a:buNone/>
            </a:pPr>
            <a:r>
              <a:rPr lang="en-US" sz="850" b="1" spc="100" kern="0" dirty="0">
                <a:solidFill>
                  <a:srgbClr val="0E4B50"/>
                </a:solidFill>
                <a:latin typeface="Courier New" pitchFamily="34" charset="0"/>
                <a:ea typeface="Courier New" pitchFamily="34" charset="-122"/>
                <a:cs typeface="Courier New" pitchFamily="34" charset="-120"/>
              </a:rPr>
              <a:t>DOMINGO CENTER</a:t>
            </a:r>
            <a:pPr algn="l" indent="0" marL="0">
              <a:buNone/>
            </a:pPr>
            <a:r>
              <a:rPr lang="en-US" sz="850" dirty="0">
                <a:solidFill>
                  <a:srgbClr val="4A5560"/>
                </a:solidFill>
                <a:latin typeface="Arial" pitchFamily="34" charset="0"/>
                <a:ea typeface="Arial" pitchFamily="34" charset="-122"/>
                <a:cs typeface="Arial" pitchFamily="34" charset="-120"/>
              </a:rPr>
              <a:t> — the corporate mask</a:t>
            </a:r>
            <a:endParaRPr lang="en-US" sz="850" dirty="0"/>
          </a:p>
        </p:txBody>
      </p:sp>
      <p:sp>
        <p:nvSpPr>
          <p:cNvPr id="7" name="Text 5"/>
          <p:cNvSpPr/>
          <p:nvPr/>
        </p:nvSpPr>
        <p:spPr>
          <a:xfrm>
            <a:off x="6035040" y="2697480"/>
            <a:ext cx="2633472" cy="548640"/>
          </a:xfrm>
          <a:prstGeom prst="rect">
            <a:avLst/>
          </a:prstGeom>
          <a:solidFill>
            <a:srgbClr val="0E4B50">
              <a:alpha val="6000"/>
            </a:srgbClr>
          </a:solidFill>
          <a:ln w="9525">
            <a:solidFill>
              <a:srgbClr val="0E4B50"/>
            </a:solidFill>
          </a:ln>
        </p:spPr>
        <p:txBody>
          <a:bodyPr wrap="square" lIns="76200" tIns="76200" rIns="76200" bIns="76200" rtlCol="0" anchor="ctr"/>
          <a:lstStyle/>
          <a:p>
            <a:pPr algn="l" indent="0" marL="0">
              <a:buNone/>
            </a:pPr>
            <a:r>
              <a:rPr lang="en-US" sz="850" b="1" spc="100" kern="0" dirty="0">
                <a:solidFill>
                  <a:srgbClr val="0E4B50"/>
                </a:solidFill>
                <a:latin typeface="Courier New" pitchFamily="34" charset="0"/>
                <a:ea typeface="Courier New" pitchFamily="34" charset="-122"/>
                <a:cs typeface="Courier New" pitchFamily="34" charset="-120"/>
              </a:rPr>
              <a:t>SUNTOWN</a:t>
            </a:r>
            <a:pPr algn="l" indent="0" marL="0">
              <a:buNone/>
            </a:pPr>
            <a:r>
              <a:rPr lang="en-US" sz="850" dirty="0">
                <a:solidFill>
                  <a:srgbClr val="4A5560"/>
                </a:solidFill>
                <a:latin typeface="Arial" pitchFamily="34" charset="0"/>
                <a:ea typeface="Arial" pitchFamily="34" charset="-122"/>
                <a:cs typeface="Arial" pitchFamily="34" charset="-120"/>
              </a:rPr>
              <a:t> — the technology corridor</a:t>
            </a:r>
            <a:endParaRPr lang="en-US" sz="850" dirty="0"/>
          </a:p>
        </p:txBody>
      </p:sp>
      <p:sp>
        <p:nvSpPr>
          <p:cNvPr id="8" name="Text 6"/>
          <p:cNvSpPr/>
          <p:nvPr/>
        </p:nvSpPr>
        <p:spPr>
          <a:xfrm>
            <a:off x="548640" y="3355848"/>
            <a:ext cx="2633472" cy="548640"/>
          </a:xfrm>
          <a:prstGeom prst="rect">
            <a:avLst/>
          </a:prstGeom>
          <a:solidFill>
            <a:srgbClr val="0E4B50">
              <a:alpha val="6000"/>
            </a:srgbClr>
          </a:solidFill>
          <a:ln w="9525">
            <a:solidFill>
              <a:srgbClr val="0E4B50"/>
            </a:solidFill>
          </a:ln>
        </p:spPr>
        <p:txBody>
          <a:bodyPr wrap="square" lIns="76200" tIns="76200" rIns="76200" bIns="76200" rtlCol="0" anchor="ctr"/>
          <a:lstStyle/>
          <a:p>
            <a:pPr algn="l" indent="0" marL="0">
              <a:buNone/>
            </a:pPr>
            <a:r>
              <a:rPr lang="en-US" sz="850" b="1" spc="100" kern="0" dirty="0">
                <a:solidFill>
                  <a:srgbClr val="0E4B50"/>
                </a:solidFill>
                <a:latin typeface="Courier New" pitchFamily="34" charset="0"/>
                <a:ea typeface="Courier New" pitchFamily="34" charset="-122"/>
                <a:cs typeface="Courier New" pitchFamily="34" charset="-120"/>
              </a:rPr>
              <a:t>DORADO</a:t>
            </a:r>
            <a:pPr algn="l" indent="0" marL="0">
              <a:buNone/>
            </a:pPr>
            <a:r>
              <a:rPr lang="en-US" sz="850" dirty="0">
                <a:solidFill>
                  <a:srgbClr val="4A5560"/>
                </a:solidFill>
                <a:latin typeface="Arial" pitchFamily="34" charset="0"/>
                <a:ea typeface="Arial" pitchFamily="34" charset="-122"/>
                <a:cs typeface="Arial" pitchFamily="34" charset="-120"/>
              </a:rPr>
              <a:t> — the chrome district</a:t>
            </a:r>
            <a:endParaRPr lang="en-US" sz="850" dirty="0"/>
          </a:p>
        </p:txBody>
      </p:sp>
      <p:sp>
        <p:nvSpPr>
          <p:cNvPr id="9" name="Text 7"/>
          <p:cNvSpPr/>
          <p:nvPr/>
        </p:nvSpPr>
        <p:spPr>
          <a:xfrm>
            <a:off x="3291840" y="3355848"/>
            <a:ext cx="2633472" cy="548640"/>
          </a:xfrm>
          <a:prstGeom prst="rect">
            <a:avLst/>
          </a:prstGeom>
          <a:solidFill>
            <a:srgbClr val="0E4B50">
              <a:alpha val="6000"/>
            </a:srgbClr>
          </a:solidFill>
          <a:ln w="9525">
            <a:solidFill>
              <a:srgbClr val="0E4B50"/>
            </a:solidFill>
          </a:ln>
        </p:spPr>
        <p:txBody>
          <a:bodyPr wrap="square" lIns="76200" tIns="76200" rIns="76200" bIns="76200" rtlCol="0" anchor="ctr"/>
          <a:lstStyle/>
          <a:p>
            <a:pPr algn="l" indent="0" marL="0">
              <a:buNone/>
            </a:pPr>
            <a:r>
              <a:rPr lang="en-US" sz="850" b="1" spc="100" kern="0" dirty="0">
                <a:solidFill>
                  <a:srgbClr val="0E4B50"/>
                </a:solidFill>
                <a:latin typeface="Courier New" pitchFamily="34" charset="0"/>
                <a:ea typeface="Courier New" pitchFamily="34" charset="-122"/>
                <a:cs typeface="Courier New" pitchFamily="34" charset="-120"/>
              </a:rPr>
              <a:t>LITTLE ANTONIO</a:t>
            </a:r>
            <a:pPr algn="l" indent="0" marL="0">
              <a:buNone/>
            </a:pPr>
            <a:r>
              <a:rPr lang="en-US" sz="850" dirty="0">
                <a:solidFill>
                  <a:srgbClr val="4A5560"/>
                </a:solidFill>
                <a:latin typeface="Arial" pitchFamily="34" charset="0"/>
                <a:ea typeface="Arial" pitchFamily="34" charset="-122"/>
                <a:cs typeface="Arial" pitchFamily="34" charset="-120"/>
              </a:rPr>
              <a:t> — the capital</a:t>
            </a:r>
            <a:endParaRPr lang="en-US" sz="850" dirty="0"/>
          </a:p>
        </p:txBody>
      </p:sp>
      <p:sp>
        <p:nvSpPr>
          <p:cNvPr id="10" name="Text 8"/>
          <p:cNvSpPr/>
          <p:nvPr/>
        </p:nvSpPr>
        <p:spPr>
          <a:xfrm>
            <a:off x="6035040" y="3355848"/>
            <a:ext cx="2633472" cy="548640"/>
          </a:xfrm>
          <a:prstGeom prst="rect">
            <a:avLst/>
          </a:prstGeom>
          <a:solidFill>
            <a:srgbClr val="0E4B50">
              <a:alpha val="6000"/>
            </a:srgbClr>
          </a:solidFill>
          <a:ln w="9525">
            <a:solidFill>
              <a:srgbClr val="0E4B50"/>
            </a:solidFill>
          </a:ln>
        </p:spPr>
        <p:txBody>
          <a:bodyPr wrap="square" lIns="76200" tIns="76200" rIns="76200" bIns="76200" rtlCol="0" anchor="ctr"/>
          <a:lstStyle/>
          <a:p>
            <a:pPr algn="l" indent="0" marL="0">
              <a:buNone/>
            </a:pPr>
            <a:r>
              <a:rPr lang="en-US" sz="850" b="1" spc="100" kern="0" dirty="0">
                <a:solidFill>
                  <a:srgbClr val="0E4B50"/>
                </a:solidFill>
                <a:latin typeface="Courier New" pitchFamily="34" charset="0"/>
                <a:ea typeface="Courier New" pitchFamily="34" charset="-122"/>
                <a:cs typeface="Courier New" pitchFamily="34" charset="-120"/>
              </a:rPr>
              <a:t>LINEWOOD</a:t>
            </a:r>
            <a:pPr algn="l" indent="0" marL="0">
              <a:buNone/>
            </a:pPr>
            <a:r>
              <a:rPr lang="en-US" sz="850" dirty="0">
                <a:solidFill>
                  <a:srgbClr val="4A5560"/>
                </a:solidFill>
                <a:latin typeface="Arial" pitchFamily="34" charset="0"/>
                <a:ea typeface="Arial" pitchFamily="34" charset="-122"/>
                <a:cs typeface="Arial" pitchFamily="34" charset="-120"/>
              </a:rPr>
              <a:t> — where the city stores consequences</a:t>
            </a:r>
            <a:endParaRPr lang="en-US" sz="850" dirty="0"/>
          </a:p>
        </p:txBody>
      </p:sp>
      <p:sp>
        <p:nvSpPr>
          <p:cNvPr id="11" name="Text 9"/>
          <p:cNvSpPr/>
          <p:nvPr/>
        </p:nvSpPr>
        <p:spPr>
          <a:xfrm>
            <a:off x="548640" y="4041648"/>
            <a:ext cx="8119872" cy="502920"/>
          </a:xfrm>
          <a:prstGeom prst="rect">
            <a:avLst/>
          </a:prstGeom>
          <a:solidFill>
            <a:srgbClr val="A3212E">
              <a:alpha val="5000"/>
            </a:srgbClr>
          </a:solidFill>
          <a:ln w="9525">
            <a:solidFill>
              <a:srgbClr val="A3212E"/>
            </a:solidFill>
            <a:prstDash val="dash"/>
          </a:ln>
        </p:spPr>
        <p:txBody>
          <a:bodyPr wrap="square" lIns="76200" tIns="76200" rIns="76200" bIns="76200" rtlCol="0" anchor="ctr"/>
          <a:lstStyle/>
          <a:p>
            <a:pPr algn="l" indent="0" marL="0">
              <a:buNone/>
            </a:pPr>
            <a:r>
              <a:rPr lang="en-US" sz="850" b="1" spc="100" kern="0" dirty="0">
                <a:solidFill>
                  <a:srgbClr val="A3212E"/>
                </a:solidFill>
                <a:latin typeface="Courier New" pitchFamily="34" charset="0"/>
                <a:ea typeface="Courier New" pitchFamily="34" charset="-122"/>
                <a:cs typeface="Courier New" pitchFamily="34" charset="-120"/>
              </a:rPr>
              <a:t>+ SOUTH COLUMBIA</a:t>
            </a:r>
            <a:pPr algn="l" indent="0" marL="0">
              <a:buNone/>
            </a:pPr>
            <a:r>
              <a:rPr lang="en-US" sz="850" dirty="0">
                <a:solidFill>
                  <a:srgbClr val="4A5560"/>
                </a:solidFill>
                <a:latin typeface="Arial" pitchFamily="34" charset="0"/>
                <a:ea typeface="Arial" pitchFamily="34" charset="-122"/>
                <a:cs typeface="Arial" pitchFamily="34" charset="-120"/>
              </a:rPr>
              <a:t> — the unrecognized territory that refuses to be a district at all</a:t>
            </a:r>
            <a:endParaRPr lang="en-US" sz="850" dirty="0"/>
          </a:p>
        </p:txBody>
      </p:sp>
      <p:sp>
        <p:nvSpPr>
          <p:cNvPr id="25" name="Slide Number Placeholder 0"/>
          <p:cNvSpPr>
            <a:spLocks noGrp="1"/>
          </p:cNvSpPr>
          <p:nvPr>
            <p:ph type="sldNum" sz="quarter" idx="4294967295"/>
          </p:nvPr>
        </p:nvSpPr>
        <p:spPr>
          <a:xfrm>
            <a:off x="8522208" y="486460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4A5560"/>
                </a:solidFill>
                <a:latin typeface="Courier New"/>
                <a:ea typeface="Courier New"/>
                <a:cs typeface="Courier New"/>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7863840" cy="292608"/>
          </a:xfrm>
          <a:prstGeom prst="rect">
            <a:avLst/>
          </a:prstGeom>
          <a:noFill/>
          <a:ln/>
        </p:spPr>
        <p:txBody>
          <a:bodyPr wrap="square" lIns="0" tIns="0" rIns="0" bIns="0" rtlCol="0"/>
          <a:lstStyle/>
          <a:p>
            <a:pPr indent="0" marL="0">
              <a:buNone/>
            </a:pPr>
            <a:r>
              <a:rPr lang="en-US" sz="900" spc="300" kern="0" dirty="0">
                <a:solidFill>
                  <a:srgbClr val="0E4B50"/>
                </a:solidFill>
                <a:latin typeface="Courier New" pitchFamily="34" charset="0"/>
                <a:ea typeface="Courier New" pitchFamily="34" charset="-122"/>
                <a:cs typeface="Courier New" pitchFamily="34" charset="-120"/>
              </a:rPr>
              <a:t>07 · THE SYSTEM</a:t>
            </a:r>
            <a:endParaRPr lang="en-US" sz="900" dirty="0"/>
          </a:p>
        </p:txBody>
      </p:sp>
      <p:sp>
        <p:nvSpPr>
          <p:cNvPr id="3" name="Text 0"/>
          <p:cNvSpPr/>
          <p:nvPr>
            <p:ph idx="101" type="title" hasCustomPrompt="1"/>
          </p:nvPr>
        </p:nvSpPr>
        <p:spPr>
          <a:xfrm>
            <a:off x="548640" y="658368"/>
            <a:ext cx="8046720" cy="731520"/>
          </a:xfrm>
          <a:prstGeom prst="rect">
            <a:avLst/>
          </a:prstGeom>
          <a:noFill/>
          <a:ln/>
        </p:spPr>
        <p:txBody>
          <a:bodyPr wrap="square" lIns="0" tIns="0" rIns="0" bIns="0" rtlCol="0"/>
          <a:lstStyle/>
          <a:p>
            <a:pPr algn="l" indent="0" marL="0">
              <a:buNone/>
            </a:pPr>
            <a:r>
              <a:rPr lang="en-US" sz="2600" b="1" dirty="0">
                <a:solidFill>
                  <a:srgbClr val="16181A"/>
                </a:solidFill>
                <a:latin typeface="Georgia" pitchFamily="34" charset="0"/>
                <a:ea typeface="Georgia" pitchFamily="34" charset="-122"/>
                <a:cs typeface="Georgia" pitchFamily="34" charset="-120"/>
              </a:rPr>
              <a:t>Resonance is not magic</a:t>
            </a:r>
            <a:endParaRPr lang="en-US" sz="2600" dirty="0"/>
          </a:p>
        </p:txBody>
      </p:sp>
      <p:sp>
        <p:nvSpPr>
          <p:cNvPr id="4" name="Text 2"/>
          <p:cNvSpPr/>
          <p:nvPr/>
        </p:nvSpPr>
        <p:spPr>
          <a:xfrm>
            <a:off x="548640" y="1481328"/>
            <a:ext cx="8046720" cy="1234440"/>
          </a:xfrm>
          <a:prstGeom prst="rect">
            <a:avLst/>
          </a:prstGeom>
          <a:noFill/>
          <a:ln/>
        </p:spPr>
        <p:txBody>
          <a:bodyPr wrap="square" lIns="0" tIns="0" rIns="0" bIns="0" rtlCol="0" anchor="t"/>
          <a:lstStyle/>
          <a:p>
            <a:pPr indent="0" marL="0">
              <a:lnSpc>
                <a:spcPct val="125000"/>
              </a:lnSpc>
              <a:buNone/>
            </a:pPr>
            <a:r>
              <a:rPr lang="en-US" sz="1250" dirty="0">
                <a:solidFill>
                  <a:srgbClr val="16181A"/>
                </a:solidFill>
                <a:latin typeface="Arial" pitchFamily="34" charset="0"/>
                <a:ea typeface="Arial" pitchFamily="34" charset="-122"/>
                <a:cs typeface="Arial" pitchFamily="34" charset="-120"/>
              </a:rPr>
              <a:t>Bloodline’s BEA-V7 system activates a dormant genetic trait and shapes it through living chrome — cybernetics grown into tissue. The result: seven spectra of elemental-like force. Every effect has a biological source, a mechanism, an environmental requirement, and a physical cost. No exceptions. That discipline is the pitch.</a:t>
            </a:r>
            <a:endParaRPr lang="en-US" sz="1250" dirty="0"/>
          </a:p>
        </p:txBody>
      </p:sp>
      <p:sp>
        <p:nvSpPr>
          <p:cNvPr id="5" name="Text 3"/>
          <p:cNvSpPr/>
          <p:nvPr/>
        </p:nvSpPr>
        <p:spPr>
          <a:xfrm>
            <a:off x="548640" y="3063240"/>
            <a:ext cx="1947672" cy="420624"/>
          </a:xfrm>
          <a:prstGeom prst="rect">
            <a:avLst/>
          </a:prstGeom>
          <a:solidFill>
            <a:srgbClr val="FFFFFF">
              <a:alpha val="38000"/>
            </a:srgbClr>
          </a:solidFill>
          <a:ln w="9525">
            <a:solidFill>
              <a:srgbClr val="0E4B50"/>
            </a:solidFill>
          </a:ln>
        </p:spPr>
        <p:txBody>
          <a:bodyPr wrap="square" lIns="38100" tIns="38100" rIns="38100" bIns="38100" rtlCol="0" anchor="ctr"/>
          <a:lstStyle/>
          <a:p>
            <a:pPr algn="ctr" indent="0" marL="0">
              <a:buNone/>
            </a:pPr>
            <a:r>
              <a:rPr lang="en-US" sz="780" dirty="0">
                <a:solidFill>
                  <a:srgbClr val="0E4B50"/>
                </a:solidFill>
                <a:latin typeface="Courier New" pitchFamily="34" charset="0"/>
                <a:ea typeface="Courier New" pitchFamily="34" charset="-122"/>
                <a:cs typeface="Courier New" pitchFamily="34" charset="-120"/>
              </a:rPr>
              <a:t>FIRE — stored heat</a:t>
            </a:r>
            <a:endParaRPr lang="en-US" sz="780" dirty="0"/>
          </a:p>
        </p:txBody>
      </p:sp>
      <p:sp>
        <p:nvSpPr>
          <p:cNvPr id="6" name="Text 4"/>
          <p:cNvSpPr/>
          <p:nvPr/>
        </p:nvSpPr>
        <p:spPr>
          <a:xfrm>
            <a:off x="2606040" y="3063240"/>
            <a:ext cx="1947672" cy="420624"/>
          </a:xfrm>
          <a:prstGeom prst="rect">
            <a:avLst/>
          </a:prstGeom>
          <a:solidFill>
            <a:srgbClr val="FFFFFF">
              <a:alpha val="38000"/>
            </a:srgbClr>
          </a:solidFill>
          <a:ln w="9525">
            <a:solidFill>
              <a:srgbClr val="0E4B50"/>
            </a:solidFill>
          </a:ln>
        </p:spPr>
        <p:txBody>
          <a:bodyPr wrap="square" lIns="38100" tIns="38100" rIns="38100" bIns="38100" rtlCol="0" anchor="ctr"/>
          <a:lstStyle/>
          <a:p>
            <a:pPr algn="ctr" indent="0" marL="0">
              <a:buNone/>
            </a:pPr>
            <a:r>
              <a:rPr lang="en-US" sz="780" dirty="0">
                <a:solidFill>
                  <a:srgbClr val="0E4B50"/>
                </a:solidFill>
                <a:latin typeface="Courier New" pitchFamily="34" charset="0"/>
                <a:ea typeface="Courier New" pitchFamily="34" charset="-122"/>
                <a:cs typeface="Courier New" pitchFamily="34" charset="-120"/>
              </a:rPr>
              <a:t>WATER — moves existing liquid</a:t>
            </a:r>
            <a:endParaRPr lang="en-US" sz="780" dirty="0"/>
          </a:p>
        </p:txBody>
      </p:sp>
      <p:sp>
        <p:nvSpPr>
          <p:cNvPr id="7" name="Text 5"/>
          <p:cNvSpPr/>
          <p:nvPr/>
        </p:nvSpPr>
        <p:spPr>
          <a:xfrm>
            <a:off x="4663440" y="3063240"/>
            <a:ext cx="1947672" cy="420624"/>
          </a:xfrm>
          <a:prstGeom prst="rect">
            <a:avLst/>
          </a:prstGeom>
          <a:solidFill>
            <a:srgbClr val="FFFFFF">
              <a:alpha val="38000"/>
            </a:srgbClr>
          </a:solidFill>
          <a:ln w="9525">
            <a:solidFill>
              <a:srgbClr val="0E4B50"/>
            </a:solidFill>
          </a:ln>
        </p:spPr>
        <p:txBody>
          <a:bodyPr wrap="square" lIns="38100" tIns="38100" rIns="38100" bIns="38100" rtlCol="0" anchor="ctr"/>
          <a:lstStyle/>
          <a:p>
            <a:pPr algn="ctr" indent="0" marL="0">
              <a:buNone/>
            </a:pPr>
            <a:r>
              <a:rPr lang="en-US" sz="780" dirty="0">
                <a:solidFill>
                  <a:srgbClr val="0E4B50"/>
                </a:solidFill>
                <a:latin typeface="Courier New" pitchFamily="34" charset="0"/>
                <a:ea typeface="Courier New" pitchFamily="34" charset="-122"/>
                <a:cs typeface="Courier New" pitchFamily="34" charset="-120"/>
              </a:rPr>
              <a:t>EARTH — vibration &amp; magnetism</a:t>
            </a:r>
            <a:endParaRPr lang="en-US" sz="780" dirty="0"/>
          </a:p>
        </p:txBody>
      </p:sp>
      <p:sp>
        <p:nvSpPr>
          <p:cNvPr id="8" name="Text 6"/>
          <p:cNvSpPr/>
          <p:nvPr/>
        </p:nvSpPr>
        <p:spPr>
          <a:xfrm>
            <a:off x="6720840" y="3063240"/>
            <a:ext cx="1947672" cy="420624"/>
          </a:xfrm>
          <a:prstGeom prst="rect">
            <a:avLst/>
          </a:prstGeom>
          <a:solidFill>
            <a:srgbClr val="FFFFFF">
              <a:alpha val="38000"/>
            </a:srgbClr>
          </a:solidFill>
          <a:ln w="9525">
            <a:solidFill>
              <a:srgbClr val="0E4B50"/>
            </a:solidFill>
          </a:ln>
        </p:spPr>
        <p:txBody>
          <a:bodyPr wrap="square" lIns="38100" tIns="38100" rIns="38100" bIns="38100" rtlCol="0" anchor="ctr"/>
          <a:lstStyle/>
          <a:p>
            <a:pPr algn="ctr" indent="0" marL="0">
              <a:buNone/>
            </a:pPr>
            <a:r>
              <a:rPr lang="en-US" sz="780" dirty="0">
                <a:solidFill>
                  <a:srgbClr val="0E4B50"/>
                </a:solidFill>
                <a:latin typeface="Courier New" pitchFamily="34" charset="0"/>
                <a:ea typeface="Courier New" pitchFamily="34" charset="-122"/>
                <a:cs typeface="Courier New" pitchFamily="34" charset="-120"/>
              </a:rPr>
              <a:t>WIND — pressure &amp; flow</a:t>
            </a:r>
            <a:endParaRPr lang="en-US" sz="780" dirty="0"/>
          </a:p>
        </p:txBody>
      </p:sp>
      <p:sp>
        <p:nvSpPr>
          <p:cNvPr id="9" name="Text 7"/>
          <p:cNvSpPr/>
          <p:nvPr/>
        </p:nvSpPr>
        <p:spPr>
          <a:xfrm>
            <a:off x="548640" y="3593592"/>
            <a:ext cx="1947672" cy="420624"/>
          </a:xfrm>
          <a:prstGeom prst="rect">
            <a:avLst/>
          </a:prstGeom>
          <a:solidFill>
            <a:srgbClr val="FFFFFF">
              <a:alpha val="38000"/>
            </a:srgbClr>
          </a:solidFill>
          <a:ln w="9525">
            <a:solidFill>
              <a:srgbClr val="0E4B50"/>
            </a:solidFill>
          </a:ln>
        </p:spPr>
        <p:txBody>
          <a:bodyPr wrap="square" lIns="38100" tIns="38100" rIns="38100" bIns="38100" rtlCol="0" anchor="ctr"/>
          <a:lstStyle/>
          <a:p>
            <a:pPr algn="ctr" indent="0" marL="0">
              <a:buNone/>
            </a:pPr>
            <a:r>
              <a:rPr lang="en-US" sz="780" dirty="0">
                <a:solidFill>
                  <a:srgbClr val="0E4B50"/>
                </a:solidFill>
                <a:latin typeface="Courier New" pitchFamily="34" charset="0"/>
                <a:ea typeface="Courier New" pitchFamily="34" charset="-122"/>
                <a:cs typeface="Courier New" pitchFamily="34" charset="-120"/>
              </a:rPr>
              <a:t>ICE — moves heat away</a:t>
            </a:r>
            <a:endParaRPr lang="en-US" sz="780" dirty="0"/>
          </a:p>
        </p:txBody>
      </p:sp>
      <p:sp>
        <p:nvSpPr>
          <p:cNvPr id="10" name="Text 8"/>
          <p:cNvSpPr/>
          <p:nvPr/>
        </p:nvSpPr>
        <p:spPr>
          <a:xfrm>
            <a:off x="2606040" y="3593592"/>
            <a:ext cx="1947672" cy="420624"/>
          </a:xfrm>
          <a:prstGeom prst="rect">
            <a:avLst/>
          </a:prstGeom>
          <a:solidFill>
            <a:srgbClr val="FFFFFF">
              <a:alpha val="38000"/>
            </a:srgbClr>
          </a:solidFill>
          <a:ln w="9525">
            <a:solidFill>
              <a:srgbClr val="0E4B50"/>
            </a:solidFill>
          </a:ln>
        </p:spPr>
        <p:txBody>
          <a:bodyPr wrap="square" lIns="38100" tIns="38100" rIns="38100" bIns="38100" rtlCol="0" anchor="ctr"/>
          <a:lstStyle/>
          <a:p>
            <a:pPr algn="ctr" indent="0" marL="0">
              <a:buNone/>
            </a:pPr>
            <a:r>
              <a:rPr lang="en-US" sz="780" dirty="0">
                <a:solidFill>
                  <a:srgbClr val="0E4B50"/>
                </a:solidFill>
                <a:latin typeface="Courier New" pitchFamily="34" charset="0"/>
                <a:ea typeface="Courier New" pitchFamily="34" charset="-122"/>
                <a:cs typeface="Courier New" pitchFamily="34" charset="-120"/>
              </a:rPr>
              <a:t>LIGHTNING — stored charge</a:t>
            </a:r>
            <a:endParaRPr lang="en-US" sz="780" dirty="0"/>
          </a:p>
        </p:txBody>
      </p:sp>
      <p:sp>
        <p:nvSpPr>
          <p:cNvPr id="11" name="Text 9"/>
          <p:cNvSpPr/>
          <p:nvPr/>
        </p:nvSpPr>
        <p:spPr>
          <a:xfrm>
            <a:off x="4663440" y="3593592"/>
            <a:ext cx="1947672" cy="420624"/>
          </a:xfrm>
          <a:prstGeom prst="rect">
            <a:avLst/>
          </a:prstGeom>
          <a:solidFill>
            <a:srgbClr val="FFFFFF">
              <a:alpha val="38000"/>
            </a:srgbClr>
          </a:solidFill>
          <a:ln w="9525">
            <a:solidFill>
              <a:srgbClr val="A3212E"/>
            </a:solidFill>
          </a:ln>
        </p:spPr>
        <p:txBody>
          <a:bodyPr wrap="square" lIns="38100" tIns="38100" rIns="38100" bIns="38100" rtlCol="0" anchor="ctr"/>
          <a:lstStyle/>
          <a:p>
            <a:pPr algn="ctr" indent="0" marL="0">
              <a:buNone/>
            </a:pPr>
            <a:r>
              <a:rPr lang="en-US" sz="780" dirty="0">
                <a:solidFill>
                  <a:srgbClr val="A3212E"/>
                </a:solidFill>
                <a:latin typeface="Courier New" pitchFamily="34" charset="0"/>
                <a:ea typeface="Courier New" pitchFamily="34" charset="-122"/>
                <a:cs typeface="Courier New" pitchFamily="34" charset="-120"/>
              </a:rPr>
              <a:t>BLOOD — circulation itself</a:t>
            </a:r>
            <a:endParaRPr lang="en-US" sz="780" dirty="0"/>
          </a:p>
        </p:txBody>
      </p:sp>
      <p:sp>
        <p:nvSpPr>
          <p:cNvPr id="25" name="Slide Number Placeholder 0"/>
          <p:cNvSpPr>
            <a:spLocks noGrp="1"/>
          </p:cNvSpPr>
          <p:nvPr>
            <p:ph type="sldNum" sz="quarter" idx="4294967295"/>
          </p:nvPr>
        </p:nvSpPr>
        <p:spPr>
          <a:xfrm>
            <a:off x="8522208" y="486460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4A5560"/>
                </a:solidFill>
                <a:latin typeface="Courier New"/>
                <a:ea typeface="Courier New"/>
                <a:cs typeface="Courier New"/>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7863840" cy="292608"/>
          </a:xfrm>
          <a:prstGeom prst="rect">
            <a:avLst/>
          </a:prstGeom>
          <a:noFill/>
          <a:ln/>
        </p:spPr>
        <p:txBody>
          <a:bodyPr wrap="square" lIns="0" tIns="0" rIns="0" bIns="0" rtlCol="0"/>
          <a:lstStyle/>
          <a:p>
            <a:pPr indent="0" marL="0">
              <a:buNone/>
            </a:pPr>
            <a:r>
              <a:rPr lang="en-US" sz="900" spc="300" kern="0" dirty="0">
                <a:solidFill>
                  <a:srgbClr val="0E4B50"/>
                </a:solidFill>
                <a:latin typeface="Courier New" pitchFamily="34" charset="0"/>
                <a:ea typeface="Courier New" pitchFamily="34" charset="-122"/>
                <a:cs typeface="Courier New" pitchFamily="34" charset="-120"/>
              </a:rPr>
              <a:t>08 · THE DEPENDENCY ENGINE</a:t>
            </a:r>
            <a:endParaRPr lang="en-US" sz="900" dirty="0"/>
          </a:p>
        </p:txBody>
      </p:sp>
      <p:sp>
        <p:nvSpPr>
          <p:cNvPr id="3" name="Text 0"/>
          <p:cNvSpPr/>
          <p:nvPr>
            <p:ph idx="101" type="title" hasCustomPrompt="1"/>
          </p:nvPr>
        </p:nvSpPr>
        <p:spPr>
          <a:xfrm>
            <a:off x="548640" y="658368"/>
            <a:ext cx="8046720" cy="731520"/>
          </a:xfrm>
          <a:prstGeom prst="rect">
            <a:avLst/>
          </a:prstGeom>
          <a:noFill/>
          <a:ln/>
        </p:spPr>
        <p:txBody>
          <a:bodyPr wrap="square" lIns="0" tIns="0" rIns="0" bIns="0" rtlCol="0"/>
          <a:lstStyle/>
          <a:p>
            <a:pPr algn="l" indent="0" marL="0">
              <a:buNone/>
            </a:pPr>
            <a:r>
              <a:rPr lang="en-US" sz="2600" b="1" dirty="0">
                <a:solidFill>
                  <a:srgbClr val="16181A"/>
                </a:solidFill>
                <a:latin typeface="Georgia" pitchFamily="34" charset="0"/>
                <a:ea typeface="Georgia" pitchFamily="34" charset="-122"/>
                <a:cs typeface="Georgia" pitchFamily="34" charset="-120"/>
              </a:rPr>
              <a:t>Power increases dependency</a:t>
            </a:r>
            <a:endParaRPr lang="en-US" sz="2600" dirty="0"/>
          </a:p>
        </p:txBody>
      </p:sp>
      <p:sp>
        <p:nvSpPr>
          <p:cNvPr id="4" name="Text 2"/>
          <p:cNvSpPr/>
          <p:nvPr/>
        </p:nvSpPr>
        <p:spPr>
          <a:xfrm>
            <a:off x="548640" y="1481328"/>
            <a:ext cx="8046720" cy="1234440"/>
          </a:xfrm>
          <a:prstGeom prst="rect">
            <a:avLst/>
          </a:prstGeom>
          <a:noFill/>
          <a:ln/>
        </p:spPr>
        <p:txBody>
          <a:bodyPr wrap="square" lIns="0" tIns="0" rIns="0" bIns="0" rtlCol="0" anchor="t"/>
          <a:lstStyle/>
          <a:p>
            <a:pPr indent="0" marL="0">
              <a:lnSpc>
                <a:spcPct val="125000"/>
              </a:lnSpc>
              <a:buNone/>
            </a:pPr>
            <a:r>
              <a:rPr lang="en-US" sz="1250" dirty="0">
                <a:solidFill>
                  <a:srgbClr val="16181A"/>
                </a:solidFill>
                <a:latin typeface="Arial" pitchFamily="34" charset="0"/>
                <a:ea typeface="Arial" pitchFamily="34" charset="-122"/>
                <a:cs typeface="Arial" pitchFamily="34" charset="-120"/>
              </a:rPr>
              <a:t>Activation starts a progressive degeneration — </a:t>
            </a:r>
            <a:pPr indent="0" marL="0">
              <a:lnSpc>
                <a:spcPct val="125000"/>
              </a:lnSpc>
              <a:buNone/>
            </a:pPr>
            <a:r>
              <a:rPr lang="en-US" sz="1250" b="1" dirty="0">
                <a:solidFill>
                  <a:srgbClr val="A3212E"/>
                </a:solidFill>
                <a:latin typeface="Arial" pitchFamily="34" charset="0"/>
                <a:ea typeface="Arial" pitchFamily="34" charset="-122"/>
                <a:cs typeface="Arial" pitchFamily="34" charset="-120"/>
              </a:rPr>
              <a:t>the Rot</a:t>
            </a:r>
            <a:pPr indent="0" marL="0">
              <a:lnSpc>
                <a:spcPct val="125000"/>
              </a:lnSpc>
              <a:buNone/>
            </a:pPr>
            <a:r>
              <a:rPr lang="en-US" sz="1250" dirty="0">
                <a:solidFill>
                  <a:srgbClr val="16181A"/>
                </a:solidFill>
                <a:latin typeface="Arial" pitchFamily="34" charset="0"/>
                <a:ea typeface="Arial" pitchFamily="34" charset="-122"/>
                <a:cs typeface="Arial" pitchFamily="34" charset="-120"/>
              </a:rPr>
              <a:t>. One drug manages it: </a:t>
            </a:r>
            <a:pPr indent="0" marL="0">
              <a:lnSpc>
                <a:spcPct val="125000"/>
              </a:lnSpc>
              <a:buNone/>
            </a:pPr>
            <a:r>
              <a:rPr lang="en-US" sz="1250" b="1" dirty="0">
                <a:solidFill>
                  <a:srgbClr val="16181A"/>
                </a:solidFill>
                <a:latin typeface="Arial" pitchFamily="34" charset="0"/>
                <a:ea typeface="Arial" pitchFamily="34" charset="-122"/>
                <a:cs typeface="Arial" pitchFamily="34" charset="-120"/>
              </a:rPr>
              <a:t>Reprieve</a:t>
            </a:r>
            <a:pPr indent="0" marL="0">
              <a:lnSpc>
                <a:spcPct val="125000"/>
              </a:lnSpc>
              <a:buNone/>
            </a:pPr>
            <a:r>
              <a:rPr lang="en-US" sz="1250" dirty="0">
                <a:solidFill>
                  <a:srgbClr val="16181A"/>
                </a:solidFill>
                <a:latin typeface="Arial" pitchFamily="34" charset="0"/>
                <a:ea typeface="Arial" pitchFamily="34" charset="-122"/>
                <a:cs typeface="Arial" pitchFamily="34" charset="-120"/>
              </a:rPr>
              <a:t>, Bloodline’s dependency medicine, dosed every seventy-two hours through Bloodline-authenticated hardware. The harder a Resonator burns, the faster the Rot advances. Medicine becomes leash, payroll, border, and sentence.</a:t>
            </a:r>
            <a:endParaRPr lang="en-US" sz="1250" dirty="0"/>
          </a:p>
        </p:txBody>
      </p:sp>
      <p:sp>
        <p:nvSpPr>
          <p:cNvPr id="5" name="Text 3"/>
          <p:cNvSpPr/>
          <p:nvPr/>
        </p:nvSpPr>
        <p:spPr>
          <a:xfrm>
            <a:off x="548640" y="2788920"/>
            <a:ext cx="8046720" cy="365760"/>
          </a:xfrm>
          <a:prstGeom prst="rect">
            <a:avLst/>
          </a:prstGeom>
          <a:noFill/>
          <a:ln/>
        </p:spPr>
        <p:txBody>
          <a:bodyPr wrap="square" lIns="0" tIns="0" rIns="0" bIns="0" rtlCol="0" anchor="ctr"/>
          <a:lstStyle/>
          <a:p>
            <a:pPr indent="0" marL="0">
              <a:buNone/>
            </a:pPr>
            <a:r>
              <a:rPr lang="en-US" sz="1300" i="1" dirty="0">
                <a:solidFill>
                  <a:srgbClr val="16181A"/>
                </a:solidFill>
                <a:latin typeface="Georgia" pitchFamily="34" charset="0"/>
                <a:ea typeface="Georgia" pitchFamily="34" charset="-122"/>
                <a:cs typeface="Georgia" pitchFamily="34" charset="-120"/>
              </a:rPr>
              <a:t>The world’s cruelest business model — and its central metaphor.</a:t>
            </a:r>
            <a:endParaRPr lang="en-US" sz="1300" dirty="0"/>
          </a:p>
        </p:txBody>
      </p:sp>
      <p:sp>
        <p:nvSpPr>
          <p:cNvPr id="6" name="Text 4"/>
          <p:cNvSpPr/>
          <p:nvPr/>
        </p:nvSpPr>
        <p:spPr>
          <a:xfrm>
            <a:off x="548640" y="3429000"/>
            <a:ext cx="1371600" cy="420624"/>
          </a:xfrm>
          <a:prstGeom prst="rect">
            <a:avLst/>
          </a:prstGeom>
          <a:solidFill>
            <a:srgbClr val="FFFFFF">
              <a:alpha val="38000"/>
            </a:srgbClr>
          </a:solidFill>
          <a:ln w="9525">
            <a:solidFill>
              <a:srgbClr val="0E4B50"/>
            </a:solidFill>
          </a:ln>
        </p:spPr>
        <p:txBody>
          <a:bodyPr wrap="square" lIns="38100" tIns="38100" rIns="38100" bIns="38100" rtlCol="0" anchor="ctr"/>
          <a:lstStyle/>
          <a:p>
            <a:pPr algn="ctr" indent="0" marL="0">
              <a:buNone/>
            </a:pPr>
            <a:r>
              <a:rPr lang="en-US" sz="850" dirty="0">
                <a:solidFill>
                  <a:srgbClr val="0E4B50"/>
                </a:solidFill>
                <a:latin typeface="Courier New" pitchFamily="34" charset="0"/>
                <a:ea typeface="Courier New" pitchFamily="34" charset="-122"/>
                <a:cs typeface="Courier New" pitchFamily="34" charset="-120"/>
              </a:rPr>
              <a:t>ACTIVATE</a:t>
            </a:r>
            <a:endParaRPr lang="en-US" sz="850" dirty="0"/>
          </a:p>
        </p:txBody>
      </p:sp>
      <p:sp>
        <p:nvSpPr>
          <p:cNvPr id="7" name="Text 5"/>
          <p:cNvSpPr/>
          <p:nvPr/>
        </p:nvSpPr>
        <p:spPr>
          <a:xfrm>
            <a:off x="1920240" y="3429000"/>
            <a:ext cx="292608" cy="420624"/>
          </a:xfrm>
          <a:prstGeom prst="rect">
            <a:avLst/>
          </a:prstGeom>
          <a:noFill/>
          <a:ln/>
        </p:spPr>
        <p:txBody>
          <a:bodyPr wrap="square" lIns="0" tIns="0" rIns="0" bIns="0" rtlCol="0" anchor="ctr"/>
          <a:lstStyle/>
          <a:p>
            <a:pPr algn="ctr" indent="0" marL="0">
              <a:buNone/>
            </a:pPr>
            <a:r>
              <a:rPr lang="en-US" sz="1100" dirty="0">
                <a:solidFill>
                  <a:srgbClr val="C9A24B"/>
                </a:solidFill>
                <a:latin typeface="Courier New" pitchFamily="34" charset="0"/>
                <a:ea typeface="Courier New" pitchFamily="34" charset="-122"/>
                <a:cs typeface="Courier New" pitchFamily="34" charset="-120"/>
              </a:rPr>
              <a:t>→</a:t>
            </a:r>
            <a:endParaRPr lang="en-US" sz="1100" dirty="0"/>
          </a:p>
        </p:txBody>
      </p:sp>
      <p:sp>
        <p:nvSpPr>
          <p:cNvPr id="8" name="Text 6"/>
          <p:cNvSpPr/>
          <p:nvPr/>
        </p:nvSpPr>
        <p:spPr>
          <a:xfrm>
            <a:off x="2212848" y="3429000"/>
            <a:ext cx="1371600" cy="420624"/>
          </a:xfrm>
          <a:prstGeom prst="rect">
            <a:avLst/>
          </a:prstGeom>
          <a:solidFill>
            <a:srgbClr val="FFFFFF">
              <a:alpha val="38000"/>
            </a:srgbClr>
          </a:solidFill>
          <a:ln w="9525">
            <a:solidFill>
              <a:srgbClr val="0E4B50"/>
            </a:solidFill>
          </a:ln>
        </p:spPr>
        <p:txBody>
          <a:bodyPr wrap="square" lIns="38100" tIns="38100" rIns="38100" bIns="38100" rtlCol="0" anchor="ctr"/>
          <a:lstStyle/>
          <a:p>
            <a:pPr algn="ctr" indent="0" marL="0">
              <a:buNone/>
            </a:pPr>
            <a:r>
              <a:rPr lang="en-US" sz="850" dirty="0">
                <a:solidFill>
                  <a:srgbClr val="0E4B50"/>
                </a:solidFill>
                <a:latin typeface="Courier New" pitchFamily="34" charset="0"/>
                <a:ea typeface="Courier New" pitchFamily="34" charset="-122"/>
                <a:cs typeface="Courier New" pitchFamily="34" charset="-120"/>
              </a:rPr>
              <a:t>EMPLOY</a:t>
            </a:r>
            <a:endParaRPr lang="en-US" sz="850" dirty="0"/>
          </a:p>
        </p:txBody>
      </p:sp>
      <p:sp>
        <p:nvSpPr>
          <p:cNvPr id="9" name="Text 7"/>
          <p:cNvSpPr/>
          <p:nvPr/>
        </p:nvSpPr>
        <p:spPr>
          <a:xfrm>
            <a:off x="3584448" y="3429000"/>
            <a:ext cx="292608" cy="420624"/>
          </a:xfrm>
          <a:prstGeom prst="rect">
            <a:avLst/>
          </a:prstGeom>
          <a:noFill/>
          <a:ln/>
        </p:spPr>
        <p:txBody>
          <a:bodyPr wrap="square" lIns="0" tIns="0" rIns="0" bIns="0" rtlCol="0" anchor="ctr"/>
          <a:lstStyle/>
          <a:p>
            <a:pPr algn="ctr" indent="0" marL="0">
              <a:buNone/>
            </a:pPr>
            <a:r>
              <a:rPr lang="en-US" sz="1100" dirty="0">
                <a:solidFill>
                  <a:srgbClr val="C9A24B"/>
                </a:solidFill>
                <a:latin typeface="Courier New" pitchFamily="34" charset="0"/>
                <a:ea typeface="Courier New" pitchFamily="34" charset="-122"/>
                <a:cs typeface="Courier New" pitchFamily="34" charset="-120"/>
              </a:rPr>
              <a:t>→</a:t>
            </a:r>
            <a:endParaRPr lang="en-US" sz="1100" dirty="0"/>
          </a:p>
        </p:txBody>
      </p:sp>
      <p:sp>
        <p:nvSpPr>
          <p:cNvPr id="10" name="Text 8"/>
          <p:cNvSpPr/>
          <p:nvPr/>
        </p:nvSpPr>
        <p:spPr>
          <a:xfrm>
            <a:off x="3877056" y="3429000"/>
            <a:ext cx="1371600" cy="420624"/>
          </a:xfrm>
          <a:prstGeom prst="rect">
            <a:avLst/>
          </a:prstGeom>
          <a:solidFill>
            <a:srgbClr val="FFFFFF">
              <a:alpha val="38000"/>
            </a:srgbClr>
          </a:solidFill>
          <a:ln w="9525">
            <a:solidFill>
              <a:srgbClr val="0E4B50"/>
            </a:solidFill>
          </a:ln>
        </p:spPr>
        <p:txBody>
          <a:bodyPr wrap="square" lIns="38100" tIns="38100" rIns="38100" bIns="38100" rtlCol="0" anchor="ctr"/>
          <a:lstStyle/>
          <a:p>
            <a:pPr algn="ctr" indent="0" marL="0">
              <a:buNone/>
            </a:pPr>
            <a:r>
              <a:rPr lang="en-US" sz="850" dirty="0">
                <a:solidFill>
                  <a:srgbClr val="0E4B50"/>
                </a:solidFill>
                <a:latin typeface="Courier New" pitchFamily="34" charset="0"/>
                <a:ea typeface="Courier New" pitchFamily="34" charset="-122"/>
                <a:cs typeface="Courier New" pitchFamily="34" charset="-120"/>
              </a:rPr>
              <a:t>DEPEND</a:t>
            </a:r>
            <a:endParaRPr lang="en-US" sz="850" dirty="0"/>
          </a:p>
        </p:txBody>
      </p:sp>
      <p:sp>
        <p:nvSpPr>
          <p:cNvPr id="11" name="Text 9"/>
          <p:cNvSpPr/>
          <p:nvPr/>
        </p:nvSpPr>
        <p:spPr>
          <a:xfrm>
            <a:off x="5248656" y="3429000"/>
            <a:ext cx="292608" cy="420624"/>
          </a:xfrm>
          <a:prstGeom prst="rect">
            <a:avLst/>
          </a:prstGeom>
          <a:noFill/>
          <a:ln/>
        </p:spPr>
        <p:txBody>
          <a:bodyPr wrap="square" lIns="0" tIns="0" rIns="0" bIns="0" rtlCol="0" anchor="ctr"/>
          <a:lstStyle/>
          <a:p>
            <a:pPr algn="ctr" indent="0" marL="0">
              <a:buNone/>
            </a:pPr>
            <a:r>
              <a:rPr lang="en-US" sz="1100" dirty="0">
                <a:solidFill>
                  <a:srgbClr val="C9A24B"/>
                </a:solidFill>
                <a:latin typeface="Courier New" pitchFamily="34" charset="0"/>
                <a:ea typeface="Courier New" pitchFamily="34" charset="-122"/>
                <a:cs typeface="Courier New" pitchFamily="34" charset="-120"/>
              </a:rPr>
              <a:t>→</a:t>
            </a:r>
            <a:endParaRPr lang="en-US" sz="1100" dirty="0"/>
          </a:p>
        </p:txBody>
      </p:sp>
      <p:sp>
        <p:nvSpPr>
          <p:cNvPr id="12" name="Text 10"/>
          <p:cNvSpPr/>
          <p:nvPr/>
        </p:nvSpPr>
        <p:spPr>
          <a:xfrm>
            <a:off x="5541264" y="3429000"/>
            <a:ext cx="1371600" cy="420624"/>
          </a:xfrm>
          <a:prstGeom prst="rect">
            <a:avLst/>
          </a:prstGeom>
          <a:solidFill>
            <a:srgbClr val="FFFFFF">
              <a:alpha val="38000"/>
            </a:srgbClr>
          </a:solidFill>
          <a:ln w="9525">
            <a:solidFill>
              <a:srgbClr val="0E4B50"/>
            </a:solidFill>
          </a:ln>
        </p:spPr>
        <p:txBody>
          <a:bodyPr wrap="square" lIns="38100" tIns="38100" rIns="38100" bIns="38100" rtlCol="0" anchor="ctr"/>
          <a:lstStyle/>
          <a:p>
            <a:pPr algn="ctr" indent="0" marL="0">
              <a:buNone/>
            </a:pPr>
            <a:r>
              <a:rPr lang="en-US" sz="850" dirty="0">
                <a:solidFill>
                  <a:srgbClr val="0E4B50"/>
                </a:solidFill>
                <a:latin typeface="Courier New" pitchFamily="34" charset="0"/>
                <a:ea typeface="Courier New" pitchFamily="34" charset="-122"/>
                <a:cs typeface="Courier New" pitchFamily="34" charset="-120"/>
              </a:rPr>
              <a:t>DECLINE</a:t>
            </a:r>
            <a:endParaRPr lang="en-US" sz="850" dirty="0"/>
          </a:p>
        </p:txBody>
      </p:sp>
      <p:sp>
        <p:nvSpPr>
          <p:cNvPr id="13" name="Text 11"/>
          <p:cNvSpPr/>
          <p:nvPr/>
        </p:nvSpPr>
        <p:spPr>
          <a:xfrm>
            <a:off x="6912864" y="3429000"/>
            <a:ext cx="292608" cy="420624"/>
          </a:xfrm>
          <a:prstGeom prst="rect">
            <a:avLst/>
          </a:prstGeom>
          <a:noFill/>
          <a:ln/>
        </p:spPr>
        <p:txBody>
          <a:bodyPr wrap="square" lIns="0" tIns="0" rIns="0" bIns="0" rtlCol="0" anchor="ctr"/>
          <a:lstStyle/>
          <a:p>
            <a:pPr algn="ctr" indent="0" marL="0">
              <a:buNone/>
            </a:pPr>
            <a:r>
              <a:rPr lang="en-US" sz="1100" dirty="0">
                <a:solidFill>
                  <a:srgbClr val="C9A24B"/>
                </a:solidFill>
                <a:latin typeface="Courier New" pitchFamily="34" charset="0"/>
                <a:ea typeface="Courier New" pitchFamily="34" charset="-122"/>
                <a:cs typeface="Courier New" pitchFamily="34" charset="-120"/>
              </a:rPr>
              <a:t>→</a:t>
            </a:r>
            <a:endParaRPr lang="en-US" sz="1100" dirty="0"/>
          </a:p>
        </p:txBody>
      </p:sp>
      <p:sp>
        <p:nvSpPr>
          <p:cNvPr id="14" name="Text 12"/>
          <p:cNvSpPr/>
          <p:nvPr/>
        </p:nvSpPr>
        <p:spPr>
          <a:xfrm>
            <a:off x="7205472" y="3429000"/>
            <a:ext cx="1371600" cy="420624"/>
          </a:xfrm>
          <a:prstGeom prst="rect">
            <a:avLst/>
          </a:prstGeom>
          <a:solidFill>
            <a:srgbClr val="FFFFFF">
              <a:alpha val="38000"/>
            </a:srgbClr>
          </a:solidFill>
          <a:ln w="9525">
            <a:solidFill>
              <a:srgbClr val="A3212E"/>
            </a:solidFill>
          </a:ln>
        </p:spPr>
        <p:txBody>
          <a:bodyPr wrap="square" lIns="38100" tIns="38100" rIns="38100" bIns="38100" rtlCol="0" anchor="ctr"/>
          <a:lstStyle/>
          <a:p>
            <a:pPr algn="ctr" indent="0" marL="0">
              <a:buNone/>
            </a:pPr>
            <a:r>
              <a:rPr lang="en-US" sz="850" dirty="0">
                <a:solidFill>
                  <a:srgbClr val="A3212E"/>
                </a:solidFill>
                <a:latin typeface="Courier New" pitchFamily="34" charset="0"/>
                <a:ea typeface="Courier New" pitchFamily="34" charset="-122"/>
                <a:cs typeface="Courier New" pitchFamily="34" charset="-120"/>
              </a:rPr>
              <a:t>CUSTODY</a:t>
            </a:r>
            <a:endParaRPr lang="en-US" sz="850" dirty="0"/>
          </a:p>
        </p:txBody>
      </p:sp>
      <p:sp>
        <p:nvSpPr>
          <p:cNvPr id="25" name="Slide Number Placeholder 0"/>
          <p:cNvSpPr>
            <a:spLocks noGrp="1"/>
          </p:cNvSpPr>
          <p:nvPr>
            <p:ph type="sldNum" sz="quarter" idx="4294967295"/>
          </p:nvPr>
        </p:nvSpPr>
        <p:spPr>
          <a:xfrm>
            <a:off x="8522208" y="486460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4A5560"/>
                </a:solidFill>
                <a:latin typeface="Courier New"/>
                <a:ea typeface="Courier New"/>
                <a:cs typeface="Courier New"/>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7863840" cy="292608"/>
          </a:xfrm>
          <a:prstGeom prst="rect">
            <a:avLst/>
          </a:prstGeom>
          <a:noFill/>
          <a:ln/>
        </p:spPr>
        <p:txBody>
          <a:bodyPr wrap="square" lIns="0" tIns="0" rIns="0" bIns="0" rtlCol="0"/>
          <a:lstStyle/>
          <a:p>
            <a:pPr indent="0" marL="0">
              <a:buNone/>
            </a:pPr>
            <a:r>
              <a:rPr lang="en-US" sz="900" spc="300" kern="0" dirty="0">
                <a:solidFill>
                  <a:srgbClr val="0E4B50"/>
                </a:solidFill>
                <a:latin typeface="Courier New" pitchFamily="34" charset="0"/>
                <a:ea typeface="Courier New" pitchFamily="34" charset="-122"/>
                <a:cs typeface="Courier New" pitchFamily="34" charset="-120"/>
              </a:rPr>
              <a:t>09 · THE HUMAN CORE</a:t>
            </a:r>
            <a:endParaRPr lang="en-US" sz="900" dirty="0"/>
          </a:p>
        </p:txBody>
      </p:sp>
      <p:sp>
        <p:nvSpPr>
          <p:cNvPr id="3" name="Text 0"/>
          <p:cNvSpPr/>
          <p:nvPr>
            <p:ph idx="101" type="title" hasCustomPrompt="1"/>
          </p:nvPr>
        </p:nvSpPr>
        <p:spPr>
          <a:xfrm>
            <a:off x="548640" y="658368"/>
            <a:ext cx="8046720" cy="731520"/>
          </a:xfrm>
          <a:prstGeom prst="rect">
            <a:avLst/>
          </a:prstGeom>
          <a:noFill/>
          <a:ln/>
        </p:spPr>
        <p:txBody>
          <a:bodyPr wrap="square" lIns="0" tIns="0" rIns="0" bIns="0" rtlCol="0"/>
          <a:lstStyle/>
          <a:p>
            <a:pPr algn="l" indent="0" marL="0">
              <a:buNone/>
            </a:pPr>
            <a:r>
              <a:rPr lang="en-US" sz="2600" b="1" dirty="0">
                <a:solidFill>
                  <a:srgbClr val="16181A"/>
                </a:solidFill>
                <a:latin typeface="Georgia" pitchFamily="34" charset="0"/>
                <a:ea typeface="Georgia" pitchFamily="34" charset="-122"/>
                <a:cs typeface="Georgia" pitchFamily="34" charset="-120"/>
              </a:rPr>
              <a:t>Three boys, denied separate futures</a:t>
            </a:r>
            <a:endParaRPr lang="en-US" sz="2600" dirty="0"/>
          </a:p>
        </p:txBody>
      </p:sp>
      <p:sp>
        <p:nvSpPr>
          <p:cNvPr id="4" name="Text 2"/>
          <p:cNvSpPr/>
          <p:nvPr/>
        </p:nvSpPr>
        <p:spPr>
          <a:xfrm>
            <a:off x="548640" y="1554480"/>
            <a:ext cx="2633472" cy="1755648"/>
          </a:xfrm>
          <a:prstGeom prst="rect">
            <a:avLst/>
          </a:prstGeom>
          <a:solidFill>
            <a:srgbClr val="FFFFFF">
              <a:alpha val="45000"/>
            </a:srgbClr>
          </a:solidFill>
          <a:ln w="9525">
            <a:solidFill>
              <a:srgbClr val="9AA0A6"/>
            </a:solidFill>
            <a:prstDash val="solid"/>
          </a:ln>
        </p:spPr>
        <p:txBody>
          <a:bodyPr wrap="square" lIns="101600" tIns="101600" rIns="101600" bIns="101600" rtlCol="0" anchor="t"/>
          <a:lstStyle/>
          <a:p>
            <a:pPr algn="l" indent="0" marL="0">
              <a:spcAft>
                <a:spcPts val="500"/>
              </a:spcAft>
              <a:buNone/>
            </a:pPr>
            <a:r>
              <a:rPr lang="en-US" sz="730" spc="100" kern="0" dirty="0">
                <a:solidFill>
                  <a:srgbClr val="4A5560"/>
                </a:solidFill>
                <a:latin typeface="Courier New" pitchFamily="34" charset="0"/>
                <a:ea typeface="Courier New" pitchFamily="34" charset="-122"/>
                <a:cs typeface="Courier New" pitchFamily="34" charset="-120"/>
              </a:rPr>
              <a:t>CBE-01 · BLOOD SPECTRUM</a:t>
            </a:r>
            <a:endParaRPr lang="en-US" sz="730" dirty="0"/>
          </a:p>
          <a:p>
            <a:pPr algn="l" indent="0" marL="0">
              <a:spcAft>
                <a:spcPts val="500"/>
              </a:spcAft>
              <a:buNone/>
            </a:pPr>
            <a:r>
              <a:rPr lang="en-US" sz="1350" b="1" dirty="0">
                <a:solidFill>
                  <a:srgbClr val="16181A"/>
                </a:solidFill>
                <a:latin typeface="Georgia" pitchFamily="34" charset="0"/>
                <a:ea typeface="Georgia" pitchFamily="34" charset="-122"/>
                <a:cs typeface="Georgia" pitchFamily="34" charset="-120"/>
              </a:rPr>
              <a:t>Elik Baptiste</a:t>
            </a:r>
            <a:endParaRPr lang="en-US" sz="730" dirty="0"/>
          </a:p>
          <a:p>
            <a:pPr algn="l" indent="0" marL="0">
              <a:lnSpc>
                <a:spcPct val="115000"/>
              </a:lnSpc>
              <a:spcAft>
                <a:spcPts val="700"/>
              </a:spcAft>
              <a:buNone/>
            </a:pPr>
            <a:r>
              <a:rPr lang="en-US" sz="900" dirty="0">
                <a:solidFill>
                  <a:srgbClr val="16181A"/>
                </a:solidFill>
                <a:latin typeface="Arial" pitchFamily="34" charset="0"/>
                <a:ea typeface="Arial" pitchFamily="34" charset="-122"/>
                <a:cs typeface="Arial" pitchFamily="34" charset="-120"/>
              </a:rPr>
              <a:t>“The Heart.” Wanted to go home and run a neighborhood clinic. Died in the program, 2083 — at sixteen.</a:t>
            </a:r>
            <a:endParaRPr lang="en-US" sz="730" dirty="0"/>
          </a:p>
          <a:p>
            <a:pPr algn="l" indent="0" marL="0">
              <a:buNone/>
            </a:pPr>
            <a:r>
              <a:rPr lang="en-US" sz="950" b="1" spc="400" kern="0" dirty="0">
                <a:solidFill>
                  <a:srgbClr val="A3212E"/>
                </a:solidFill>
                <a:latin typeface="Courier New" pitchFamily="34" charset="0"/>
                <a:ea typeface="Courier New" pitchFamily="34" charset="-122"/>
                <a:cs typeface="Courier New" pitchFamily="34" charset="-120"/>
              </a:rPr>
              <a:t>CARE</a:t>
            </a:r>
            <a:endParaRPr lang="en-US" sz="730" dirty="0"/>
          </a:p>
        </p:txBody>
      </p:sp>
      <p:sp>
        <p:nvSpPr>
          <p:cNvPr id="5" name="Text 3"/>
          <p:cNvSpPr/>
          <p:nvPr/>
        </p:nvSpPr>
        <p:spPr>
          <a:xfrm>
            <a:off x="3310128" y="1554480"/>
            <a:ext cx="2633472" cy="1755648"/>
          </a:xfrm>
          <a:prstGeom prst="rect">
            <a:avLst/>
          </a:prstGeom>
          <a:solidFill>
            <a:srgbClr val="FFFFFF">
              <a:alpha val="45000"/>
            </a:srgbClr>
          </a:solidFill>
          <a:ln w="9525">
            <a:solidFill>
              <a:srgbClr val="9AA0A6"/>
            </a:solidFill>
            <a:prstDash val="solid"/>
          </a:ln>
        </p:spPr>
        <p:txBody>
          <a:bodyPr wrap="square" lIns="101600" tIns="101600" rIns="101600" bIns="101600" rtlCol="0" anchor="t"/>
          <a:lstStyle/>
          <a:p>
            <a:pPr algn="l" indent="0" marL="0">
              <a:spcAft>
                <a:spcPts val="500"/>
              </a:spcAft>
              <a:buNone/>
            </a:pPr>
            <a:r>
              <a:rPr lang="en-US" sz="730" spc="100" kern="0" dirty="0">
                <a:solidFill>
                  <a:srgbClr val="4A5560"/>
                </a:solidFill>
                <a:latin typeface="Courier New" pitchFamily="34" charset="0"/>
                <a:ea typeface="Courier New" pitchFamily="34" charset="-122"/>
                <a:cs typeface="Courier New" pitchFamily="34" charset="-120"/>
              </a:rPr>
              <a:t>CBE-02 · LIGHTNING SPECTRUM</a:t>
            </a:r>
            <a:endParaRPr lang="en-US" sz="730" dirty="0"/>
          </a:p>
          <a:p>
            <a:pPr algn="l" indent="0" marL="0">
              <a:spcAft>
                <a:spcPts val="500"/>
              </a:spcAft>
              <a:buNone/>
            </a:pPr>
            <a:r>
              <a:rPr lang="en-US" sz="1350" b="1" dirty="0">
                <a:solidFill>
                  <a:srgbClr val="16181A"/>
                </a:solidFill>
                <a:latin typeface="Georgia" pitchFamily="34" charset="0"/>
                <a:ea typeface="Georgia" pitchFamily="34" charset="-122"/>
                <a:cs typeface="Georgia" pitchFamily="34" charset="-120"/>
              </a:rPr>
              <a:t>Tomas Vega</a:t>
            </a:r>
            <a:endParaRPr lang="en-US" sz="730" dirty="0"/>
          </a:p>
          <a:p>
            <a:pPr algn="l" indent="0" marL="0">
              <a:lnSpc>
                <a:spcPct val="115000"/>
              </a:lnSpc>
              <a:spcAft>
                <a:spcPts val="700"/>
              </a:spcAft>
              <a:buNone/>
            </a:pPr>
            <a:r>
              <a:rPr lang="en-US" sz="900" dirty="0">
                <a:solidFill>
                  <a:srgbClr val="16181A"/>
                </a:solidFill>
                <a:latin typeface="Arial" pitchFamily="34" charset="0"/>
                <a:ea typeface="Arial" pitchFamily="34" charset="-122"/>
                <a:cs typeface="Arial" pitchFamily="34" charset="-120"/>
              </a:rPr>
              <a:t>“Boy Thunder.” A war hero at fourteen, a legend built from edited footage. Eighteen.</a:t>
            </a:r>
            <a:endParaRPr lang="en-US" sz="730" dirty="0"/>
          </a:p>
          <a:p>
            <a:pPr algn="l" indent="0" marL="0">
              <a:buNone/>
            </a:pPr>
            <a:r>
              <a:rPr lang="en-US" sz="950" b="1" spc="400" kern="0" dirty="0">
                <a:solidFill>
                  <a:srgbClr val="C9A24B"/>
                </a:solidFill>
                <a:latin typeface="Courier New" pitchFamily="34" charset="0"/>
                <a:ea typeface="Courier New" pitchFamily="34" charset="-122"/>
                <a:cs typeface="Courier New" pitchFamily="34" charset="-120"/>
              </a:rPr>
              <a:t>GLORY</a:t>
            </a:r>
            <a:endParaRPr lang="en-US" sz="730" dirty="0"/>
          </a:p>
        </p:txBody>
      </p:sp>
      <p:sp>
        <p:nvSpPr>
          <p:cNvPr id="6" name="Text 4"/>
          <p:cNvSpPr/>
          <p:nvPr/>
        </p:nvSpPr>
        <p:spPr>
          <a:xfrm>
            <a:off x="6071616" y="1554480"/>
            <a:ext cx="2633472" cy="1755648"/>
          </a:xfrm>
          <a:prstGeom prst="rect">
            <a:avLst/>
          </a:prstGeom>
          <a:solidFill>
            <a:srgbClr val="FFFFFF">
              <a:alpha val="45000"/>
            </a:srgbClr>
          </a:solidFill>
          <a:ln w="9525">
            <a:solidFill>
              <a:srgbClr val="9AA0A6"/>
            </a:solidFill>
            <a:prstDash val="solid"/>
          </a:ln>
        </p:spPr>
        <p:txBody>
          <a:bodyPr wrap="square" lIns="101600" tIns="101600" rIns="101600" bIns="101600" rtlCol="0" anchor="t"/>
          <a:lstStyle/>
          <a:p>
            <a:pPr algn="l" indent="0" marL="0">
              <a:spcAft>
                <a:spcPts val="500"/>
              </a:spcAft>
              <a:buNone/>
            </a:pPr>
            <a:r>
              <a:rPr lang="en-US" sz="730" spc="100" kern="0" dirty="0">
                <a:solidFill>
                  <a:srgbClr val="4A5560"/>
                </a:solidFill>
                <a:latin typeface="Courier New" pitchFamily="34" charset="0"/>
                <a:ea typeface="Courier New" pitchFamily="34" charset="-122"/>
                <a:cs typeface="Courier New" pitchFamily="34" charset="-120"/>
              </a:rPr>
              <a:t>CBE-03 · FULL-SPECTRUM HOST</a:t>
            </a:r>
            <a:endParaRPr lang="en-US" sz="730" dirty="0"/>
          </a:p>
          <a:p>
            <a:pPr algn="l" indent="0" marL="0">
              <a:spcAft>
                <a:spcPts val="500"/>
              </a:spcAft>
              <a:buNone/>
            </a:pPr>
            <a:r>
              <a:rPr lang="en-US" sz="1350" b="1" dirty="0">
                <a:solidFill>
                  <a:srgbClr val="16181A"/>
                </a:solidFill>
                <a:latin typeface="Georgia" pitchFamily="34" charset="0"/>
                <a:ea typeface="Georgia" pitchFamily="34" charset="-122"/>
                <a:cs typeface="Georgia" pitchFamily="34" charset="-120"/>
              </a:rPr>
              <a:t>Vicente “Vin” Rodríguez</a:t>
            </a:r>
            <a:endParaRPr lang="en-US" sz="730" dirty="0"/>
          </a:p>
          <a:p>
            <a:pPr algn="l" indent="0" marL="0">
              <a:lnSpc>
                <a:spcPct val="115000"/>
              </a:lnSpc>
              <a:spcAft>
                <a:spcPts val="700"/>
              </a:spcAft>
              <a:buNone/>
            </a:pPr>
            <a:r>
              <a:rPr lang="en-US" sz="900" dirty="0">
                <a:solidFill>
                  <a:srgbClr val="16181A"/>
                </a:solidFill>
                <a:latin typeface="Arial" pitchFamily="34" charset="0"/>
                <a:ea typeface="Arial" pitchFamily="34" charset="-122"/>
                <a:cs typeface="Arial" pitchFamily="34" charset="-120"/>
              </a:rPr>
              <a:t>The vessel built to carry both. Seventeen, and done being useful.</a:t>
            </a:r>
            <a:endParaRPr lang="en-US" sz="730" dirty="0"/>
          </a:p>
          <a:p>
            <a:pPr algn="l" indent="0" marL="0">
              <a:buNone/>
            </a:pPr>
            <a:r>
              <a:rPr lang="en-US" sz="950" b="1" spc="400" kern="0" dirty="0">
                <a:solidFill>
                  <a:srgbClr val="0E4B50"/>
                </a:solidFill>
                <a:latin typeface="Courier New" pitchFamily="34" charset="0"/>
                <a:ea typeface="Courier New" pitchFamily="34" charset="-122"/>
                <a:cs typeface="Courier New" pitchFamily="34" charset="-120"/>
              </a:rPr>
              <a:t>CHOICE</a:t>
            </a:r>
            <a:endParaRPr lang="en-US" sz="730" dirty="0"/>
          </a:p>
        </p:txBody>
      </p:sp>
      <p:sp>
        <p:nvSpPr>
          <p:cNvPr id="7" name="Text 5"/>
          <p:cNvSpPr/>
          <p:nvPr/>
        </p:nvSpPr>
        <p:spPr>
          <a:xfrm>
            <a:off x="548640" y="3520440"/>
            <a:ext cx="3977640" cy="658368"/>
          </a:xfrm>
          <a:prstGeom prst="rect">
            <a:avLst/>
          </a:prstGeom>
          <a:solidFill>
            <a:srgbClr val="FFFFFF">
              <a:alpha val="38000"/>
            </a:srgbClr>
          </a:solidFill>
          <a:ln w="9525">
            <a:solidFill>
              <a:srgbClr val="9AA0A6"/>
            </a:solidFill>
          </a:ln>
        </p:spPr>
        <p:txBody>
          <a:bodyPr wrap="square" lIns="38100" tIns="38100" rIns="38100" bIns="38100" rtlCol="0" anchor="ctr"/>
          <a:lstStyle/>
          <a:p>
            <a:pPr algn="l" indent="0" marL="0">
              <a:buNone/>
            </a:pPr>
            <a:r>
              <a:rPr lang="en-US" sz="780" dirty="0">
                <a:solidFill>
                  <a:srgbClr val="4A5560"/>
                </a:solidFill>
                <a:latin typeface="Courier New" pitchFamily="34" charset="0"/>
                <a:ea typeface="Courier New" pitchFamily="34" charset="-122"/>
                <a:cs typeface="Courier New" pitchFamily="34" charset="-120"/>
              </a:rPr>
              <a:t>CBE — Confluence Bioelectric Enhancement: Bloodline’s classified program to run three boys as one system</a:t>
            </a:r>
            <a:endParaRPr lang="en-US" sz="780" dirty="0"/>
          </a:p>
        </p:txBody>
      </p:sp>
      <p:sp>
        <p:nvSpPr>
          <p:cNvPr id="8" name="Text 6"/>
          <p:cNvSpPr/>
          <p:nvPr/>
        </p:nvSpPr>
        <p:spPr>
          <a:xfrm>
            <a:off x="4663440" y="3520440"/>
            <a:ext cx="4005072" cy="658368"/>
          </a:xfrm>
          <a:prstGeom prst="rect">
            <a:avLst/>
          </a:prstGeom>
          <a:solidFill>
            <a:srgbClr val="C9A24B">
              <a:alpha val="9000"/>
            </a:srgbClr>
          </a:solidFill>
          <a:ln w="12700">
            <a:solidFill>
              <a:srgbClr val="C9A24B"/>
            </a:solidFill>
          </a:ln>
        </p:spPr>
        <p:txBody>
          <a:bodyPr wrap="square" lIns="76200" tIns="76200" rIns="76200" bIns="76200" rtlCol="0" anchor="ctr"/>
          <a:lstStyle/>
          <a:p>
            <a:pPr algn="l" indent="0" marL="0">
              <a:buNone/>
            </a:pPr>
            <a:r>
              <a:rPr lang="en-US" sz="880" i="1" dirty="0">
                <a:solidFill>
                  <a:srgbClr val="16181A"/>
                </a:solidFill>
                <a:latin typeface="Arial" pitchFamily="34" charset="0"/>
                <a:ea typeface="Arial" pitchFamily="34" charset="-122"/>
                <a:cs typeface="Arial" pitchFamily="34" charset="-120"/>
              </a:rPr>
              <a:t>Before every test they said each other’s names aloud — </a:t>
            </a:r>
            <a:pPr algn="l" indent="0" marL="0">
              <a:buNone/>
            </a:pPr>
            <a:r>
              <a:rPr lang="en-US" sz="880" i="1" dirty="0">
                <a:solidFill>
                  <a:srgbClr val="16181A"/>
                </a:solidFill>
                <a:latin typeface="Georgia" pitchFamily="34" charset="0"/>
                <a:ea typeface="Georgia" pitchFamily="34" charset="-122"/>
                <a:cs typeface="Georgia" pitchFamily="34" charset="-120"/>
              </a:rPr>
              <a:t>“Elik Baptiste. Tomas Vega. Vicente Rodríguez.” </a:t>
            </a:r>
            <a:pPr algn="l" indent="0" marL="0">
              <a:buNone/>
            </a:pPr>
            <a:r>
              <a:rPr lang="en-US" sz="820" b="1" dirty="0">
                <a:solidFill>
                  <a:srgbClr val="C9A24B"/>
                </a:solidFill>
                <a:latin typeface="Courier New" pitchFamily="34" charset="0"/>
                <a:ea typeface="Courier New" pitchFamily="34" charset="-122"/>
                <a:cs typeface="Courier New" pitchFamily="34" charset="-120"/>
              </a:rPr>
              <a:t>Names before numbers.</a:t>
            </a:r>
            <a:endParaRPr lang="en-US" sz="880" dirty="0"/>
          </a:p>
        </p:txBody>
      </p:sp>
      <p:sp>
        <p:nvSpPr>
          <p:cNvPr id="25" name="Slide Number Placeholder 0"/>
          <p:cNvSpPr>
            <a:spLocks noGrp="1"/>
          </p:cNvSpPr>
          <p:nvPr>
            <p:ph type="sldNum" sz="quarter" idx="4294967295"/>
          </p:nvPr>
        </p:nvSpPr>
        <p:spPr>
          <a:xfrm>
            <a:off x="8522208" y="486460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4A5560"/>
                </a:solidFill>
                <a:latin typeface="Courier New"/>
                <a:ea typeface="Courier New"/>
                <a:cs typeface="Courier New"/>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7863840" cy="292608"/>
          </a:xfrm>
          <a:prstGeom prst="rect">
            <a:avLst/>
          </a:prstGeom>
          <a:noFill/>
          <a:ln/>
        </p:spPr>
        <p:txBody>
          <a:bodyPr wrap="square" lIns="0" tIns="0" rIns="0" bIns="0" rtlCol="0"/>
          <a:lstStyle/>
          <a:p>
            <a:pPr indent="0" marL="0">
              <a:buNone/>
            </a:pPr>
            <a:r>
              <a:rPr lang="en-US" sz="900" spc="300" kern="0" dirty="0">
                <a:solidFill>
                  <a:srgbClr val="0E4B50"/>
                </a:solidFill>
                <a:latin typeface="Courier New" pitchFamily="34" charset="0"/>
                <a:ea typeface="Courier New" pitchFamily="34" charset="-122"/>
                <a:cs typeface="Courier New" pitchFamily="34" charset="-120"/>
              </a:rPr>
              <a:t>10 · THE PROTAGONIST</a:t>
            </a:r>
            <a:endParaRPr lang="en-US" sz="900" dirty="0"/>
          </a:p>
        </p:txBody>
      </p:sp>
      <p:sp>
        <p:nvSpPr>
          <p:cNvPr id="3" name="Text 0"/>
          <p:cNvSpPr/>
          <p:nvPr>
            <p:ph idx="101" type="title" hasCustomPrompt="1"/>
          </p:nvPr>
        </p:nvSpPr>
        <p:spPr>
          <a:xfrm>
            <a:off x="548640" y="658368"/>
            <a:ext cx="8046720" cy="731520"/>
          </a:xfrm>
          <a:prstGeom prst="rect">
            <a:avLst/>
          </a:prstGeom>
          <a:noFill/>
          <a:ln/>
        </p:spPr>
        <p:txBody>
          <a:bodyPr wrap="square" lIns="0" tIns="0" rIns="0" bIns="0" rtlCol="0"/>
          <a:lstStyle/>
          <a:p>
            <a:pPr algn="l" indent="0" marL="0">
              <a:buNone/>
            </a:pPr>
            <a:r>
              <a:rPr lang="en-US" sz="2600" b="1" dirty="0">
                <a:solidFill>
                  <a:srgbClr val="16181A"/>
                </a:solidFill>
                <a:latin typeface="Georgia" pitchFamily="34" charset="0"/>
                <a:ea typeface="Georgia" pitchFamily="34" charset="-122"/>
                <a:cs typeface="Georgia" pitchFamily="34" charset="-120"/>
              </a:rPr>
              <a:t>Vicente “Vin” Rodríguez</a:t>
            </a:r>
            <a:endParaRPr lang="en-US" sz="2600" dirty="0"/>
          </a:p>
        </p:txBody>
      </p:sp>
      <p:sp>
        <p:nvSpPr>
          <p:cNvPr id="4" name="Text 2"/>
          <p:cNvSpPr/>
          <p:nvPr/>
        </p:nvSpPr>
        <p:spPr>
          <a:xfrm>
            <a:off x="548640" y="1481328"/>
            <a:ext cx="4846320" cy="1600200"/>
          </a:xfrm>
          <a:prstGeom prst="rect">
            <a:avLst/>
          </a:prstGeom>
          <a:noFill/>
          <a:ln/>
        </p:spPr>
        <p:txBody>
          <a:bodyPr wrap="square" lIns="0" tIns="0" rIns="0" bIns="0" rtlCol="0" anchor="t"/>
          <a:lstStyle/>
          <a:p>
            <a:pPr indent="0" marL="0">
              <a:lnSpc>
                <a:spcPct val="125000"/>
              </a:lnSpc>
              <a:buNone/>
            </a:pPr>
            <a:r>
              <a:rPr lang="en-US" sz="1150" dirty="0">
                <a:solidFill>
                  <a:srgbClr val="16181A"/>
                </a:solidFill>
                <a:latin typeface="Arial" pitchFamily="34" charset="0"/>
                <a:ea typeface="Arial" pitchFamily="34" charset="-122"/>
                <a:cs typeface="Arial" pitchFamily="34" charset="-120"/>
              </a:rPr>
              <a:t>Dark brown skin. Gold curls — a CBE side effect, not a choice; his hair was dark before. A lean seventeen-year-old frame under disproportionately heavy black-and-green confluence hardware. The silhouette reads as a weapon. The face stays visibly young.</a:t>
            </a:r>
            <a:endParaRPr lang="en-US" sz="1150" dirty="0"/>
          </a:p>
        </p:txBody>
      </p:sp>
      <p:sp>
        <p:nvSpPr>
          <p:cNvPr id="5" name="Text 3"/>
          <p:cNvSpPr/>
          <p:nvPr/>
        </p:nvSpPr>
        <p:spPr>
          <a:xfrm>
            <a:off x="548640" y="3035808"/>
            <a:ext cx="4846320" cy="365760"/>
          </a:xfrm>
          <a:prstGeom prst="rect">
            <a:avLst/>
          </a:prstGeom>
          <a:noFill/>
          <a:ln/>
        </p:spPr>
        <p:txBody>
          <a:bodyPr wrap="square" lIns="0" tIns="0" rIns="0" bIns="0" rtlCol="0" anchor="ctr"/>
          <a:lstStyle/>
          <a:p>
            <a:pPr indent="0" marL="0">
              <a:buNone/>
            </a:pPr>
            <a:r>
              <a:rPr lang="en-US" sz="1300" dirty="0">
                <a:solidFill>
                  <a:srgbClr val="16181A"/>
                </a:solidFill>
                <a:latin typeface="Georgia" pitchFamily="34" charset="0"/>
                <a:ea typeface="Georgia" pitchFamily="34" charset="-122"/>
                <a:cs typeface="Georgia" pitchFamily="34" charset="-120"/>
              </a:rPr>
              <a:t>His want: </a:t>
            </a:r>
            <a:pPr indent="0" marL="0">
              <a:buNone/>
            </a:pPr>
            <a:r>
              <a:rPr lang="en-US" sz="1300" i="1" dirty="0">
                <a:solidFill>
                  <a:srgbClr val="16181A"/>
                </a:solidFill>
                <a:latin typeface="Georgia" pitchFamily="34" charset="0"/>
                <a:ea typeface="Georgia" pitchFamily="34" charset="-122"/>
                <a:cs typeface="Georgia" pitchFamily="34" charset="-120"/>
              </a:rPr>
              <a:t>personhood without assigned purpose.</a:t>
            </a:r>
            <a:endParaRPr lang="en-US" sz="1300" dirty="0"/>
          </a:p>
        </p:txBody>
      </p:sp>
      <p:sp>
        <p:nvSpPr>
          <p:cNvPr id="6" name="Text 4"/>
          <p:cNvSpPr/>
          <p:nvPr/>
        </p:nvSpPr>
        <p:spPr>
          <a:xfrm>
            <a:off x="548640" y="3611880"/>
            <a:ext cx="1481328" cy="365760"/>
          </a:xfrm>
          <a:prstGeom prst="rect">
            <a:avLst/>
          </a:prstGeom>
          <a:solidFill>
            <a:srgbClr val="C9A24B">
              <a:alpha val="10000"/>
            </a:srgbClr>
          </a:solidFill>
          <a:ln w="9525">
            <a:solidFill>
              <a:srgbClr val="C9A24B"/>
            </a:solidFill>
          </a:ln>
        </p:spPr>
        <p:txBody>
          <a:bodyPr wrap="square" lIns="38100" tIns="38100" rIns="38100" bIns="38100" rtlCol="0" anchor="ctr"/>
          <a:lstStyle/>
          <a:p>
            <a:pPr algn="ctr" indent="0" marL="0">
              <a:buNone/>
            </a:pPr>
            <a:r>
              <a:rPr lang="en-US" sz="750" dirty="0">
                <a:solidFill>
                  <a:srgbClr val="16181A"/>
                </a:solidFill>
                <a:latin typeface="Courier New" pitchFamily="34" charset="0"/>
                <a:ea typeface="Courier New" pitchFamily="34" charset="-122"/>
                <a:cs typeface="Courier New" pitchFamily="34" charset="-120"/>
              </a:rPr>
              <a:t>BORN 18 DEC 2066</a:t>
            </a:r>
            <a:endParaRPr lang="en-US" sz="750" dirty="0"/>
          </a:p>
        </p:txBody>
      </p:sp>
      <p:sp>
        <p:nvSpPr>
          <p:cNvPr id="7" name="Text 5"/>
          <p:cNvSpPr/>
          <p:nvPr/>
        </p:nvSpPr>
        <p:spPr>
          <a:xfrm>
            <a:off x="2121408" y="3611880"/>
            <a:ext cx="777240" cy="365760"/>
          </a:xfrm>
          <a:prstGeom prst="rect">
            <a:avLst/>
          </a:prstGeom>
          <a:solidFill>
            <a:srgbClr val="C9A24B">
              <a:alpha val="10000"/>
            </a:srgbClr>
          </a:solidFill>
          <a:ln w="9525">
            <a:solidFill>
              <a:srgbClr val="C9A24B"/>
            </a:solidFill>
          </a:ln>
        </p:spPr>
        <p:txBody>
          <a:bodyPr wrap="square" lIns="38100" tIns="38100" rIns="38100" bIns="38100" rtlCol="0" anchor="ctr"/>
          <a:lstStyle/>
          <a:p>
            <a:pPr algn="ctr" indent="0" marL="0">
              <a:buNone/>
            </a:pPr>
            <a:r>
              <a:rPr lang="en-US" sz="750" dirty="0">
                <a:solidFill>
                  <a:srgbClr val="16181A"/>
                </a:solidFill>
                <a:latin typeface="Courier New" pitchFamily="34" charset="0"/>
                <a:ea typeface="Courier New" pitchFamily="34" charset="-122"/>
                <a:cs typeface="Courier New" pitchFamily="34" charset="-120"/>
              </a:rPr>
              <a:t>CBE-03</a:t>
            </a:r>
            <a:endParaRPr lang="en-US" sz="750" dirty="0"/>
          </a:p>
        </p:txBody>
      </p:sp>
      <p:sp>
        <p:nvSpPr>
          <p:cNvPr id="8" name="Text 6"/>
          <p:cNvSpPr/>
          <p:nvPr/>
        </p:nvSpPr>
        <p:spPr>
          <a:xfrm>
            <a:off x="2990088" y="3611880"/>
            <a:ext cx="1280160" cy="365760"/>
          </a:xfrm>
          <a:prstGeom prst="rect">
            <a:avLst/>
          </a:prstGeom>
          <a:solidFill>
            <a:srgbClr val="C9A24B">
              <a:alpha val="10000"/>
            </a:srgbClr>
          </a:solidFill>
          <a:ln w="9525">
            <a:solidFill>
              <a:srgbClr val="C9A24B"/>
            </a:solidFill>
          </a:ln>
        </p:spPr>
        <p:txBody>
          <a:bodyPr wrap="square" lIns="38100" tIns="38100" rIns="38100" bIns="38100" rtlCol="0" anchor="ctr"/>
          <a:lstStyle/>
          <a:p>
            <a:pPr algn="ctr" indent="0" marL="0">
              <a:buNone/>
            </a:pPr>
            <a:r>
              <a:rPr lang="en-US" sz="750" dirty="0">
                <a:solidFill>
                  <a:srgbClr val="16181A"/>
                </a:solidFill>
                <a:latin typeface="Courier New" pitchFamily="34" charset="0"/>
                <a:ea typeface="Courier New" pitchFamily="34" charset="-122"/>
                <a:cs typeface="Courier New" pitchFamily="34" charset="-120"/>
              </a:rPr>
              <a:t>SEVEN SPECTRA</a:t>
            </a:r>
            <a:endParaRPr lang="en-US" sz="750" dirty="0"/>
          </a:p>
        </p:txBody>
      </p:sp>
      <p:sp>
        <p:nvSpPr>
          <p:cNvPr id="9" name="Text 7"/>
          <p:cNvSpPr/>
          <p:nvPr/>
        </p:nvSpPr>
        <p:spPr>
          <a:xfrm>
            <a:off x="548640" y="4069080"/>
            <a:ext cx="3520440" cy="365760"/>
          </a:xfrm>
          <a:prstGeom prst="rect">
            <a:avLst/>
          </a:prstGeom>
          <a:solidFill>
            <a:srgbClr val="C9A24B">
              <a:alpha val="10000"/>
            </a:srgbClr>
          </a:solidFill>
          <a:ln w="9525">
            <a:solidFill>
              <a:srgbClr val="C9A24B"/>
            </a:solidFill>
          </a:ln>
        </p:spPr>
        <p:txBody>
          <a:bodyPr wrap="square" lIns="38100" tIns="38100" rIns="38100" bIns="38100" rtlCol="0" anchor="ctr"/>
          <a:lstStyle/>
          <a:p>
            <a:pPr algn="ctr" indent="0" marL="0">
              <a:buNone/>
            </a:pPr>
            <a:r>
              <a:rPr lang="en-US" sz="750" dirty="0">
                <a:solidFill>
                  <a:srgbClr val="16181A"/>
                </a:solidFill>
                <a:latin typeface="Courier New" pitchFamily="34" charset="0"/>
                <a:ea typeface="Courier New" pitchFamily="34" charset="-122"/>
                <a:cs typeface="Courier New" pitchFamily="34" charset="-120"/>
              </a:rPr>
              <a:t>CROSSED OUT OF CUSTODY 00:17 · JUNE 1, 2084</a:t>
            </a:r>
            <a:endParaRPr lang="en-US" sz="750" dirty="0"/>
          </a:p>
        </p:txBody>
      </p:sp>
      <p:pic>
        <p:nvPicPr>
          <p:cNvPr id="10" name="Image 0" descr="vin_art_full.jpg">    </p:cNvPr>
          <p:cNvPicPr>
            <a:picLocks noChangeAspect="1"/>
          </p:cNvPicPr>
          <p:nvPr/>
        </p:nvPicPr>
        <p:blipFill>
          <a:blip r:embed="rId1"/>
          <a:stretch>
            <a:fillRect/>
          </a:stretch>
        </p:blipFill>
        <p:spPr>
          <a:xfrm>
            <a:off x="5806440" y="384048"/>
            <a:ext cx="2788920" cy="4160520"/>
          </a:xfrm>
          <a:prstGeom prst="rect">
            <a:avLst/>
          </a:prstGeom>
        </p:spPr>
      </p:pic>
      <p:sp>
        <p:nvSpPr>
          <p:cNvPr id="11" name="Text 8"/>
          <p:cNvSpPr/>
          <p:nvPr/>
        </p:nvSpPr>
        <p:spPr>
          <a:xfrm>
            <a:off x="5806440" y="4572000"/>
            <a:ext cx="2788920" cy="228600"/>
          </a:xfrm>
          <a:prstGeom prst="rect">
            <a:avLst/>
          </a:prstGeom>
          <a:noFill/>
          <a:ln/>
        </p:spPr>
        <p:txBody>
          <a:bodyPr wrap="square" lIns="0" tIns="0" rIns="0" bIns="0" rtlCol="0" anchor="ctr"/>
          <a:lstStyle/>
          <a:p>
            <a:pPr indent="0" marL="0">
              <a:buNone/>
            </a:pPr>
            <a:r>
              <a:rPr lang="en-US" sz="750" dirty="0">
                <a:solidFill>
                  <a:srgbClr val="4A5560"/>
                </a:solidFill>
                <a:latin typeface="Courier New" pitchFamily="34" charset="0"/>
                <a:ea typeface="Courier New" pitchFamily="34" charset="-122"/>
                <a:cs typeface="Courier New" pitchFamily="34" charset="-120"/>
              </a:rPr>
              <a:t>Concept art: [artist credit TBD]</a:t>
            </a:r>
            <a:endParaRPr lang="en-US" sz="750" dirty="0"/>
          </a:p>
        </p:txBody>
      </p:sp>
      <p:sp>
        <p:nvSpPr>
          <p:cNvPr id="25" name="Slide Number Placeholder 0"/>
          <p:cNvSpPr>
            <a:spLocks noGrp="1"/>
          </p:cNvSpPr>
          <p:nvPr>
            <p:ph type="sldNum" sz="quarter" idx="4294967295"/>
          </p:nvPr>
        </p:nvSpPr>
        <p:spPr>
          <a:xfrm>
            <a:off x="8522208" y="486460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4A5560"/>
                </a:solidFill>
                <a:latin typeface="Courier New"/>
                <a:ea typeface="Courier New"/>
                <a:cs typeface="Courier New"/>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7863840" cy="292608"/>
          </a:xfrm>
          <a:prstGeom prst="rect">
            <a:avLst/>
          </a:prstGeom>
          <a:noFill/>
          <a:ln/>
        </p:spPr>
        <p:txBody>
          <a:bodyPr wrap="square" lIns="0" tIns="0" rIns="0" bIns="0" rtlCol="0"/>
          <a:lstStyle/>
          <a:p>
            <a:pPr indent="0" marL="0">
              <a:buNone/>
            </a:pPr>
            <a:r>
              <a:rPr lang="en-US" sz="900" spc="300" kern="0" dirty="0">
                <a:solidFill>
                  <a:srgbClr val="0E4B50"/>
                </a:solidFill>
                <a:latin typeface="Courier New" pitchFamily="34" charset="0"/>
                <a:ea typeface="Courier New" pitchFamily="34" charset="-122"/>
                <a:cs typeface="Courier New" pitchFamily="34" charset="-120"/>
              </a:rPr>
              <a:t>11 · THE SISTER</a:t>
            </a:r>
            <a:endParaRPr lang="en-US" sz="900" dirty="0"/>
          </a:p>
        </p:txBody>
      </p:sp>
      <p:sp>
        <p:nvSpPr>
          <p:cNvPr id="3" name="Text 0"/>
          <p:cNvSpPr/>
          <p:nvPr>
            <p:ph idx="101" type="title" hasCustomPrompt="1"/>
          </p:nvPr>
        </p:nvSpPr>
        <p:spPr>
          <a:xfrm>
            <a:off x="548640" y="658368"/>
            <a:ext cx="8046720" cy="731520"/>
          </a:xfrm>
          <a:prstGeom prst="rect">
            <a:avLst/>
          </a:prstGeom>
          <a:noFill/>
          <a:ln/>
        </p:spPr>
        <p:txBody>
          <a:bodyPr wrap="square" lIns="0" tIns="0" rIns="0" bIns="0" rtlCol="0"/>
          <a:lstStyle/>
          <a:p>
            <a:pPr algn="l" indent="0" marL="0">
              <a:buNone/>
            </a:pPr>
            <a:r>
              <a:rPr lang="en-US" sz="2600" b="1" dirty="0">
                <a:solidFill>
                  <a:srgbClr val="16181A"/>
                </a:solidFill>
                <a:latin typeface="Georgia" pitchFamily="34" charset="0"/>
                <a:ea typeface="Georgia" pitchFamily="34" charset="-122"/>
                <a:cs typeface="Georgia" pitchFamily="34" charset="-120"/>
              </a:rPr>
              <a:t>Nicole Rodríguez</a:t>
            </a:r>
            <a:endParaRPr lang="en-US" sz="2600" dirty="0"/>
          </a:p>
        </p:txBody>
      </p:sp>
      <p:sp>
        <p:nvSpPr>
          <p:cNvPr id="4" name="Text 2"/>
          <p:cNvSpPr/>
          <p:nvPr/>
        </p:nvSpPr>
        <p:spPr>
          <a:xfrm>
            <a:off x="548640" y="1481328"/>
            <a:ext cx="4846320" cy="1325880"/>
          </a:xfrm>
          <a:prstGeom prst="rect">
            <a:avLst/>
          </a:prstGeom>
          <a:noFill/>
          <a:ln/>
        </p:spPr>
        <p:txBody>
          <a:bodyPr wrap="square" lIns="0" tIns="0" rIns="0" bIns="0" rtlCol="0" anchor="t"/>
          <a:lstStyle/>
          <a:p>
            <a:pPr indent="0" marL="0">
              <a:lnSpc>
                <a:spcPct val="125000"/>
              </a:lnSpc>
              <a:buNone/>
            </a:pPr>
            <a:r>
              <a:rPr lang="en-US" sz="1150" dirty="0">
                <a:solidFill>
                  <a:srgbClr val="16181A"/>
                </a:solidFill>
                <a:latin typeface="Arial" pitchFamily="34" charset="0"/>
                <a:ea typeface="Arial" pitchFamily="34" charset="-122"/>
                <a:cs typeface="Arial" pitchFamily="34" charset="-120"/>
              </a:rPr>
              <a:t>Sixteen. Vin’s sister. High Priestess of the Serpentine — the Resonator faith and mutual-aid movement — and a public saint whose authority grew around a managed lie: she was told her brother died in 2079.</a:t>
            </a:r>
            <a:endParaRPr lang="en-US" sz="1150" dirty="0"/>
          </a:p>
        </p:txBody>
      </p:sp>
      <p:sp>
        <p:nvSpPr>
          <p:cNvPr id="5" name="Text 3"/>
          <p:cNvSpPr/>
          <p:nvPr/>
        </p:nvSpPr>
        <p:spPr>
          <a:xfrm>
            <a:off x="548640" y="2834640"/>
            <a:ext cx="4846320" cy="548640"/>
          </a:xfrm>
          <a:prstGeom prst="rect">
            <a:avLst/>
          </a:prstGeom>
          <a:noFill/>
          <a:ln/>
        </p:spPr>
        <p:txBody>
          <a:bodyPr wrap="square" lIns="0" tIns="0" rIns="0" bIns="0" rtlCol="0" anchor="ctr"/>
          <a:lstStyle/>
          <a:p>
            <a:pPr indent="0" marL="0">
              <a:buNone/>
            </a:pPr>
            <a:r>
              <a:rPr lang="en-US" sz="1300" dirty="0">
                <a:solidFill>
                  <a:srgbClr val="16181A"/>
                </a:solidFill>
                <a:latin typeface="Georgia" pitchFamily="34" charset="0"/>
                <a:ea typeface="Georgia" pitchFamily="34" charset="-122"/>
                <a:cs typeface="Georgia" pitchFamily="34" charset="-120"/>
              </a:rPr>
              <a:t>Now he is back. Brother, institution, symbol — </a:t>
            </a:r>
            <a:pPr indent="0" marL="0">
              <a:buNone/>
            </a:pPr>
            <a:r>
              <a:rPr lang="en-US" sz="1300" i="1" dirty="0">
                <a:solidFill>
                  <a:srgbClr val="16181A"/>
                </a:solidFill>
                <a:latin typeface="Georgia" pitchFamily="34" charset="0"/>
                <a:ea typeface="Georgia" pitchFamily="34" charset="-122"/>
                <a:cs typeface="Georgia" pitchFamily="34" charset="-120"/>
              </a:rPr>
              <a:t>she can keep two.</a:t>
            </a:r>
            <a:endParaRPr lang="en-US" sz="1300" dirty="0"/>
          </a:p>
        </p:txBody>
      </p:sp>
      <p:sp>
        <p:nvSpPr>
          <p:cNvPr id="6" name="Text 4"/>
          <p:cNvSpPr/>
          <p:nvPr/>
        </p:nvSpPr>
        <p:spPr>
          <a:xfrm>
            <a:off x="548640" y="3611880"/>
            <a:ext cx="1481328" cy="365760"/>
          </a:xfrm>
          <a:prstGeom prst="rect">
            <a:avLst/>
          </a:prstGeom>
          <a:solidFill>
            <a:srgbClr val="C9A24B">
              <a:alpha val="10000"/>
            </a:srgbClr>
          </a:solidFill>
          <a:ln w="9525">
            <a:solidFill>
              <a:srgbClr val="C9A24B"/>
            </a:solidFill>
          </a:ln>
        </p:spPr>
        <p:txBody>
          <a:bodyPr wrap="square" lIns="38100" tIns="38100" rIns="38100" bIns="38100" rtlCol="0" anchor="ctr"/>
          <a:lstStyle/>
          <a:p>
            <a:pPr algn="ctr" indent="0" marL="0">
              <a:buNone/>
            </a:pPr>
            <a:r>
              <a:rPr lang="en-US" sz="750" dirty="0">
                <a:solidFill>
                  <a:srgbClr val="16181A"/>
                </a:solidFill>
                <a:latin typeface="Courier New" pitchFamily="34" charset="0"/>
                <a:ea typeface="Courier New" pitchFamily="34" charset="-122"/>
                <a:cs typeface="Courier New" pitchFamily="34" charset="-120"/>
              </a:rPr>
              <a:t>BORN 16 FEB 2068</a:t>
            </a:r>
            <a:endParaRPr lang="en-US" sz="750" dirty="0"/>
          </a:p>
        </p:txBody>
      </p:sp>
      <p:sp>
        <p:nvSpPr>
          <p:cNvPr id="7" name="Text 5"/>
          <p:cNvSpPr/>
          <p:nvPr/>
        </p:nvSpPr>
        <p:spPr>
          <a:xfrm>
            <a:off x="2121408" y="3611880"/>
            <a:ext cx="2651760" cy="365760"/>
          </a:xfrm>
          <a:prstGeom prst="rect">
            <a:avLst/>
          </a:prstGeom>
          <a:solidFill>
            <a:srgbClr val="C9A24B">
              <a:alpha val="10000"/>
            </a:srgbClr>
          </a:solidFill>
          <a:ln w="9525">
            <a:solidFill>
              <a:srgbClr val="C9A24B"/>
            </a:solidFill>
          </a:ln>
        </p:spPr>
        <p:txBody>
          <a:bodyPr wrap="square" lIns="38100" tIns="38100" rIns="38100" bIns="38100" rtlCol="0" anchor="ctr"/>
          <a:lstStyle/>
          <a:p>
            <a:pPr algn="ctr" indent="0" marL="0">
              <a:buNone/>
            </a:pPr>
            <a:r>
              <a:rPr lang="en-US" sz="750" dirty="0">
                <a:solidFill>
                  <a:srgbClr val="16181A"/>
                </a:solidFill>
                <a:latin typeface="Courier New" pitchFamily="34" charset="0"/>
                <a:ea typeface="Courier New" pitchFamily="34" charset="-122"/>
                <a:cs typeface="Courier New" pitchFamily="34" charset="-120"/>
              </a:rPr>
              <a:t>LATENT CARRIER · NEVER ACTIVATED</a:t>
            </a:r>
            <a:endParaRPr lang="en-US" sz="750" dirty="0"/>
          </a:p>
        </p:txBody>
      </p:sp>
      <p:sp>
        <p:nvSpPr>
          <p:cNvPr id="8" name="Text 6"/>
          <p:cNvSpPr/>
          <p:nvPr/>
        </p:nvSpPr>
        <p:spPr>
          <a:xfrm>
            <a:off x="548640" y="4069080"/>
            <a:ext cx="1783080" cy="365760"/>
          </a:xfrm>
          <a:prstGeom prst="rect">
            <a:avLst/>
          </a:prstGeom>
          <a:solidFill>
            <a:srgbClr val="C9A24B">
              <a:alpha val="10000"/>
            </a:srgbClr>
          </a:solidFill>
          <a:ln w="9525">
            <a:solidFill>
              <a:srgbClr val="C9A24B"/>
            </a:solidFill>
          </a:ln>
        </p:spPr>
        <p:txBody>
          <a:bodyPr wrap="square" lIns="38100" tIns="38100" rIns="38100" bIns="38100" rtlCol="0" anchor="ctr"/>
          <a:lstStyle/>
          <a:p>
            <a:pPr algn="ctr" indent="0" marL="0">
              <a:buNone/>
            </a:pPr>
            <a:r>
              <a:rPr lang="en-US" sz="750" dirty="0">
                <a:solidFill>
                  <a:srgbClr val="16181A"/>
                </a:solidFill>
                <a:latin typeface="Courier New" pitchFamily="34" charset="0"/>
                <a:ea typeface="Courier New" pitchFamily="34" charset="-122"/>
                <a:cs typeface="Courier New" pitchFamily="34" charset="-120"/>
              </a:rPr>
              <a:t>HIGH PRIESTESS, 2082</a:t>
            </a:r>
            <a:endParaRPr lang="en-US" sz="750" dirty="0"/>
          </a:p>
        </p:txBody>
      </p:sp>
      <p:sp>
        <p:nvSpPr>
          <p:cNvPr id="9" name="Shape 7"/>
          <p:cNvSpPr/>
          <p:nvPr/>
        </p:nvSpPr>
        <p:spPr>
          <a:xfrm>
            <a:off x="5943600" y="685800"/>
            <a:ext cx="2514600" cy="3520440"/>
          </a:xfrm>
          <a:prstGeom prst="rect">
            <a:avLst/>
          </a:prstGeom>
          <a:solidFill>
            <a:srgbClr val="E9E2D2"/>
          </a:solidFill>
          <a:ln w="9525">
            <a:solidFill>
              <a:srgbClr val="4A5560"/>
            </a:solidFill>
            <a:prstDash val="solid"/>
          </a:ln>
        </p:spPr>
      </p:sp>
      <p:sp>
        <p:nvSpPr>
          <p:cNvPr id="10" name="Shape 8"/>
          <p:cNvSpPr/>
          <p:nvPr/>
        </p:nvSpPr>
        <p:spPr>
          <a:xfrm>
            <a:off x="6693408" y="1325880"/>
            <a:ext cx="1005840" cy="1005840"/>
          </a:xfrm>
          <a:prstGeom prst="ellipse">
            <a:avLst/>
          </a:prstGeom>
          <a:solidFill>
            <a:srgbClr val="E9E2D2">
              <a:alpha val="0"/>
            </a:srgbClr>
          </a:solidFill>
          <a:ln w="22225">
            <a:solidFill>
              <a:srgbClr val="C9A24B"/>
            </a:solidFill>
            <a:prstDash val="solid"/>
          </a:ln>
        </p:spPr>
      </p:sp>
      <p:sp>
        <p:nvSpPr>
          <p:cNvPr id="11" name="Text 9"/>
          <p:cNvSpPr/>
          <p:nvPr/>
        </p:nvSpPr>
        <p:spPr>
          <a:xfrm>
            <a:off x="6693408" y="1325880"/>
            <a:ext cx="1005840" cy="1005840"/>
          </a:xfrm>
          <a:prstGeom prst="rect">
            <a:avLst/>
          </a:prstGeom>
          <a:noFill/>
          <a:ln/>
        </p:spPr>
        <p:txBody>
          <a:bodyPr wrap="square" lIns="0" tIns="0" rIns="0" bIns="0" rtlCol="0" anchor="ctr"/>
          <a:lstStyle/>
          <a:p>
            <a:pPr algn="ctr" indent="0" marL="0">
              <a:buNone/>
            </a:pPr>
            <a:r>
              <a:rPr lang="en-US" sz="2100" dirty="0">
                <a:solidFill>
                  <a:srgbClr val="16181A"/>
                </a:solidFill>
                <a:latin typeface="Georgia" pitchFamily="34" charset="0"/>
                <a:ea typeface="Georgia" pitchFamily="34" charset="-122"/>
                <a:cs typeface="Georgia" pitchFamily="34" charset="-120"/>
              </a:rPr>
              <a:t>N·R</a:t>
            </a:r>
            <a:endParaRPr lang="en-US" sz="2100" dirty="0"/>
          </a:p>
        </p:txBody>
      </p:sp>
      <p:sp>
        <p:nvSpPr>
          <p:cNvPr id="12" name="Text 10"/>
          <p:cNvSpPr/>
          <p:nvPr/>
        </p:nvSpPr>
        <p:spPr>
          <a:xfrm>
            <a:off x="6035040" y="2743200"/>
            <a:ext cx="2331720" cy="274320"/>
          </a:xfrm>
          <a:prstGeom prst="rect">
            <a:avLst/>
          </a:prstGeom>
          <a:noFill/>
          <a:ln/>
        </p:spPr>
        <p:txBody>
          <a:bodyPr wrap="square" lIns="0" tIns="0" rIns="0" bIns="0" rtlCol="0" anchor="ctr"/>
          <a:lstStyle/>
          <a:p>
            <a:pPr algn="ctr" indent="0" marL="0">
              <a:buNone/>
            </a:pPr>
            <a:r>
              <a:rPr lang="en-US" sz="700" spc="200" kern="0" dirty="0">
                <a:solidFill>
                  <a:srgbClr val="4A5560"/>
                </a:solidFill>
                <a:latin typeface="Courier New" pitchFamily="34" charset="0"/>
                <a:ea typeface="Courier New" pitchFamily="34" charset="-122"/>
                <a:cs typeface="Courier New" pitchFamily="34" charset="-120"/>
              </a:rPr>
              <a:t>WHITE · BLACK · GREEN VESTMENTS</a:t>
            </a:r>
            <a:endParaRPr lang="en-US" sz="700" dirty="0"/>
          </a:p>
        </p:txBody>
      </p:sp>
      <p:sp>
        <p:nvSpPr>
          <p:cNvPr id="13" name="Text 11"/>
          <p:cNvSpPr/>
          <p:nvPr/>
        </p:nvSpPr>
        <p:spPr>
          <a:xfrm>
            <a:off x="6035040" y="3063240"/>
            <a:ext cx="2331720" cy="457200"/>
          </a:xfrm>
          <a:prstGeom prst="rect">
            <a:avLst/>
          </a:prstGeom>
          <a:noFill/>
          <a:ln/>
        </p:spPr>
        <p:txBody>
          <a:bodyPr wrap="square" lIns="0" tIns="0" rIns="0" bIns="0" rtlCol="0" anchor="ctr"/>
          <a:lstStyle/>
          <a:p>
            <a:pPr algn="ctr" indent="0" marL="0">
              <a:buNone/>
            </a:pPr>
            <a:r>
              <a:rPr lang="en-US" sz="700" spc="100" kern="0" dirty="0">
                <a:solidFill>
                  <a:srgbClr val="4A5560"/>
                </a:solidFill>
                <a:latin typeface="Courier New" pitchFamily="34" charset="0"/>
                <a:ea typeface="Courier New" pitchFamily="34" charset="-122"/>
                <a:cs typeface="Courier New" pitchFamily="34" charset="-120"/>
              </a:rPr>
              <a:t>CROWN-LIKE BRAIDS · RESTRAINED CHROME · CONTROLLED CALM</a:t>
            </a:r>
            <a:endParaRPr lang="en-US" sz="700" dirty="0"/>
          </a:p>
        </p:txBody>
      </p:sp>
      <p:sp>
        <p:nvSpPr>
          <p:cNvPr id="14" name="Text 12"/>
          <p:cNvSpPr/>
          <p:nvPr/>
        </p:nvSpPr>
        <p:spPr>
          <a:xfrm>
            <a:off x="5943600" y="4297680"/>
            <a:ext cx="2560320" cy="228600"/>
          </a:xfrm>
          <a:prstGeom prst="rect">
            <a:avLst/>
          </a:prstGeom>
          <a:noFill/>
          <a:ln/>
        </p:spPr>
        <p:txBody>
          <a:bodyPr wrap="square" lIns="0" tIns="0" rIns="0" bIns="0" rtlCol="0" anchor="ctr"/>
          <a:lstStyle/>
          <a:p>
            <a:pPr indent="0" marL="0">
              <a:buNone/>
            </a:pPr>
            <a:r>
              <a:rPr lang="en-US" sz="750" dirty="0">
                <a:solidFill>
                  <a:srgbClr val="4A5560"/>
                </a:solidFill>
                <a:latin typeface="Courier New" pitchFamily="34" charset="0"/>
                <a:ea typeface="Courier New" pitchFamily="34" charset="-122"/>
                <a:cs typeface="Courier New" pitchFamily="34" charset="-120"/>
              </a:rPr>
              <a:t>Typographic card — no concept art yet</a:t>
            </a:r>
            <a:endParaRPr lang="en-US" sz="750" dirty="0"/>
          </a:p>
        </p:txBody>
      </p:sp>
      <p:sp>
        <p:nvSpPr>
          <p:cNvPr id="25" name="Slide Number Placeholder 0"/>
          <p:cNvSpPr>
            <a:spLocks noGrp="1"/>
          </p:cNvSpPr>
          <p:nvPr>
            <p:ph type="sldNum" sz="quarter" idx="4294967295"/>
          </p:nvPr>
        </p:nvSpPr>
        <p:spPr>
          <a:xfrm>
            <a:off x="8522208" y="486460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4A5560"/>
                </a:solidFill>
                <a:latin typeface="Courier New"/>
                <a:ea typeface="Courier New"/>
                <a:cs typeface="Courier New"/>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7863840" cy="292608"/>
          </a:xfrm>
          <a:prstGeom prst="rect">
            <a:avLst/>
          </a:prstGeom>
          <a:noFill/>
          <a:ln/>
        </p:spPr>
        <p:txBody>
          <a:bodyPr wrap="square" lIns="0" tIns="0" rIns="0" bIns="0" rtlCol="0"/>
          <a:lstStyle/>
          <a:p>
            <a:pPr indent="0" marL="0">
              <a:buNone/>
            </a:pPr>
            <a:r>
              <a:rPr lang="en-US" sz="900" spc="300" kern="0" dirty="0">
                <a:solidFill>
                  <a:srgbClr val="0E4B50"/>
                </a:solidFill>
                <a:latin typeface="Courier New" pitchFamily="34" charset="0"/>
                <a:ea typeface="Courier New" pitchFamily="34" charset="-122"/>
                <a:cs typeface="Courier New" pitchFamily="34" charset="-120"/>
              </a:rPr>
              <a:t>12 · THE OPPOSITION</a:t>
            </a:r>
            <a:endParaRPr lang="en-US" sz="900" dirty="0"/>
          </a:p>
        </p:txBody>
      </p:sp>
      <p:sp>
        <p:nvSpPr>
          <p:cNvPr id="3" name="Text 0"/>
          <p:cNvSpPr/>
          <p:nvPr>
            <p:ph idx="101" type="title" hasCustomPrompt="1"/>
          </p:nvPr>
        </p:nvSpPr>
        <p:spPr>
          <a:xfrm>
            <a:off x="548640" y="658368"/>
            <a:ext cx="8046720" cy="731520"/>
          </a:xfrm>
          <a:prstGeom prst="rect">
            <a:avLst/>
          </a:prstGeom>
          <a:noFill/>
          <a:ln/>
        </p:spPr>
        <p:txBody>
          <a:bodyPr wrap="square" lIns="0" tIns="0" rIns="0" bIns="0" rtlCol="0"/>
          <a:lstStyle/>
          <a:p>
            <a:pPr algn="l" indent="0" marL="0">
              <a:buNone/>
            </a:pPr>
            <a:r>
              <a:rPr lang="en-US" sz="2600" b="1" dirty="0">
                <a:solidFill>
                  <a:srgbClr val="16181A"/>
                </a:solidFill>
                <a:latin typeface="Georgia" pitchFamily="34" charset="0"/>
                <a:ea typeface="Georgia" pitchFamily="34" charset="-122"/>
                <a:cs typeface="Georgia" pitchFamily="34" charset="-120"/>
              </a:rPr>
              <a:t>No cartoon villains. That is the point.</a:t>
            </a:r>
            <a:endParaRPr lang="en-US" sz="2600" dirty="0"/>
          </a:p>
        </p:txBody>
      </p:sp>
      <p:sp>
        <p:nvSpPr>
          <p:cNvPr id="4" name="Text 2"/>
          <p:cNvSpPr/>
          <p:nvPr/>
        </p:nvSpPr>
        <p:spPr>
          <a:xfrm>
            <a:off x="548640" y="1481328"/>
            <a:ext cx="8119872" cy="1078992"/>
          </a:xfrm>
          <a:prstGeom prst="rect">
            <a:avLst/>
          </a:prstGeom>
          <a:solidFill>
            <a:srgbClr val="FFFFFF">
              <a:alpha val="45000"/>
            </a:srgbClr>
          </a:solidFill>
          <a:ln w="9525">
            <a:solidFill>
              <a:srgbClr val="A3212E"/>
            </a:solidFill>
            <a:prstDash val="solid"/>
          </a:ln>
        </p:spPr>
        <p:txBody>
          <a:bodyPr wrap="square" lIns="101600" tIns="101600" rIns="101600" bIns="101600" rtlCol="0" anchor="t"/>
          <a:lstStyle/>
          <a:p>
            <a:pPr algn="l" indent="0" marL="0">
              <a:spcAft>
                <a:spcPts val="400"/>
              </a:spcAft>
              <a:buNone/>
            </a:pPr>
            <a:r>
              <a:rPr lang="en-US" sz="730" spc="100" kern="0" dirty="0">
                <a:solidFill>
                  <a:srgbClr val="4A5560"/>
                </a:solidFill>
                <a:latin typeface="Courier New" pitchFamily="34" charset="0"/>
                <a:ea typeface="Courier New" pitchFamily="34" charset="-122"/>
                <a:cs typeface="Courier New" pitchFamily="34" charset="-120"/>
              </a:rPr>
              <a:t>BLOODLINE CEO · VIN AND NICOLE’S UNCLE · 53</a:t>
            </a:r>
            <a:endParaRPr lang="en-US" sz="730" dirty="0"/>
          </a:p>
          <a:p>
            <a:pPr algn="l" indent="0" marL="0">
              <a:spcAft>
                <a:spcPts val="400"/>
              </a:spcAft>
              <a:buNone/>
            </a:pPr>
            <a:r>
              <a:rPr lang="en-US" sz="1400" b="1" dirty="0">
                <a:solidFill>
                  <a:srgbClr val="16181A"/>
                </a:solidFill>
                <a:latin typeface="Georgia" pitchFamily="34" charset="0"/>
                <a:ea typeface="Georgia" pitchFamily="34" charset="-122"/>
                <a:cs typeface="Georgia" pitchFamily="34" charset="-120"/>
              </a:rPr>
              <a:t>Jaylin Rodríguez</a:t>
            </a:r>
            <a:endParaRPr lang="en-US" sz="730" dirty="0"/>
          </a:p>
          <a:p>
            <a:pPr algn="l" indent="0" marL="0">
              <a:lnSpc>
                <a:spcPct val="112000"/>
              </a:lnSpc>
              <a:buNone/>
            </a:pPr>
            <a:r>
              <a:rPr lang="en-US" sz="950" dirty="0">
                <a:solidFill>
                  <a:srgbClr val="16181A"/>
                </a:solidFill>
                <a:latin typeface="Arial" pitchFamily="34" charset="0"/>
                <a:ea typeface="Arial" pitchFamily="34" charset="-122"/>
                <a:cs typeface="Arial" pitchFamily="34" charset="-120"/>
              </a:rPr>
              <a:t>Most dangerous when he believes he is being merciful — and he is partially correct: unmanaged Resonance really would cost lives. He loves them. That is the problem.</a:t>
            </a:r>
            <a:endParaRPr lang="en-US" sz="730" dirty="0"/>
          </a:p>
        </p:txBody>
      </p:sp>
      <p:sp>
        <p:nvSpPr>
          <p:cNvPr id="5" name="Text 3"/>
          <p:cNvSpPr/>
          <p:nvPr/>
        </p:nvSpPr>
        <p:spPr>
          <a:xfrm>
            <a:off x="548640" y="2743200"/>
            <a:ext cx="2633472" cy="1481328"/>
          </a:xfrm>
          <a:prstGeom prst="rect">
            <a:avLst/>
          </a:prstGeom>
          <a:solidFill>
            <a:srgbClr val="FFFFFF">
              <a:alpha val="45000"/>
            </a:srgbClr>
          </a:solidFill>
          <a:ln w="9525">
            <a:solidFill>
              <a:srgbClr val="9AA0A6"/>
            </a:solidFill>
            <a:prstDash val="solid"/>
          </a:ln>
        </p:spPr>
        <p:txBody>
          <a:bodyPr wrap="square" lIns="101600" tIns="101600" rIns="101600" bIns="101600" rtlCol="0" anchor="t"/>
          <a:lstStyle/>
          <a:p>
            <a:pPr algn="l" indent="0" marL="0">
              <a:spcAft>
                <a:spcPts val="400"/>
              </a:spcAft>
              <a:buNone/>
            </a:pPr>
            <a:r>
              <a:rPr lang="en-US" sz="730" spc="200" kern="0" dirty="0">
                <a:solidFill>
                  <a:srgbClr val="4A5560"/>
                </a:solidFill>
                <a:latin typeface="Courier New" pitchFamily="34" charset="0"/>
                <a:ea typeface="Courier New" pitchFamily="34" charset="-122"/>
                <a:cs typeface="Courier New" pitchFamily="34" charset="-120"/>
              </a:rPr>
              <a:t>THE LAW</a:t>
            </a:r>
            <a:endParaRPr lang="en-US" sz="730" dirty="0"/>
          </a:p>
          <a:p>
            <a:pPr algn="l" indent="0" marL="0">
              <a:spcAft>
                <a:spcPts val="400"/>
              </a:spcAft>
              <a:buNone/>
            </a:pPr>
            <a:r>
              <a:rPr lang="en-US" sz="1250" b="1" dirty="0">
                <a:solidFill>
                  <a:srgbClr val="16181A"/>
                </a:solidFill>
                <a:latin typeface="Georgia" pitchFamily="34" charset="0"/>
                <a:ea typeface="Georgia" pitchFamily="34" charset="-122"/>
                <a:cs typeface="Georgia" pitchFamily="34" charset="-120"/>
              </a:rPr>
              <a:t>Sabine Harrow</a:t>
            </a:r>
            <a:endParaRPr lang="en-US" sz="730" dirty="0"/>
          </a:p>
          <a:p>
            <a:pPr algn="l" indent="0" marL="0">
              <a:lnSpc>
                <a:spcPct val="112000"/>
              </a:lnSpc>
              <a:buNone/>
            </a:pPr>
            <a:r>
              <a:rPr lang="en-US" sz="880" dirty="0">
                <a:solidFill>
                  <a:srgbClr val="16181A"/>
                </a:solidFill>
                <a:latin typeface="Arial" pitchFamily="34" charset="0"/>
                <a:ea typeface="Arial" pitchFamily="34" charset="-122"/>
                <a:cs typeface="Arial" pitchFamily="34" charset="-120"/>
              </a:rPr>
              <a:t>Never argues Vin is property — argues the implants inside him are regulated corporate infrastructure.</a:t>
            </a:r>
            <a:endParaRPr lang="en-US" sz="730" dirty="0"/>
          </a:p>
        </p:txBody>
      </p:sp>
      <p:sp>
        <p:nvSpPr>
          <p:cNvPr id="6" name="Text 4"/>
          <p:cNvSpPr/>
          <p:nvPr/>
        </p:nvSpPr>
        <p:spPr>
          <a:xfrm>
            <a:off x="3310128" y="2743200"/>
            <a:ext cx="2633472" cy="1481328"/>
          </a:xfrm>
          <a:prstGeom prst="rect">
            <a:avLst/>
          </a:prstGeom>
          <a:solidFill>
            <a:srgbClr val="FFFFFF">
              <a:alpha val="45000"/>
            </a:srgbClr>
          </a:solidFill>
          <a:ln w="9525">
            <a:solidFill>
              <a:srgbClr val="9AA0A6"/>
            </a:solidFill>
            <a:prstDash val="solid"/>
          </a:ln>
        </p:spPr>
        <p:txBody>
          <a:bodyPr wrap="square" lIns="101600" tIns="101600" rIns="101600" bIns="101600" rtlCol="0" anchor="t"/>
          <a:lstStyle/>
          <a:p>
            <a:pPr algn="l" indent="0" marL="0">
              <a:spcAft>
                <a:spcPts val="400"/>
              </a:spcAft>
              <a:buNone/>
            </a:pPr>
            <a:r>
              <a:rPr lang="en-US" sz="730" spc="200" kern="0" dirty="0">
                <a:solidFill>
                  <a:srgbClr val="4A5560"/>
                </a:solidFill>
                <a:latin typeface="Courier New" pitchFamily="34" charset="0"/>
                <a:ea typeface="Courier New" pitchFamily="34" charset="-122"/>
                <a:cs typeface="Courier New" pitchFamily="34" charset="-120"/>
              </a:rPr>
              <a:t>THE FORCE</a:t>
            </a:r>
            <a:endParaRPr lang="en-US" sz="730" dirty="0"/>
          </a:p>
          <a:p>
            <a:pPr algn="l" indent="0" marL="0">
              <a:spcAft>
                <a:spcPts val="400"/>
              </a:spcAft>
              <a:buNone/>
            </a:pPr>
            <a:r>
              <a:rPr lang="en-US" sz="1250" b="1" dirty="0">
                <a:solidFill>
                  <a:srgbClr val="16181A"/>
                </a:solidFill>
                <a:latin typeface="Georgia" pitchFamily="34" charset="0"/>
                <a:ea typeface="Georgia" pitchFamily="34" charset="-122"/>
                <a:cs typeface="Georgia" pitchFamily="34" charset="-120"/>
              </a:rPr>
              <a:t>Gideon Rusk</a:t>
            </a:r>
            <a:endParaRPr lang="en-US" sz="730" dirty="0"/>
          </a:p>
          <a:p>
            <a:pPr algn="l" indent="0" marL="0">
              <a:lnSpc>
                <a:spcPct val="112000"/>
              </a:lnSpc>
              <a:buNone/>
            </a:pPr>
            <a:r>
              <a:rPr lang="en-US" sz="880" dirty="0">
                <a:solidFill>
                  <a:srgbClr val="16181A"/>
                </a:solidFill>
                <a:latin typeface="Arial" pitchFamily="34" charset="0"/>
                <a:ea typeface="Arial" pitchFamily="34" charset="-122"/>
                <a:cs typeface="Arial" pitchFamily="34" charset="-120"/>
              </a:rPr>
              <a:t>Security marshal. Recover the asset when practical; terminate when necessary.</a:t>
            </a:r>
            <a:endParaRPr lang="en-US" sz="730" dirty="0"/>
          </a:p>
        </p:txBody>
      </p:sp>
      <p:sp>
        <p:nvSpPr>
          <p:cNvPr id="7" name="Text 5"/>
          <p:cNvSpPr/>
          <p:nvPr/>
        </p:nvSpPr>
        <p:spPr>
          <a:xfrm>
            <a:off x="6071616" y="2743200"/>
            <a:ext cx="2633472" cy="1481328"/>
          </a:xfrm>
          <a:prstGeom prst="rect">
            <a:avLst/>
          </a:prstGeom>
          <a:solidFill>
            <a:srgbClr val="FFFFFF">
              <a:alpha val="45000"/>
            </a:srgbClr>
          </a:solidFill>
          <a:ln w="9525">
            <a:solidFill>
              <a:srgbClr val="9AA0A6"/>
            </a:solidFill>
            <a:prstDash val="solid"/>
          </a:ln>
        </p:spPr>
        <p:txBody>
          <a:bodyPr wrap="square" lIns="101600" tIns="101600" rIns="101600" bIns="101600" rtlCol="0" anchor="t"/>
          <a:lstStyle/>
          <a:p>
            <a:pPr algn="l" indent="0" marL="0">
              <a:spcAft>
                <a:spcPts val="400"/>
              </a:spcAft>
              <a:buNone/>
            </a:pPr>
            <a:r>
              <a:rPr lang="en-US" sz="730" spc="200" kern="0" dirty="0">
                <a:solidFill>
                  <a:srgbClr val="4A5560"/>
                </a:solidFill>
                <a:latin typeface="Courier New" pitchFamily="34" charset="0"/>
                <a:ea typeface="Courier New" pitchFamily="34" charset="-122"/>
                <a:cs typeface="Courier New" pitchFamily="34" charset="-120"/>
              </a:rPr>
              <a:t>THE ARCHITECT</a:t>
            </a:r>
            <a:endParaRPr lang="en-US" sz="730" dirty="0"/>
          </a:p>
          <a:p>
            <a:pPr algn="l" indent="0" marL="0">
              <a:spcAft>
                <a:spcPts val="400"/>
              </a:spcAft>
              <a:buNone/>
            </a:pPr>
            <a:r>
              <a:rPr lang="en-US" sz="1250" b="1" dirty="0">
                <a:solidFill>
                  <a:srgbClr val="16181A"/>
                </a:solidFill>
                <a:latin typeface="Georgia" pitchFamily="34" charset="0"/>
                <a:ea typeface="Georgia" pitchFamily="34" charset="-122"/>
                <a:cs typeface="Georgia" pitchFamily="34" charset="-120"/>
              </a:rPr>
              <a:t>Dr. Lucien Kade</a:t>
            </a:r>
            <a:endParaRPr lang="en-US" sz="730" dirty="0"/>
          </a:p>
          <a:p>
            <a:pPr algn="l" indent="0" marL="0">
              <a:lnSpc>
                <a:spcPct val="112000"/>
              </a:lnSpc>
              <a:buNone/>
            </a:pPr>
            <a:r>
              <a:rPr lang="en-US" sz="880" dirty="0">
                <a:solidFill>
                  <a:srgbClr val="16181A"/>
                </a:solidFill>
                <a:latin typeface="Arial" pitchFamily="34" charset="0"/>
                <a:ea typeface="Arial" pitchFamily="34" charset="-122"/>
                <a:cs typeface="Arial" pitchFamily="34" charset="-120"/>
              </a:rPr>
              <a:t>Wants the three boys fused into one system. “Individuality is an evolutionary inconvenience.”</a:t>
            </a:r>
            <a:endParaRPr lang="en-US" sz="730" dirty="0"/>
          </a:p>
        </p:txBody>
      </p:sp>
      <p:sp>
        <p:nvSpPr>
          <p:cNvPr id="25" name="Slide Number Placeholder 0"/>
          <p:cNvSpPr>
            <a:spLocks noGrp="1"/>
          </p:cNvSpPr>
          <p:nvPr>
            <p:ph type="sldNum" sz="quarter" idx="4294967295"/>
          </p:nvPr>
        </p:nvSpPr>
        <p:spPr>
          <a:xfrm>
            <a:off x="8522208" y="486460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4A5560"/>
                </a:solidFill>
                <a:latin typeface="Courier New"/>
                <a:ea typeface="Courier New"/>
                <a:cs typeface="Courier New"/>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7863840" cy="292608"/>
          </a:xfrm>
          <a:prstGeom prst="rect">
            <a:avLst/>
          </a:prstGeom>
          <a:noFill/>
          <a:ln/>
        </p:spPr>
        <p:txBody>
          <a:bodyPr wrap="square" lIns="0" tIns="0" rIns="0" bIns="0" rtlCol="0"/>
          <a:lstStyle/>
          <a:p>
            <a:pPr indent="0" marL="0">
              <a:buNone/>
            </a:pPr>
            <a:r>
              <a:rPr lang="en-US" sz="900" spc="300" kern="0" dirty="0">
                <a:solidFill>
                  <a:srgbClr val="0E4B50"/>
                </a:solidFill>
                <a:latin typeface="Courier New" pitchFamily="34" charset="0"/>
                <a:ea typeface="Courier New" pitchFamily="34" charset="-122"/>
                <a:cs typeface="Courier New" pitchFamily="34" charset="-120"/>
              </a:rPr>
              <a:t>13 · THE ENGINE</a:t>
            </a:r>
            <a:endParaRPr lang="en-US" sz="900" dirty="0"/>
          </a:p>
        </p:txBody>
      </p:sp>
      <p:sp>
        <p:nvSpPr>
          <p:cNvPr id="3" name="Text 0"/>
          <p:cNvSpPr/>
          <p:nvPr>
            <p:ph idx="101" type="title" hasCustomPrompt="1"/>
          </p:nvPr>
        </p:nvSpPr>
        <p:spPr>
          <a:xfrm>
            <a:off x="548640" y="658368"/>
            <a:ext cx="8046720" cy="731520"/>
          </a:xfrm>
          <a:prstGeom prst="rect">
            <a:avLst/>
          </a:prstGeom>
          <a:noFill/>
          <a:ln/>
        </p:spPr>
        <p:txBody>
          <a:bodyPr wrap="square" lIns="0" tIns="0" rIns="0" bIns="0" rtlCol="0"/>
          <a:lstStyle/>
          <a:p>
            <a:pPr algn="l" indent="0" marL="0">
              <a:buNone/>
            </a:pPr>
            <a:r>
              <a:rPr lang="en-US" sz="2600" b="1" dirty="0">
                <a:solidFill>
                  <a:srgbClr val="16181A"/>
                </a:solidFill>
                <a:latin typeface="Georgia" pitchFamily="34" charset="0"/>
                <a:ea typeface="Georgia" pitchFamily="34" charset="-122"/>
                <a:cs typeface="Georgia" pitchFamily="34" charset="-120"/>
              </a:rPr>
              <a:t>A six-month fuse</a:t>
            </a:r>
            <a:endParaRPr lang="en-US" sz="2600" dirty="0"/>
          </a:p>
        </p:txBody>
      </p:sp>
      <p:sp>
        <p:nvSpPr>
          <p:cNvPr id="4" name="Text 2"/>
          <p:cNvSpPr/>
          <p:nvPr/>
        </p:nvSpPr>
        <p:spPr>
          <a:xfrm>
            <a:off x="548640" y="1481328"/>
            <a:ext cx="3977640" cy="1417320"/>
          </a:xfrm>
          <a:prstGeom prst="rect">
            <a:avLst/>
          </a:prstGeom>
          <a:solidFill>
            <a:srgbClr val="FFFFFF">
              <a:alpha val="45000"/>
            </a:srgbClr>
          </a:solidFill>
          <a:ln w="9525">
            <a:solidFill>
              <a:srgbClr val="A3212E"/>
            </a:solidFill>
            <a:prstDash val="solid"/>
          </a:ln>
        </p:spPr>
        <p:txBody>
          <a:bodyPr wrap="square" lIns="101600" tIns="101600" rIns="101600" bIns="101600" rtlCol="0" anchor="t"/>
          <a:lstStyle/>
          <a:p>
            <a:pPr algn="l" indent="0" marL="0">
              <a:spcAft>
                <a:spcPts val="400"/>
              </a:spcAft>
              <a:buNone/>
            </a:pPr>
            <a:r>
              <a:rPr lang="en-US" sz="730" spc="100" kern="0" dirty="0">
                <a:solidFill>
                  <a:srgbClr val="A3212E"/>
                </a:solidFill>
                <a:latin typeface="Courier New" pitchFamily="34" charset="0"/>
                <a:ea typeface="Courier New" pitchFamily="34" charset="-122"/>
                <a:cs typeface="Courier New" pitchFamily="34" charset="-120"/>
              </a:rPr>
              <a:t>23:48 · MAY 31, 2084 — THE STORY OPENS</a:t>
            </a:r>
            <a:endParaRPr lang="en-US" sz="730" dirty="0"/>
          </a:p>
          <a:p>
            <a:pPr algn="l" indent="0" marL="0">
              <a:spcAft>
                <a:spcPts val="400"/>
              </a:spcAft>
              <a:buNone/>
            </a:pPr>
            <a:r>
              <a:rPr lang="en-US" sz="1350" b="1" dirty="0">
                <a:solidFill>
                  <a:srgbClr val="16181A"/>
                </a:solidFill>
                <a:latin typeface="Georgia" pitchFamily="34" charset="0"/>
                <a:ea typeface="Georgia" pitchFamily="34" charset="-122"/>
                <a:cs typeface="Georgia" pitchFamily="34" charset="-120"/>
              </a:rPr>
              <a:t>The Fourfold Fall</a:t>
            </a:r>
            <a:endParaRPr lang="en-US" sz="730" dirty="0"/>
          </a:p>
          <a:p>
            <a:pPr algn="l" indent="0" marL="0">
              <a:lnSpc>
                <a:spcPct val="112000"/>
              </a:lnSpc>
              <a:buNone/>
            </a:pPr>
            <a:r>
              <a:rPr lang="en-US" sz="900" dirty="0">
                <a:solidFill>
                  <a:srgbClr val="16181A"/>
                </a:solidFill>
                <a:latin typeface="Arial" pitchFamily="34" charset="0"/>
                <a:ea typeface="Arial" pitchFamily="34" charset="-122"/>
                <a:cs typeface="Arial" pitchFamily="34" charset="-120"/>
              </a:rPr>
              <a:t>Orbital nuclear strikes on Washington, Night City, Nova York, and Texas. Domingo survives — barely, and not by one corporation’s heroism.</a:t>
            </a:r>
            <a:endParaRPr lang="en-US" sz="730" dirty="0"/>
          </a:p>
        </p:txBody>
      </p:sp>
      <p:sp>
        <p:nvSpPr>
          <p:cNvPr id="5" name="Text 3"/>
          <p:cNvSpPr/>
          <p:nvPr/>
        </p:nvSpPr>
        <p:spPr>
          <a:xfrm>
            <a:off x="4690872" y="1481328"/>
            <a:ext cx="3977640" cy="1417320"/>
          </a:xfrm>
          <a:prstGeom prst="rect">
            <a:avLst/>
          </a:prstGeom>
          <a:solidFill>
            <a:srgbClr val="FFFFFF">
              <a:alpha val="45000"/>
            </a:srgbClr>
          </a:solidFill>
          <a:ln w="9525">
            <a:solidFill>
              <a:srgbClr val="9AA0A6"/>
            </a:solidFill>
            <a:prstDash val="solid"/>
          </a:ln>
        </p:spPr>
        <p:txBody>
          <a:bodyPr wrap="square" lIns="101600" tIns="101600" rIns="101600" bIns="101600" rtlCol="0" anchor="t"/>
          <a:lstStyle/>
          <a:p>
            <a:pPr algn="l" indent="0" marL="0">
              <a:spcAft>
                <a:spcPts val="400"/>
              </a:spcAft>
              <a:buNone/>
            </a:pPr>
            <a:r>
              <a:rPr lang="en-US" sz="730" spc="100" kern="0" dirty="0">
                <a:solidFill>
                  <a:srgbClr val="4A5560"/>
                </a:solidFill>
                <a:latin typeface="Courier New" pitchFamily="34" charset="0"/>
                <a:ea typeface="Courier New" pitchFamily="34" charset="-122"/>
                <a:cs typeface="Courier New" pitchFamily="34" charset="-120"/>
              </a:rPr>
              <a:t>MIDNIGHT · DEC 31, 2084 — THE STORY ENDS</a:t>
            </a:r>
            <a:endParaRPr lang="en-US" sz="730" dirty="0"/>
          </a:p>
          <a:p>
            <a:pPr algn="l" indent="0" marL="0">
              <a:spcAft>
                <a:spcPts val="400"/>
              </a:spcAft>
              <a:buNone/>
            </a:pPr>
            <a:r>
              <a:rPr lang="en-US" sz="1350" b="1" dirty="0">
                <a:solidFill>
                  <a:srgbClr val="16181A"/>
                </a:solidFill>
                <a:latin typeface="Georgia" pitchFamily="34" charset="0"/>
                <a:ea typeface="Georgia" pitchFamily="34" charset="-122"/>
                <a:cs typeface="Georgia" pitchFamily="34" charset="-120"/>
              </a:rPr>
              <a:t>The Compact expires</a:t>
            </a:r>
            <a:endParaRPr lang="en-US" sz="730" dirty="0"/>
          </a:p>
          <a:p>
            <a:pPr algn="l" indent="0" marL="0">
              <a:lnSpc>
                <a:spcPct val="112000"/>
              </a:lnSpc>
              <a:buNone/>
            </a:pPr>
            <a:r>
              <a:rPr lang="en-US" sz="900" dirty="0">
                <a:solidFill>
                  <a:srgbClr val="16181A"/>
                </a:solidFill>
                <a:latin typeface="Arial" pitchFamily="34" charset="0"/>
                <a:ea typeface="Arial" pitchFamily="34" charset="-122"/>
                <a:cs typeface="Arial" pitchFamily="34" charset="-120"/>
              </a:rPr>
              <a:t>Bloodline’s emergency charter runs out as the city’s independence referendum lands. Three legal orders collide at midnight.</a:t>
            </a:r>
            <a:endParaRPr lang="en-US" sz="730" dirty="0"/>
          </a:p>
        </p:txBody>
      </p:sp>
      <p:sp>
        <p:nvSpPr>
          <p:cNvPr id="6" name="Text 4"/>
          <p:cNvSpPr/>
          <p:nvPr/>
        </p:nvSpPr>
        <p:spPr>
          <a:xfrm>
            <a:off x="548640" y="3090672"/>
            <a:ext cx="8046720" cy="320040"/>
          </a:xfrm>
          <a:prstGeom prst="rect">
            <a:avLst/>
          </a:prstGeom>
          <a:noFill/>
          <a:ln/>
        </p:spPr>
        <p:txBody>
          <a:bodyPr wrap="square" lIns="0" tIns="0" rIns="0" bIns="0" rtlCol="0" anchor="ctr"/>
          <a:lstStyle/>
          <a:p>
            <a:pPr indent="0" marL="0">
              <a:buNone/>
            </a:pPr>
            <a:r>
              <a:rPr lang="en-US" sz="1250" b="1" dirty="0">
                <a:solidFill>
                  <a:srgbClr val="16181A"/>
                </a:solidFill>
                <a:latin typeface="Arial" pitchFamily="34" charset="0"/>
                <a:ea typeface="Arial" pitchFamily="34" charset="-122"/>
                <a:cs typeface="Arial" pitchFamily="34" charset="-120"/>
              </a:rPr>
              <a:t>One boy. Six claims:</a:t>
            </a:r>
            <a:endParaRPr lang="en-US" sz="1250" dirty="0"/>
          </a:p>
        </p:txBody>
      </p:sp>
      <p:sp>
        <p:nvSpPr>
          <p:cNvPr id="7" name="Text 5"/>
          <p:cNvSpPr/>
          <p:nvPr/>
        </p:nvSpPr>
        <p:spPr>
          <a:xfrm>
            <a:off x="548640" y="3493008"/>
            <a:ext cx="2633472" cy="457200"/>
          </a:xfrm>
          <a:prstGeom prst="rect">
            <a:avLst/>
          </a:prstGeom>
          <a:solidFill>
            <a:srgbClr val="FFFFFF">
              <a:alpha val="38000"/>
            </a:srgbClr>
          </a:solidFill>
          <a:ln w="9525">
            <a:solidFill>
              <a:srgbClr val="0E4B50"/>
            </a:solidFill>
          </a:ln>
        </p:spPr>
        <p:txBody>
          <a:bodyPr wrap="square" lIns="38100" tIns="38100" rIns="38100" bIns="38100" rtlCol="0" anchor="ctr"/>
          <a:lstStyle/>
          <a:p>
            <a:pPr algn="ctr" indent="0" marL="0">
              <a:buNone/>
            </a:pPr>
            <a:r>
              <a:rPr lang="en-US" sz="740" dirty="0">
                <a:solidFill>
                  <a:srgbClr val="0E4B50"/>
                </a:solidFill>
                <a:latin typeface="Courier New" pitchFamily="34" charset="0"/>
                <a:ea typeface="Courier New" pitchFamily="34" charset="-122"/>
                <a:cs typeface="Courier New" pitchFamily="34" charset="-120"/>
              </a:rPr>
              <a:t>INFRASTRUCTURE — Bloodline</a:t>
            </a:r>
            <a:endParaRPr lang="en-US" sz="740" dirty="0"/>
          </a:p>
        </p:txBody>
      </p:sp>
      <p:sp>
        <p:nvSpPr>
          <p:cNvPr id="8" name="Text 6"/>
          <p:cNvSpPr/>
          <p:nvPr/>
        </p:nvSpPr>
        <p:spPr>
          <a:xfrm>
            <a:off x="3310128" y="3493008"/>
            <a:ext cx="2633472" cy="457200"/>
          </a:xfrm>
          <a:prstGeom prst="rect">
            <a:avLst/>
          </a:prstGeom>
          <a:solidFill>
            <a:srgbClr val="FFFFFF">
              <a:alpha val="38000"/>
            </a:srgbClr>
          </a:solidFill>
          <a:ln w="9525">
            <a:solidFill>
              <a:srgbClr val="0E4B50"/>
            </a:solidFill>
          </a:ln>
        </p:spPr>
        <p:txBody>
          <a:bodyPr wrap="square" lIns="38100" tIns="38100" rIns="38100" bIns="38100" rtlCol="0" anchor="ctr"/>
          <a:lstStyle/>
          <a:p>
            <a:pPr algn="ctr" indent="0" marL="0">
              <a:buNone/>
            </a:pPr>
            <a:r>
              <a:rPr lang="en-US" sz="740" dirty="0">
                <a:solidFill>
                  <a:srgbClr val="0E4B50"/>
                </a:solidFill>
                <a:latin typeface="Courier New" pitchFamily="34" charset="0"/>
                <a:ea typeface="Courier New" pitchFamily="34" charset="-122"/>
                <a:cs typeface="Courier New" pitchFamily="34" charset="-120"/>
              </a:rPr>
              <a:t>EVIDENCE — Texas</a:t>
            </a:r>
            <a:endParaRPr lang="en-US" sz="740" dirty="0"/>
          </a:p>
        </p:txBody>
      </p:sp>
      <p:sp>
        <p:nvSpPr>
          <p:cNvPr id="9" name="Text 7"/>
          <p:cNvSpPr/>
          <p:nvPr/>
        </p:nvSpPr>
        <p:spPr>
          <a:xfrm>
            <a:off x="6071616" y="3493008"/>
            <a:ext cx="2633472" cy="457200"/>
          </a:xfrm>
          <a:prstGeom prst="rect">
            <a:avLst/>
          </a:prstGeom>
          <a:solidFill>
            <a:srgbClr val="FFFFFF">
              <a:alpha val="38000"/>
            </a:srgbClr>
          </a:solidFill>
          <a:ln w="9525">
            <a:solidFill>
              <a:srgbClr val="0E4B50"/>
            </a:solidFill>
          </a:ln>
        </p:spPr>
        <p:txBody>
          <a:bodyPr wrap="square" lIns="38100" tIns="38100" rIns="38100" bIns="38100" rtlCol="0" anchor="ctr"/>
          <a:lstStyle/>
          <a:p>
            <a:pPr algn="ctr" indent="0" marL="0">
              <a:buNone/>
            </a:pPr>
            <a:r>
              <a:rPr lang="en-US" sz="740" dirty="0">
                <a:solidFill>
                  <a:srgbClr val="0E4B50"/>
                </a:solidFill>
                <a:latin typeface="Courier New" pitchFamily="34" charset="0"/>
                <a:ea typeface="Courier New" pitchFamily="34" charset="-122"/>
                <a:cs typeface="Courier New" pitchFamily="34" charset="-120"/>
              </a:rPr>
              <a:t>LEVERAGE — Domingo</a:t>
            </a:r>
            <a:endParaRPr lang="en-US" sz="740" dirty="0"/>
          </a:p>
        </p:txBody>
      </p:sp>
      <p:sp>
        <p:nvSpPr>
          <p:cNvPr id="10" name="Text 8"/>
          <p:cNvSpPr/>
          <p:nvPr/>
        </p:nvSpPr>
        <p:spPr>
          <a:xfrm>
            <a:off x="548640" y="4059936"/>
            <a:ext cx="2633472" cy="457200"/>
          </a:xfrm>
          <a:prstGeom prst="rect">
            <a:avLst/>
          </a:prstGeom>
          <a:solidFill>
            <a:srgbClr val="FFFFFF">
              <a:alpha val="38000"/>
            </a:srgbClr>
          </a:solidFill>
          <a:ln w="9525">
            <a:solidFill>
              <a:srgbClr val="0E4B50"/>
            </a:solidFill>
          </a:ln>
        </p:spPr>
        <p:txBody>
          <a:bodyPr wrap="square" lIns="38100" tIns="38100" rIns="38100" bIns="38100" rtlCol="0" anchor="ctr"/>
          <a:lstStyle/>
          <a:p>
            <a:pPr algn="ctr" indent="0" marL="0">
              <a:buNone/>
            </a:pPr>
            <a:r>
              <a:rPr lang="en-US" sz="740" dirty="0">
                <a:solidFill>
                  <a:srgbClr val="0E4B50"/>
                </a:solidFill>
                <a:latin typeface="Courier New" pitchFamily="34" charset="0"/>
                <a:ea typeface="Courier New" pitchFamily="34" charset="-122"/>
                <a:cs typeface="Courier New" pitchFamily="34" charset="-120"/>
              </a:rPr>
              <a:t>TESTIMONY — Free Current, the Resonator rights movement</a:t>
            </a:r>
            <a:endParaRPr lang="en-US" sz="740" dirty="0"/>
          </a:p>
        </p:txBody>
      </p:sp>
      <p:sp>
        <p:nvSpPr>
          <p:cNvPr id="11" name="Text 9"/>
          <p:cNvSpPr/>
          <p:nvPr/>
        </p:nvSpPr>
        <p:spPr>
          <a:xfrm>
            <a:off x="3310128" y="4059936"/>
            <a:ext cx="2633472" cy="457200"/>
          </a:xfrm>
          <a:prstGeom prst="rect">
            <a:avLst/>
          </a:prstGeom>
          <a:solidFill>
            <a:srgbClr val="FFFFFF">
              <a:alpha val="38000"/>
            </a:srgbClr>
          </a:solidFill>
          <a:ln w="9525">
            <a:solidFill>
              <a:srgbClr val="0E4B50"/>
            </a:solidFill>
          </a:ln>
        </p:spPr>
        <p:txBody>
          <a:bodyPr wrap="square" lIns="38100" tIns="38100" rIns="38100" bIns="38100" rtlCol="0" anchor="ctr"/>
          <a:lstStyle/>
          <a:p>
            <a:pPr algn="ctr" indent="0" marL="0">
              <a:buNone/>
            </a:pPr>
            <a:r>
              <a:rPr lang="en-US" sz="740" dirty="0">
                <a:solidFill>
                  <a:srgbClr val="0E4B50"/>
                </a:solidFill>
                <a:latin typeface="Courier New" pitchFamily="34" charset="0"/>
                <a:ea typeface="Courier New" pitchFamily="34" charset="-122"/>
                <a:cs typeface="Courier New" pitchFamily="34" charset="-120"/>
              </a:rPr>
              <a:t>REVELATION — the Serpentine</a:t>
            </a:r>
            <a:endParaRPr lang="en-US" sz="740" dirty="0"/>
          </a:p>
        </p:txBody>
      </p:sp>
      <p:sp>
        <p:nvSpPr>
          <p:cNvPr id="12" name="Text 10"/>
          <p:cNvSpPr/>
          <p:nvPr/>
        </p:nvSpPr>
        <p:spPr>
          <a:xfrm>
            <a:off x="6071616" y="4059936"/>
            <a:ext cx="2633472" cy="457200"/>
          </a:xfrm>
          <a:prstGeom prst="rect">
            <a:avLst/>
          </a:prstGeom>
          <a:solidFill>
            <a:srgbClr val="FFFFFF">
              <a:alpha val="38000"/>
            </a:srgbClr>
          </a:solidFill>
          <a:ln w="9525">
            <a:solidFill>
              <a:srgbClr val="C9A24B"/>
            </a:solidFill>
          </a:ln>
        </p:spPr>
        <p:txBody>
          <a:bodyPr wrap="square" lIns="38100" tIns="38100" rIns="38100" bIns="38100" rtlCol="0" anchor="ctr"/>
          <a:lstStyle/>
          <a:p>
            <a:pPr algn="ctr" indent="0" marL="0">
              <a:buNone/>
            </a:pPr>
            <a:r>
              <a:rPr lang="en-US" sz="740" dirty="0">
                <a:solidFill>
                  <a:srgbClr val="16181A"/>
                </a:solidFill>
                <a:latin typeface="Courier New" pitchFamily="34" charset="0"/>
                <a:ea typeface="Courier New" pitchFamily="34" charset="-122"/>
                <a:cs typeface="Courier New" pitchFamily="34" charset="-120"/>
              </a:rPr>
              <a:t>FAMILY — the mothers of the dead</a:t>
            </a:r>
            <a:endParaRPr lang="en-US" sz="740" dirty="0"/>
          </a:p>
        </p:txBody>
      </p:sp>
      <p:sp>
        <p:nvSpPr>
          <p:cNvPr id="25" name="Slide Number Placeholder 0"/>
          <p:cNvSpPr>
            <a:spLocks noGrp="1"/>
          </p:cNvSpPr>
          <p:nvPr>
            <p:ph type="sldNum" sz="quarter" idx="4294967295"/>
          </p:nvPr>
        </p:nvSpPr>
        <p:spPr>
          <a:xfrm>
            <a:off x="8522208" y="486460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4A5560"/>
                </a:solidFill>
                <a:latin typeface="Courier New"/>
                <a:ea typeface="Courier New"/>
                <a:cs typeface="Courier New"/>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7863840" cy="292608"/>
          </a:xfrm>
          <a:prstGeom prst="rect">
            <a:avLst/>
          </a:prstGeom>
          <a:noFill/>
          <a:ln/>
        </p:spPr>
        <p:txBody>
          <a:bodyPr wrap="square" lIns="0" tIns="0" rIns="0" bIns="0" rtlCol="0"/>
          <a:lstStyle/>
          <a:p>
            <a:pPr indent="0" marL="0">
              <a:buNone/>
            </a:pPr>
            <a:r>
              <a:rPr lang="en-US" sz="900" spc="300" kern="0" dirty="0">
                <a:solidFill>
                  <a:srgbClr val="0E4B50"/>
                </a:solidFill>
                <a:latin typeface="Courier New" pitchFamily="34" charset="0"/>
                <a:ea typeface="Courier New" pitchFamily="34" charset="-122"/>
                <a:cs typeface="Courier New" pitchFamily="34" charset="-120"/>
              </a:rPr>
              <a:t>14 · STRUCTURE</a:t>
            </a:r>
            <a:endParaRPr lang="en-US" sz="900" dirty="0"/>
          </a:p>
        </p:txBody>
      </p:sp>
      <p:sp>
        <p:nvSpPr>
          <p:cNvPr id="3" name="Text 0"/>
          <p:cNvSpPr/>
          <p:nvPr>
            <p:ph idx="101" type="title" hasCustomPrompt="1"/>
          </p:nvPr>
        </p:nvSpPr>
        <p:spPr>
          <a:xfrm>
            <a:off x="548640" y="658368"/>
            <a:ext cx="8046720" cy="731520"/>
          </a:xfrm>
          <a:prstGeom prst="rect">
            <a:avLst/>
          </a:prstGeom>
          <a:noFill/>
          <a:ln/>
        </p:spPr>
        <p:txBody>
          <a:bodyPr wrap="square" lIns="0" tIns="0" rIns="0" bIns="0" rtlCol="0"/>
          <a:lstStyle/>
          <a:p>
            <a:pPr algn="l" indent="0" marL="0">
              <a:buNone/>
            </a:pPr>
            <a:r>
              <a:rPr lang="en-US" sz="2600" b="1" dirty="0">
                <a:solidFill>
                  <a:srgbClr val="16181A"/>
                </a:solidFill>
                <a:latin typeface="Georgia" pitchFamily="34" charset="0"/>
                <a:ea typeface="Georgia" pitchFamily="34" charset="-122"/>
                <a:cs typeface="Georgia" pitchFamily="34" charset="-120"/>
              </a:rPr>
              <a:t>Seven parts. One clock.</a:t>
            </a:r>
            <a:endParaRPr lang="en-US" sz="2600" dirty="0"/>
          </a:p>
        </p:txBody>
      </p:sp>
      <p:sp>
        <p:nvSpPr>
          <p:cNvPr id="4" name="Shape 2"/>
          <p:cNvSpPr/>
          <p:nvPr/>
        </p:nvSpPr>
        <p:spPr>
          <a:xfrm>
            <a:off x="548640" y="2057400"/>
            <a:ext cx="8046720" cy="0"/>
          </a:xfrm>
          <a:prstGeom prst="line">
            <a:avLst/>
          </a:prstGeom>
          <a:noFill/>
          <a:ln w="19050">
            <a:solidFill>
              <a:srgbClr val="C9A24B"/>
            </a:solidFill>
            <a:prstDash val="solid"/>
          </a:ln>
        </p:spPr>
      </p:sp>
      <p:sp>
        <p:nvSpPr>
          <p:cNvPr id="5" name="Shape 3"/>
          <p:cNvSpPr/>
          <p:nvPr/>
        </p:nvSpPr>
        <p:spPr>
          <a:xfrm>
            <a:off x="676656" y="2020824"/>
            <a:ext cx="73152" cy="73152"/>
          </a:xfrm>
          <a:prstGeom prst="ellipse">
            <a:avLst/>
          </a:prstGeom>
          <a:solidFill>
            <a:srgbClr val="C9A24B"/>
          </a:solidFill>
          <a:ln w="6350">
            <a:solidFill>
              <a:srgbClr val="C9A24B"/>
            </a:solidFill>
            <a:prstDash val="solid"/>
          </a:ln>
        </p:spPr>
      </p:sp>
      <p:sp>
        <p:nvSpPr>
          <p:cNvPr id="6" name="Text 4"/>
          <p:cNvSpPr/>
          <p:nvPr/>
        </p:nvSpPr>
        <p:spPr>
          <a:xfrm>
            <a:off x="164592" y="2176272"/>
            <a:ext cx="1097280" cy="256032"/>
          </a:xfrm>
          <a:prstGeom prst="rect">
            <a:avLst/>
          </a:prstGeom>
          <a:noFill/>
          <a:ln/>
        </p:spPr>
        <p:txBody>
          <a:bodyPr wrap="square" lIns="0" tIns="0" rIns="0" bIns="0" rtlCol="0" anchor="ctr"/>
          <a:lstStyle/>
          <a:p>
            <a:pPr algn="ctr" indent="0" marL="0">
              <a:buNone/>
            </a:pPr>
            <a:r>
              <a:rPr lang="en-US" sz="1100" b="1" dirty="0">
                <a:solidFill>
                  <a:srgbClr val="16181A"/>
                </a:solidFill>
                <a:latin typeface="Courier New" pitchFamily="34" charset="0"/>
                <a:ea typeface="Courier New" pitchFamily="34" charset="-122"/>
                <a:cs typeface="Courier New" pitchFamily="34" charset="-120"/>
              </a:rPr>
              <a:t>I</a:t>
            </a:r>
            <a:endParaRPr lang="en-US" sz="1100" dirty="0"/>
          </a:p>
        </p:txBody>
      </p:sp>
      <p:sp>
        <p:nvSpPr>
          <p:cNvPr id="7" name="Text 5"/>
          <p:cNvSpPr/>
          <p:nvPr/>
        </p:nvSpPr>
        <p:spPr>
          <a:xfrm>
            <a:off x="137160" y="2432304"/>
            <a:ext cx="1152144" cy="457200"/>
          </a:xfrm>
          <a:prstGeom prst="rect">
            <a:avLst/>
          </a:prstGeom>
          <a:noFill/>
          <a:ln/>
        </p:spPr>
        <p:txBody>
          <a:bodyPr wrap="square" lIns="0" tIns="0" rIns="0" bIns="0" rtlCol="0" anchor="ctr"/>
          <a:lstStyle/>
          <a:p>
            <a:pPr algn="ctr" indent="0" marL="0">
              <a:buNone/>
            </a:pPr>
            <a:r>
              <a:rPr lang="en-US" sz="680" dirty="0">
                <a:solidFill>
                  <a:srgbClr val="16181A"/>
                </a:solidFill>
                <a:latin typeface="Courier New" pitchFamily="34" charset="0"/>
                <a:ea typeface="Courier New" pitchFamily="34" charset="-122"/>
                <a:cs typeface="Courier New" pitchFamily="34" charset="-120"/>
              </a:rPr>
              <a:t>THE BREAK</a:t>
            </a:r>
            <a:endParaRPr lang="en-US" sz="680" dirty="0"/>
          </a:p>
        </p:txBody>
      </p:sp>
      <p:sp>
        <p:nvSpPr>
          <p:cNvPr id="8" name="Text 6"/>
          <p:cNvSpPr/>
          <p:nvPr/>
        </p:nvSpPr>
        <p:spPr>
          <a:xfrm>
            <a:off x="137160" y="2852928"/>
            <a:ext cx="1152144" cy="228600"/>
          </a:xfrm>
          <a:prstGeom prst="rect">
            <a:avLst/>
          </a:prstGeom>
          <a:noFill/>
          <a:ln/>
        </p:spPr>
        <p:txBody>
          <a:bodyPr wrap="square" lIns="0" tIns="0" rIns="0" bIns="0" rtlCol="0" anchor="ctr"/>
          <a:lstStyle/>
          <a:p>
            <a:pPr algn="ctr" indent="0" marL="0">
              <a:buNone/>
            </a:pPr>
            <a:r>
              <a:rPr lang="en-US" sz="640" dirty="0">
                <a:solidFill>
                  <a:srgbClr val="4A5560"/>
                </a:solidFill>
                <a:latin typeface="Courier New" pitchFamily="34" charset="0"/>
                <a:ea typeface="Courier New" pitchFamily="34" charset="-122"/>
                <a:cs typeface="Courier New" pitchFamily="34" charset="-120"/>
              </a:rPr>
              <a:t>MAY 31–JUN 10</a:t>
            </a:r>
            <a:endParaRPr lang="en-US" sz="640" dirty="0"/>
          </a:p>
        </p:txBody>
      </p:sp>
      <p:sp>
        <p:nvSpPr>
          <p:cNvPr id="9" name="Shape 7"/>
          <p:cNvSpPr/>
          <p:nvPr/>
        </p:nvSpPr>
        <p:spPr>
          <a:xfrm>
            <a:off x="1837944" y="2020824"/>
            <a:ext cx="73152" cy="73152"/>
          </a:xfrm>
          <a:prstGeom prst="ellipse">
            <a:avLst/>
          </a:prstGeom>
          <a:solidFill>
            <a:srgbClr val="C9A24B"/>
          </a:solidFill>
          <a:ln w="6350">
            <a:solidFill>
              <a:srgbClr val="C9A24B"/>
            </a:solidFill>
            <a:prstDash val="solid"/>
          </a:ln>
        </p:spPr>
      </p:sp>
      <p:sp>
        <p:nvSpPr>
          <p:cNvPr id="10" name="Text 8"/>
          <p:cNvSpPr/>
          <p:nvPr/>
        </p:nvSpPr>
        <p:spPr>
          <a:xfrm>
            <a:off x="1325880" y="2176272"/>
            <a:ext cx="1097280" cy="256032"/>
          </a:xfrm>
          <a:prstGeom prst="rect">
            <a:avLst/>
          </a:prstGeom>
          <a:noFill/>
          <a:ln/>
        </p:spPr>
        <p:txBody>
          <a:bodyPr wrap="square" lIns="0" tIns="0" rIns="0" bIns="0" rtlCol="0" anchor="ctr"/>
          <a:lstStyle/>
          <a:p>
            <a:pPr algn="ctr" indent="0" marL="0">
              <a:buNone/>
            </a:pPr>
            <a:r>
              <a:rPr lang="en-US" sz="1100" b="1" dirty="0">
                <a:solidFill>
                  <a:srgbClr val="16181A"/>
                </a:solidFill>
                <a:latin typeface="Courier New" pitchFamily="34" charset="0"/>
                <a:ea typeface="Courier New" pitchFamily="34" charset="-122"/>
                <a:cs typeface="Courier New" pitchFamily="34" charset="-120"/>
              </a:rPr>
              <a:t>II</a:t>
            </a:r>
            <a:endParaRPr lang="en-US" sz="1100" dirty="0"/>
          </a:p>
        </p:txBody>
      </p:sp>
      <p:sp>
        <p:nvSpPr>
          <p:cNvPr id="11" name="Text 9"/>
          <p:cNvSpPr/>
          <p:nvPr/>
        </p:nvSpPr>
        <p:spPr>
          <a:xfrm>
            <a:off x="1298448" y="2432304"/>
            <a:ext cx="1152144" cy="457200"/>
          </a:xfrm>
          <a:prstGeom prst="rect">
            <a:avLst/>
          </a:prstGeom>
          <a:noFill/>
          <a:ln/>
        </p:spPr>
        <p:txBody>
          <a:bodyPr wrap="square" lIns="0" tIns="0" rIns="0" bIns="0" rtlCol="0" anchor="ctr"/>
          <a:lstStyle/>
          <a:p>
            <a:pPr algn="ctr" indent="0" marL="0">
              <a:buNone/>
            </a:pPr>
            <a:r>
              <a:rPr lang="en-US" sz="680" dirty="0">
                <a:solidFill>
                  <a:srgbClr val="16181A"/>
                </a:solidFill>
                <a:latin typeface="Courier New" pitchFamily="34" charset="0"/>
                <a:ea typeface="Courier New" pitchFamily="34" charset="-122"/>
                <a:cs typeface="Courier New" pitchFamily="34" charset="-120"/>
              </a:rPr>
              <a:t>SEVEN PASSPORTS</a:t>
            </a:r>
            <a:endParaRPr lang="en-US" sz="680" dirty="0"/>
          </a:p>
        </p:txBody>
      </p:sp>
      <p:sp>
        <p:nvSpPr>
          <p:cNvPr id="12" name="Text 10"/>
          <p:cNvSpPr/>
          <p:nvPr/>
        </p:nvSpPr>
        <p:spPr>
          <a:xfrm>
            <a:off x="1298448" y="2852928"/>
            <a:ext cx="1152144" cy="228600"/>
          </a:xfrm>
          <a:prstGeom prst="rect">
            <a:avLst/>
          </a:prstGeom>
          <a:noFill/>
          <a:ln/>
        </p:spPr>
        <p:txBody>
          <a:bodyPr wrap="square" lIns="0" tIns="0" rIns="0" bIns="0" rtlCol="0" anchor="ctr"/>
          <a:lstStyle/>
          <a:p>
            <a:pPr algn="ctr" indent="0" marL="0">
              <a:buNone/>
            </a:pPr>
            <a:r>
              <a:rPr lang="en-US" sz="640" dirty="0">
                <a:solidFill>
                  <a:srgbClr val="4A5560"/>
                </a:solidFill>
                <a:latin typeface="Courier New" pitchFamily="34" charset="0"/>
                <a:ea typeface="Courier New" pitchFamily="34" charset="-122"/>
                <a:cs typeface="Courier New" pitchFamily="34" charset="-120"/>
              </a:rPr>
              <a:t>JUN–JUL</a:t>
            </a:r>
            <a:endParaRPr lang="en-US" sz="640" dirty="0"/>
          </a:p>
        </p:txBody>
      </p:sp>
      <p:sp>
        <p:nvSpPr>
          <p:cNvPr id="13" name="Shape 11"/>
          <p:cNvSpPr/>
          <p:nvPr/>
        </p:nvSpPr>
        <p:spPr>
          <a:xfrm>
            <a:off x="2999232" y="2020824"/>
            <a:ext cx="73152" cy="73152"/>
          </a:xfrm>
          <a:prstGeom prst="ellipse">
            <a:avLst/>
          </a:prstGeom>
          <a:solidFill>
            <a:srgbClr val="C9A24B"/>
          </a:solidFill>
          <a:ln w="6350">
            <a:solidFill>
              <a:srgbClr val="C9A24B"/>
            </a:solidFill>
            <a:prstDash val="solid"/>
          </a:ln>
        </p:spPr>
      </p:sp>
      <p:sp>
        <p:nvSpPr>
          <p:cNvPr id="14" name="Text 12"/>
          <p:cNvSpPr/>
          <p:nvPr/>
        </p:nvSpPr>
        <p:spPr>
          <a:xfrm>
            <a:off x="2487168" y="2176272"/>
            <a:ext cx="1097280" cy="256032"/>
          </a:xfrm>
          <a:prstGeom prst="rect">
            <a:avLst/>
          </a:prstGeom>
          <a:noFill/>
          <a:ln/>
        </p:spPr>
        <p:txBody>
          <a:bodyPr wrap="square" lIns="0" tIns="0" rIns="0" bIns="0" rtlCol="0" anchor="ctr"/>
          <a:lstStyle/>
          <a:p>
            <a:pPr algn="ctr" indent="0" marL="0">
              <a:buNone/>
            </a:pPr>
            <a:r>
              <a:rPr lang="en-US" sz="1100" b="1" dirty="0">
                <a:solidFill>
                  <a:srgbClr val="16181A"/>
                </a:solidFill>
                <a:latin typeface="Courier New" pitchFamily="34" charset="0"/>
                <a:ea typeface="Courier New" pitchFamily="34" charset="-122"/>
                <a:cs typeface="Courier New" pitchFamily="34" charset="-120"/>
              </a:rPr>
              <a:t>III</a:t>
            </a:r>
            <a:endParaRPr lang="en-US" sz="1100" dirty="0"/>
          </a:p>
        </p:txBody>
      </p:sp>
      <p:sp>
        <p:nvSpPr>
          <p:cNvPr id="15" name="Text 13"/>
          <p:cNvSpPr/>
          <p:nvPr/>
        </p:nvSpPr>
        <p:spPr>
          <a:xfrm>
            <a:off x="2459736" y="2432304"/>
            <a:ext cx="1152144" cy="457200"/>
          </a:xfrm>
          <a:prstGeom prst="rect">
            <a:avLst/>
          </a:prstGeom>
          <a:noFill/>
          <a:ln/>
        </p:spPr>
        <p:txBody>
          <a:bodyPr wrap="square" lIns="0" tIns="0" rIns="0" bIns="0" rtlCol="0" anchor="ctr"/>
          <a:lstStyle/>
          <a:p>
            <a:pPr algn="ctr" indent="0" marL="0">
              <a:buNone/>
            </a:pPr>
            <a:r>
              <a:rPr lang="en-US" sz="680" dirty="0">
                <a:solidFill>
                  <a:srgbClr val="16181A"/>
                </a:solidFill>
                <a:latin typeface="Courier New" pitchFamily="34" charset="0"/>
                <a:ea typeface="Courier New" pitchFamily="34" charset="-122"/>
                <a:cs typeface="Courier New" pitchFamily="34" charset="-120"/>
              </a:rPr>
              <a:t>REPRIEVE</a:t>
            </a:r>
            <a:endParaRPr lang="en-US" sz="680" dirty="0"/>
          </a:p>
        </p:txBody>
      </p:sp>
      <p:sp>
        <p:nvSpPr>
          <p:cNvPr id="16" name="Text 14"/>
          <p:cNvSpPr/>
          <p:nvPr/>
        </p:nvSpPr>
        <p:spPr>
          <a:xfrm>
            <a:off x="2459736" y="2852928"/>
            <a:ext cx="1152144" cy="228600"/>
          </a:xfrm>
          <a:prstGeom prst="rect">
            <a:avLst/>
          </a:prstGeom>
          <a:noFill/>
          <a:ln/>
        </p:spPr>
        <p:txBody>
          <a:bodyPr wrap="square" lIns="0" tIns="0" rIns="0" bIns="0" rtlCol="0" anchor="ctr"/>
          <a:lstStyle/>
          <a:p>
            <a:pPr algn="ctr" indent="0" marL="0">
              <a:buNone/>
            </a:pPr>
            <a:r>
              <a:rPr lang="en-US" sz="640" dirty="0">
                <a:solidFill>
                  <a:srgbClr val="4A5560"/>
                </a:solidFill>
                <a:latin typeface="Courier New" pitchFamily="34" charset="0"/>
                <a:ea typeface="Courier New" pitchFamily="34" charset="-122"/>
                <a:cs typeface="Courier New" pitchFamily="34" charset="-120"/>
              </a:rPr>
              <a:t>AUG</a:t>
            </a:r>
            <a:endParaRPr lang="en-US" sz="640" dirty="0"/>
          </a:p>
        </p:txBody>
      </p:sp>
      <p:sp>
        <p:nvSpPr>
          <p:cNvPr id="17" name="Shape 15"/>
          <p:cNvSpPr/>
          <p:nvPr/>
        </p:nvSpPr>
        <p:spPr>
          <a:xfrm>
            <a:off x="4160520" y="2020824"/>
            <a:ext cx="73152" cy="73152"/>
          </a:xfrm>
          <a:prstGeom prst="ellipse">
            <a:avLst/>
          </a:prstGeom>
          <a:solidFill>
            <a:srgbClr val="C9A24B"/>
          </a:solidFill>
          <a:ln w="6350">
            <a:solidFill>
              <a:srgbClr val="C9A24B"/>
            </a:solidFill>
            <a:prstDash val="solid"/>
          </a:ln>
        </p:spPr>
      </p:sp>
      <p:sp>
        <p:nvSpPr>
          <p:cNvPr id="18" name="Text 16"/>
          <p:cNvSpPr/>
          <p:nvPr/>
        </p:nvSpPr>
        <p:spPr>
          <a:xfrm>
            <a:off x="3648456" y="2176272"/>
            <a:ext cx="1097280" cy="256032"/>
          </a:xfrm>
          <a:prstGeom prst="rect">
            <a:avLst/>
          </a:prstGeom>
          <a:noFill/>
          <a:ln/>
        </p:spPr>
        <p:txBody>
          <a:bodyPr wrap="square" lIns="0" tIns="0" rIns="0" bIns="0" rtlCol="0" anchor="ctr"/>
          <a:lstStyle/>
          <a:p>
            <a:pPr algn="ctr" indent="0" marL="0">
              <a:buNone/>
            </a:pPr>
            <a:r>
              <a:rPr lang="en-US" sz="1100" b="1" dirty="0">
                <a:solidFill>
                  <a:srgbClr val="16181A"/>
                </a:solidFill>
                <a:latin typeface="Courier New" pitchFamily="34" charset="0"/>
                <a:ea typeface="Courier New" pitchFamily="34" charset="-122"/>
                <a:cs typeface="Courier New" pitchFamily="34" charset="-120"/>
              </a:rPr>
              <a:t>IV</a:t>
            </a:r>
            <a:endParaRPr lang="en-US" sz="1100" dirty="0"/>
          </a:p>
        </p:txBody>
      </p:sp>
      <p:sp>
        <p:nvSpPr>
          <p:cNvPr id="19" name="Text 17"/>
          <p:cNvSpPr/>
          <p:nvPr/>
        </p:nvSpPr>
        <p:spPr>
          <a:xfrm>
            <a:off x="3621024" y="2432304"/>
            <a:ext cx="1152144" cy="457200"/>
          </a:xfrm>
          <a:prstGeom prst="rect">
            <a:avLst/>
          </a:prstGeom>
          <a:noFill/>
          <a:ln/>
        </p:spPr>
        <p:txBody>
          <a:bodyPr wrap="square" lIns="0" tIns="0" rIns="0" bIns="0" rtlCol="0" anchor="ctr"/>
          <a:lstStyle/>
          <a:p>
            <a:pPr algn="ctr" indent="0" marL="0">
              <a:buNone/>
            </a:pPr>
            <a:r>
              <a:rPr lang="en-US" sz="680" dirty="0">
                <a:solidFill>
                  <a:srgbClr val="16181A"/>
                </a:solidFill>
                <a:latin typeface="Courier New" pitchFamily="34" charset="0"/>
                <a:ea typeface="Courier New" pitchFamily="34" charset="-122"/>
                <a:cs typeface="Courier New" pitchFamily="34" charset="-120"/>
              </a:rPr>
              <a:t>THE FOUNDER’S VAULT</a:t>
            </a:r>
            <a:endParaRPr lang="en-US" sz="680" dirty="0"/>
          </a:p>
        </p:txBody>
      </p:sp>
      <p:sp>
        <p:nvSpPr>
          <p:cNvPr id="20" name="Text 18"/>
          <p:cNvSpPr/>
          <p:nvPr/>
        </p:nvSpPr>
        <p:spPr>
          <a:xfrm>
            <a:off x="3621024" y="2852928"/>
            <a:ext cx="1152144" cy="228600"/>
          </a:xfrm>
          <a:prstGeom prst="rect">
            <a:avLst/>
          </a:prstGeom>
          <a:noFill/>
          <a:ln/>
        </p:spPr>
        <p:txBody>
          <a:bodyPr wrap="square" lIns="0" tIns="0" rIns="0" bIns="0" rtlCol="0" anchor="ctr"/>
          <a:lstStyle/>
          <a:p>
            <a:pPr algn="ctr" indent="0" marL="0">
              <a:buNone/>
            </a:pPr>
            <a:r>
              <a:rPr lang="en-US" sz="640" dirty="0">
                <a:solidFill>
                  <a:srgbClr val="4A5560"/>
                </a:solidFill>
                <a:latin typeface="Courier New" pitchFamily="34" charset="0"/>
                <a:ea typeface="Courier New" pitchFamily="34" charset="-122"/>
                <a:cs typeface="Courier New" pitchFamily="34" charset="-120"/>
              </a:rPr>
              <a:t>SEP</a:t>
            </a:r>
            <a:endParaRPr lang="en-US" sz="640" dirty="0"/>
          </a:p>
        </p:txBody>
      </p:sp>
      <p:sp>
        <p:nvSpPr>
          <p:cNvPr id="21" name="Shape 19"/>
          <p:cNvSpPr/>
          <p:nvPr/>
        </p:nvSpPr>
        <p:spPr>
          <a:xfrm>
            <a:off x="5321808" y="2020824"/>
            <a:ext cx="73152" cy="73152"/>
          </a:xfrm>
          <a:prstGeom prst="ellipse">
            <a:avLst/>
          </a:prstGeom>
          <a:solidFill>
            <a:srgbClr val="C9A24B"/>
          </a:solidFill>
          <a:ln w="6350">
            <a:solidFill>
              <a:srgbClr val="C9A24B"/>
            </a:solidFill>
            <a:prstDash val="solid"/>
          </a:ln>
        </p:spPr>
      </p:sp>
      <p:sp>
        <p:nvSpPr>
          <p:cNvPr id="22" name="Text 20"/>
          <p:cNvSpPr/>
          <p:nvPr/>
        </p:nvSpPr>
        <p:spPr>
          <a:xfrm>
            <a:off x="4809744" y="2176272"/>
            <a:ext cx="1097280" cy="256032"/>
          </a:xfrm>
          <a:prstGeom prst="rect">
            <a:avLst/>
          </a:prstGeom>
          <a:noFill/>
          <a:ln/>
        </p:spPr>
        <p:txBody>
          <a:bodyPr wrap="square" lIns="0" tIns="0" rIns="0" bIns="0" rtlCol="0" anchor="ctr"/>
          <a:lstStyle/>
          <a:p>
            <a:pPr algn="ctr" indent="0" marL="0">
              <a:buNone/>
            </a:pPr>
            <a:r>
              <a:rPr lang="en-US" sz="1100" b="1" dirty="0">
                <a:solidFill>
                  <a:srgbClr val="16181A"/>
                </a:solidFill>
                <a:latin typeface="Courier New" pitchFamily="34" charset="0"/>
                <a:ea typeface="Courier New" pitchFamily="34" charset="-122"/>
                <a:cs typeface="Courier New" pitchFamily="34" charset="-120"/>
              </a:rPr>
              <a:t>V</a:t>
            </a:r>
            <a:endParaRPr lang="en-US" sz="1100" dirty="0"/>
          </a:p>
        </p:txBody>
      </p:sp>
      <p:sp>
        <p:nvSpPr>
          <p:cNvPr id="23" name="Text 21"/>
          <p:cNvSpPr/>
          <p:nvPr/>
        </p:nvSpPr>
        <p:spPr>
          <a:xfrm>
            <a:off x="4782312" y="2432304"/>
            <a:ext cx="1152144" cy="457200"/>
          </a:xfrm>
          <a:prstGeom prst="rect">
            <a:avLst/>
          </a:prstGeom>
          <a:noFill/>
          <a:ln/>
        </p:spPr>
        <p:txBody>
          <a:bodyPr wrap="square" lIns="0" tIns="0" rIns="0" bIns="0" rtlCol="0" anchor="ctr"/>
          <a:lstStyle/>
          <a:p>
            <a:pPr algn="ctr" indent="0" marL="0">
              <a:buNone/>
            </a:pPr>
            <a:r>
              <a:rPr lang="en-US" sz="680" dirty="0">
                <a:solidFill>
                  <a:srgbClr val="16181A"/>
                </a:solidFill>
                <a:latin typeface="Courier New" pitchFamily="34" charset="0"/>
                <a:ea typeface="Courier New" pitchFamily="34" charset="-122"/>
                <a:cs typeface="Courier New" pitchFamily="34" charset="-120"/>
              </a:rPr>
              <a:t>MATAGORDA</a:t>
            </a:r>
            <a:endParaRPr lang="en-US" sz="680" dirty="0"/>
          </a:p>
        </p:txBody>
      </p:sp>
      <p:sp>
        <p:nvSpPr>
          <p:cNvPr id="24" name="Text 22"/>
          <p:cNvSpPr/>
          <p:nvPr/>
        </p:nvSpPr>
        <p:spPr>
          <a:xfrm>
            <a:off x="4782312" y="2852928"/>
            <a:ext cx="1152144" cy="228600"/>
          </a:xfrm>
          <a:prstGeom prst="rect">
            <a:avLst/>
          </a:prstGeom>
          <a:noFill/>
          <a:ln/>
        </p:spPr>
        <p:txBody>
          <a:bodyPr wrap="square" lIns="0" tIns="0" rIns="0" bIns="0" rtlCol="0" anchor="ctr"/>
          <a:lstStyle/>
          <a:p>
            <a:pPr algn="ctr" indent="0" marL="0">
              <a:buNone/>
            </a:pPr>
            <a:r>
              <a:rPr lang="en-US" sz="640" dirty="0">
                <a:solidFill>
                  <a:srgbClr val="4A5560"/>
                </a:solidFill>
                <a:latin typeface="Courier New" pitchFamily="34" charset="0"/>
                <a:ea typeface="Courier New" pitchFamily="34" charset="-122"/>
                <a:cs typeface="Courier New" pitchFamily="34" charset="-120"/>
              </a:rPr>
              <a:t>OCT</a:t>
            </a:r>
            <a:endParaRPr lang="en-US" sz="640" dirty="0"/>
          </a:p>
        </p:txBody>
      </p:sp>
      <p:sp>
        <p:nvSpPr>
          <p:cNvPr id="25" name="Shape 23"/>
          <p:cNvSpPr/>
          <p:nvPr/>
        </p:nvSpPr>
        <p:spPr>
          <a:xfrm>
            <a:off x="6483096" y="2020824"/>
            <a:ext cx="73152" cy="73152"/>
          </a:xfrm>
          <a:prstGeom prst="ellipse">
            <a:avLst/>
          </a:prstGeom>
          <a:solidFill>
            <a:srgbClr val="C9A24B"/>
          </a:solidFill>
          <a:ln w="6350">
            <a:solidFill>
              <a:srgbClr val="C9A24B"/>
            </a:solidFill>
            <a:prstDash val="solid"/>
          </a:ln>
        </p:spPr>
      </p:sp>
      <p:sp>
        <p:nvSpPr>
          <p:cNvPr id="26" name="Text 24"/>
          <p:cNvSpPr/>
          <p:nvPr/>
        </p:nvSpPr>
        <p:spPr>
          <a:xfrm>
            <a:off x="5971032" y="2176272"/>
            <a:ext cx="1097280" cy="256032"/>
          </a:xfrm>
          <a:prstGeom prst="rect">
            <a:avLst/>
          </a:prstGeom>
          <a:noFill/>
          <a:ln/>
        </p:spPr>
        <p:txBody>
          <a:bodyPr wrap="square" lIns="0" tIns="0" rIns="0" bIns="0" rtlCol="0" anchor="ctr"/>
          <a:lstStyle/>
          <a:p>
            <a:pPr algn="ctr" indent="0" marL="0">
              <a:buNone/>
            </a:pPr>
            <a:r>
              <a:rPr lang="en-US" sz="1100" b="1" dirty="0">
                <a:solidFill>
                  <a:srgbClr val="16181A"/>
                </a:solidFill>
                <a:latin typeface="Courier New" pitchFamily="34" charset="0"/>
                <a:ea typeface="Courier New" pitchFamily="34" charset="-122"/>
                <a:cs typeface="Courier New" pitchFamily="34" charset="-120"/>
              </a:rPr>
              <a:t>VI</a:t>
            </a:r>
            <a:endParaRPr lang="en-US" sz="1100" dirty="0"/>
          </a:p>
        </p:txBody>
      </p:sp>
      <p:sp>
        <p:nvSpPr>
          <p:cNvPr id="27" name="Text 25"/>
          <p:cNvSpPr/>
          <p:nvPr/>
        </p:nvSpPr>
        <p:spPr>
          <a:xfrm>
            <a:off x="5943600" y="2432304"/>
            <a:ext cx="1152144" cy="457200"/>
          </a:xfrm>
          <a:prstGeom prst="rect">
            <a:avLst/>
          </a:prstGeom>
          <a:noFill/>
          <a:ln/>
        </p:spPr>
        <p:txBody>
          <a:bodyPr wrap="square" lIns="0" tIns="0" rIns="0" bIns="0" rtlCol="0" anchor="ctr"/>
          <a:lstStyle/>
          <a:p>
            <a:pPr algn="ctr" indent="0" marL="0">
              <a:buNone/>
            </a:pPr>
            <a:r>
              <a:rPr lang="en-US" sz="680" dirty="0">
                <a:solidFill>
                  <a:srgbClr val="16181A"/>
                </a:solidFill>
                <a:latin typeface="Courier New" pitchFamily="34" charset="0"/>
                <a:ea typeface="Courier New" pitchFamily="34" charset="-122"/>
                <a:cs typeface="Courier New" pitchFamily="34" charset="-120"/>
              </a:rPr>
              <a:t>THE REFERENDUM</a:t>
            </a:r>
            <a:endParaRPr lang="en-US" sz="680" dirty="0"/>
          </a:p>
        </p:txBody>
      </p:sp>
      <p:sp>
        <p:nvSpPr>
          <p:cNvPr id="28" name="Text 26"/>
          <p:cNvSpPr/>
          <p:nvPr/>
        </p:nvSpPr>
        <p:spPr>
          <a:xfrm>
            <a:off x="5943600" y="2852928"/>
            <a:ext cx="1152144" cy="228600"/>
          </a:xfrm>
          <a:prstGeom prst="rect">
            <a:avLst/>
          </a:prstGeom>
          <a:noFill/>
          <a:ln/>
        </p:spPr>
        <p:txBody>
          <a:bodyPr wrap="square" lIns="0" tIns="0" rIns="0" bIns="0" rtlCol="0" anchor="ctr"/>
          <a:lstStyle/>
          <a:p>
            <a:pPr algn="ctr" indent="0" marL="0">
              <a:buNone/>
            </a:pPr>
            <a:r>
              <a:rPr lang="en-US" sz="640" dirty="0">
                <a:solidFill>
                  <a:srgbClr val="4A5560"/>
                </a:solidFill>
                <a:latin typeface="Courier New" pitchFamily="34" charset="0"/>
                <a:ea typeface="Courier New" pitchFamily="34" charset="-122"/>
                <a:cs typeface="Courier New" pitchFamily="34" charset="-120"/>
              </a:rPr>
              <a:t>NOV</a:t>
            </a:r>
            <a:endParaRPr lang="en-US" sz="640" dirty="0"/>
          </a:p>
        </p:txBody>
      </p:sp>
      <p:sp>
        <p:nvSpPr>
          <p:cNvPr id="29" name="Shape 27"/>
          <p:cNvSpPr/>
          <p:nvPr/>
        </p:nvSpPr>
        <p:spPr>
          <a:xfrm>
            <a:off x="7644384" y="2020824"/>
            <a:ext cx="73152" cy="73152"/>
          </a:xfrm>
          <a:prstGeom prst="ellipse">
            <a:avLst/>
          </a:prstGeom>
          <a:solidFill>
            <a:srgbClr val="A3212E"/>
          </a:solidFill>
          <a:ln w="6350">
            <a:solidFill>
              <a:srgbClr val="A3212E"/>
            </a:solidFill>
            <a:prstDash val="solid"/>
          </a:ln>
        </p:spPr>
      </p:sp>
      <p:sp>
        <p:nvSpPr>
          <p:cNvPr id="30" name="Text 28"/>
          <p:cNvSpPr/>
          <p:nvPr/>
        </p:nvSpPr>
        <p:spPr>
          <a:xfrm>
            <a:off x="7132320" y="2176272"/>
            <a:ext cx="1097280" cy="256032"/>
          </a:xfrm>
          <a:prstGeom prst="rect">
            <a:avLst/>
          </a:prstGeom>
          <a:noFill/>
          <a:ln/>
        </p:spPr>
        <p:txBody>
          <a:bodyPr wrap="square" lIns="0" tIns="0" rIns="0" bIns="0" rtlCol="0" anchor="ctr"/>
          <a:lstStyle/>
          <a:p>
            <a:pPr algn="ctr" indent="0" marL="0">
              <a:buNone/>
            </a:pPr>
            <a:r>
              <a:rPr lang="en-US" sz="1100" b="1" dirty="0">
                <a:solidFill>
                  <a:srgbClr val="A3212E"/>
                </a:solidFill>
                <a:latin typeface="Courier New" pitchFamily="34" charset="0"/>
                <a:ea typeface="Courier New" pitchFamily="34" charset="-122"/>
                <a:cs typeface="Courier New" pitchFamily="34" charset="-120"/>
              </a:rPr>
              <a:t>VII</a:t>
            </a:r>
            <a:endParaRPr lang="en-US" sz="1100" dirty="0"/>
          </a:p>
        </p:txBody>
      </p:sp>
      <p:sp>
        <p:nvSpPr>
          <p:cNvPr id="31" name="Text 29"/>
          <p:cNvSpPr/>
          <p:nvPr/>
        </p:nvSpPr>
        <p:spPr>
          <a:xfrm>
            <a:off x="7104888" y="2432304"/>
            <a:ext cx="1152144" cy="457200"/>
          </a:xfrm>
          <a:prstGeom prst="rect">
            <a:avLst/>
          </a:prstGeom>
          <a:noFill/>
          <a:ln/>
        </p:spPr>
        <p:txBody>
          <a:bodyPr wrap="square" lIns="0" tIns="0" rIns="0" bIns="0" rtlCol="0" anchor="ctr"/>
          <a:lstStyle/>
          <a:p>
            <a:pPr algn="ctr" indent="0" marL="0">
              <a:buNone/>
            </a:pPr>
            <a:r>
              <a:rPr lang="en-US" sz="680" dirty="0">
                <a:solidFill>
                  <a:srgbClr val="16181A"/>
                </a:solidFill>
                <a:latin typeface="Courier New" pitchFamily="34" charset="0"/>
                <a:ea typeface="Courier New" pitchFamily="34" charset="-122"/>
                <a:cs typeface="Courier New" pitchFamily="34" charset="-120"/>
              </a:rPr>
              <a:t>THE LAST COMPACT</a:t>
            </a:r>
            <a:endParaRPr lang="en-US" sz="680" dirty="0"/>
          </a:p>
        </p:txBody>
      </p:sp>
      <p:sp>
        <p:nvSpPr>
          <p:cNvPr id="32" name="Text 30"/>
          <p:cNvSpPr/>
          <p:nvPr/>
        </p:nvSpPr>
        <p:spPr>
          <a:xfrm>
            <a:off x="7104888" y="2852928"/>
            <a:ext cx="1152144" cy="228600"/>
          </a:xfrm>
          <a:prstGeom prst="rect">
            <a:avLst/>
          </a:prstGeom>
          <a:noFill/>
          <a:ln/>
        </p:spPr>
        <p:txBody>
          <a:bodyPr wrap="square" lIns="0" tIns="0" rIns="0" bIns="0" rtlCol="0" anchor="ctr"/>
          <a:lstStyle/>
          <a:p>
            <a:pPr algn="ctr" indent="0" marL="0">
              <a:buNone/>
            </a:pPr>
            <a:r>
              <a:rPr lang="en-US" sz="640" dirty="0">
                <a:solidFill>
                  <a:srgbClr val="4A5560"/>
                </a:solidFill>
                <a:latin typeface="Courier New" pitchFamily="34" charset="0"/>
                <a:ea typeface="Courier New" pitchFamily="34" charset="-122"/>
                <a:cs typeface="Courier New" pitchFamily="34" charset="-120"/>
              </a:rPr>
              <a:t>DEC</a:t>
            </a:r>
            <a:endParaRPr lang="en-US" sz="640" dirty="0"/>
          </a:p>
        </p:txBody>
      </p:sp>
      <p:sp>
        <p:nvSpPr>
          <p:cNvPr id="33" name="Text 31"/>
          <p:cNvSpPr/>
          <p:nvPr/>
        </p:nvSpPr>
        <p:spPr>
          <a:xfrm>
            <a:off x="548640" y="3520440"/>
            <a:ext cx="8046720" cy="822960"/>
          </a:xfrm>
          <a:prstGeom prst="rect">
            <a:avLst/>
          </a:prstGeom>
          <a:noFill/>
          <a:ln/>
        </p:spPr>
        <p:txBody>
          <a:bodyPr wrap="square" lIns="0" tIns="0" rIns="0" bIns="0" rtlCol="0" anchor="t"/>
          <a:lstStyle/>
          <a:p>
            <a:pPr indent="0" marL="0">
              <a:lnSpc>
                <a:spcPct val="125000"/>
              </a:lnSpc>
              <a:buNone/>
            </a:pPr>
            <a:r>
              <a:rPr lang="en-US" sz="1200" dirty="0">
                <a:solidFill>
                  <a:srgbClr val="16181A"/>
                </a:solidFill>
                <a:latin typeface="Arial" pitchFamily="34" charset="0"/>
                <a:ea typeface="Arial" pitchFamily="34" charset="-122"/>
                <a:cs typeface="Arial" pitchFamily="34" charset="-120"/>
              </a:rPr>
              <a:t>A prologue at White Mesa, 2081. An epilogue on January 1, 2085. Beneath the parts sits a complete fifty-chapter map — every chapter with a viewpoint, a reversal, and a consequence. It exists. It is not in this deck.</a:t>
            </a:r>
            <a:endParaRPr lang="en-US" sz="1200" dirty="0"/>
          </a:p>
        </p:txBody>
      </p:sp>
      <p:sp>
        <p:nvSpPr>
          <p:cNvPr id="25" name="Slide Number Placeholder 0"/>
          <p:cNvSpPr>
            <a:spLocks noGrp="1"/>
          </p:cNvSpPr>
          <p:nvPr>
            <p:ph type="sldNum" sz="quarter" idx="4294967295"/>
          </p:nvPr>
        </p:nvSpPr>
        <p:spPr>
          <a:xfrm>
            <a:off x="8522208" y="486460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4A5560"/>
                </a:solidFill>
                <a:latin typeface="Courier New"/>
                <a:ea typeface="Courier New"/>
                <a:cs typeface="Courier New"/>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7863840" cy="292608"/>
          </a:xfrm>
          <a:prstGeom prst="rect">
            <a:avLst/>
          </a:prstGeom>
          <a:noFill/>
          <a:ln/>
        </p:spPr>
        <p:txBody>
          <a:bodyPr wrap="square" lIns="0" tIns="0" rIns="0" bIns="0" rtlCol="0"/>
          <a:lstStyle/>
          <a:p>
            <a:pPr indent="0" marL="0">
              <a:buNone/>
            </a:pPr>
            <a:r>
              <a:rPr lang="en-US" sz="900" spc="300" kern="0" dirty="0">
                <a:solidFill>
                  <a:srgbClr val="0E4B50"/>
                </a:solidFill>
                <a:latin typeface="Courier New" pitchFamily="34" charset="0"/>
                <a:ea typeface="Courier New" pitchFamily="34" charset="-122"/>
                <a:cs typeface="Courier New" pitchFamily="34" charset="-120"/>
              </a:rPr>
              <a:t>15 · THEMES</a:t>
            </a:r>
            <a:endParaRPr lang="en-US" sz="900" dirty="0"/>
          </a:p>
        </p:txBody>
      </p:sp>
      <p:sp>
        <p:nvSpPr>
          <p:cNvPr id="3" name="Text 0"/>
          <p:cNvSpPr/>
          <p:nvPr>
            <p:ph idx="101" type="title" hasCustomPrompt="1"/>
          </p:nvPr>
        </p:nvSpPr>
        <p:spPr>
          <a:xfrm>
            <a:off x="548640" y="658368"/>
            <a:ext cx="8046720" cy="731520"/>
          </a:xfrm>
          <a:prstGeom prst="rect">
            <a:avLst/>
          </a:prstGeom>
          <a:noFill/>
          <a:ln/>
        </p:spPr>
        <p:txBody>
          <a:bodyPr wrap="square" lIns="0" tIns="0" rIns="0" bIns="0" rtlCol="0"/>
          <a:lstStyle/>
          <a:p>
            <a:pPr algn="l" indent="0" marL="0">
              <a:buNone/>
            </a:pPr>
            <a:r>
              <a:rPr lang="en-US" sz="2600" b="1" dirty="0">
                <a:solidFill>
                  <a:srgbClr val="16181A"/>
                </a:solidFill>
                <a:latin typeface="Georgia" pitchFamily="34" charset="0"/>
                <a:ea typeface="Georgia" pitchFamily="34" charset="-122"/>
                <a:cs typeface="Georgia" pitchFamily="34" charset="-120"/>
              </a:rPr>
              <a:t>The politics are the person</a:t>
            </a:r>
            <a:endParaRPr lang="en-US" sz="2600" dirty="0"/>
          </a:p>
        </p:txBody>
      </p:sp>
      <p:sp>
        <p:nvSpPr>
          <p:cNvPr id="4" name="Text 2"/>
          <p:cNvSpPr/>
          <p:nvPr/>
        </p:nvSpPr>
        <p:spPr>
          <a:xfrm>
            <a:off x="548640" y="1444752"/>
            <a:ext cx="3657600" cy="228600"/>
          </a:xfrm>
          <a:prstGeom prst="rect">
            <a:avLst/>
          </a:prstGeom>
          <a:noFill/>
          <a:ln/>
        </p:spPr>
        <p:txBody>
          <a:bodyPr wrap="square" lIns="0" tIns="0" rIns="0" bIns="0" rtlCol="0" anchor="ctr"/>
          <a:lstStyle/>
          <a:p>
            <a:pPr indent="0" marL="0">
              <a:buNone/>
            </a:pPr>
            <a:r>
              <a:rPr lang="en-US" sz="750" spc="300" kern="0" dirty="0">
                <a:solidFill>
                  <a:srgbClr val="4A5560"/>
                </a:solidFill>
                <a:latin typeface="Courier New" pitchFamily="34" charset="0"/>
                <a:ea typeface="Courier New" pitchFamily="34" charset="-122"/>
                <a:cs typeface="Courier New" pitchFamily="34" charset="-120"/>
              </a:rPr>
              <a:t>THE CITY</a:t>
            </a:r>
            <a:endParaRPr lang="en-US" sz="750" dirty="0"/>
          </a:p>
        </p:txBody>
      </p:sp>
      <p:sp>
        <p:nvSpPr>
          <p:cNvPr id="5" name="Text 3"/>
          <p:cNvSpPr/>
          <p:nvPr/>
        </p:nvSpPr>
        <p:spPr>
          <a:xfrm>
            <a:off x="5029200" y="1444752"/>
            <a:ext cx="3657600" cy="228600"/>
          </a:xfrm>
          <a:prstGeom prst="rect">
            <a:avLst/>
          </a:prstGeom>
          <a:noFill/>
          <a:ln/>
        </p:spPr>
        <p:txBody>
          <a:bodyPr wrap="square" lIns="0" tIns="0" rIns="0" bIns="0" rtlCol="0" anchor="ctr"/>
          <a:lstStyle/>
          <a:p>
            <a:pPr indent="0" marL="0">
              <a:buNone/>
            </a:pPr>
            <a:r>
              <a:rPr lang="en-US" sz="750" spc="300" kern="0" dirty="0">
                <a:solidFill>
                  <a:srgbClr val="4A5560"/>
                </a:solidFill>
                <a:latin typeface="Courier New" pitchFamily="34" charset="0"/>
                <a:ea typeface="Courier New" pitchFamily="34" charset="-122"/>
                <a:cs typeface="Courier New" pitchFamily="34" charset="-120"/>
              </a:rPr>
              <a:t>THE BODY</a:t>
            </a:r>
            <a:endParaRPr lang="en-US" sz="750" dirty="0"/>
          </a:p>
        </p:txBody>
      </p:sp>
      <p:sp>
        <p:nvSpPr>
          <p:cNvPr id="6" name="Text 4"/>
          <p:cNvSpPr/>
          <p:nvPr/>
        </p:nvSpPr>
        <p:spPr>
          <a:xfrm>
            <a:off x="548640" y="1719072"/>
            <a:ext cx="3657600" cy="685800"/>
          </a:xfrm>
          <a:prstGeom prst="rect">
            <a:avLst/>
          </a:prstGeom>
          <a:solidFill>
            <a:srgbClr val="FFFFFF">
              <a:alpha val="45000"/>
            </a:srgbClr>
          </a:solidFill>
          <a:ln w="9525">
            <a:solidFill>
              <a:srgbClr val="9AA0A6"/>
            </a:solidFill>
            <a:prstDash val="solid"/>
          </a:ln>
        </p:spPr>
        <p:txBody>
          <a:bodyPr wrap="square" lIns="101600" tIns="101600" rIns="101600" bIns="101600" rtlCol="0" anchor="t"/>
          <a:lstStyle/>
          <a:p>
            <a:pPr algn="l" indent="0" marL="0">
              <a:lnSpc>
                <a:spcPct val="110000"/>
              </a:lnSpc>
              <a:buNone/>
            </a:pPr>
            <a:r>
              <a:rPr lang="en-US" sz="900" dirty="0">
                <a:solidFill>
                  <a:srgbClr val="16181A"/>
                </a:solidFill>
                <a:latin typeface="Arial" pitchFamily="34" charset="0"/>
                <a:ea typeface="Arial" pitchFamily="34" charset="-122"/>
                <a:cs typeface="Arial" pitchFamily="34" charset="-120"/>
              </a:rPr>
              <a:t>Texas claims Domingo: it built the city, and needs it.</a:t>
            </a:r>
            <a:endParaRPr lang="en-US" sz="900" dirty="0"/>
          </a:p>
        </p:txBody>
      </p:sp>
      <p:sp>
        <p:nvSpPr>
          <p:cNvPr id="7" name="Text 5"/>
          <p:cNvSpPr/>
          <p:nvPr/>
        </p:nvSpPr>
        <p:spPr>
          <a:xfrm>
            <a:off x="4224528" y="1719072"/>
            <a:ext cx="777240" cy="685800"/>
          </a:xfrm>
          <a:prstGeom prst="rect">
            <a:avLst/>
          </a:prstGeom>
          <a:noFill/>
          <a:ln/>
        </p:spPr>
        <p:txBody>
          <a:bodyPr wrap="square" lIns="0" tIns="0" rIns="0" bIns="0" rtlCol="0" anchor="ctr"/>
          <a:lstStyle/>
          <a:p>
            <a:pPr algn="ctr" indent="0" marL="0">
              <a:buNone/>
            </a:pPr>
            <a:r>
              <a:rPr lang="en-US" sz="1300" dirty="0">
                <a:solidFill>
                  <a:srgbClr val="C9A24B"/>
                </a:solidFill>
                <a:latin typeface="Courier New" pitchFamily="34" charset="0"/>
                <a:ea typeface="Courier New" pitchFamily="34" charset="-122"/>
                <a:cs typeface="Courier New" pitchFamily="34" charset="-120"/>
              </a:rPr>
              <a:t>↔</a:t>
            </a:r>
            <a:endParaRPr lang="en-US" sz="1300" dirty="0"/>
          </a:p>
        </p:txBody>
      </p:sp>
      <p:sp>
        <p:nvSpPr>
          <p:cNvPr id="8" name="Text 6"/>
          <p:cNvSpPr/>
          <p:nvPr/>
        </p:nvSpPr>
        <p:spPr>
          <a:xfrm>
            <a:off x="5029200" y="1719072"/>
            <a:ext cx="3657600" cy="685800"/>
          </a:xfrm>
          <a:prstGeom prst="rect">
            <a:avLst/>
          </a:prstGeom>
          <a:solidFill>
            <a:srgbClr val="FFFFFF">
              <a:alpha val="45000"/>
            </a:srgbClr>
          </a:solidFill>
          <a:ln w="9525">
            <a:solidFill>
              <a:srgbClr val="9AA0A6"/>
            </a:solidFill>
            <a:prstDash val="solid"/>
          </a:ln>
        </p:spPr>
        <p:txBody>
          <a:bodyPr wrap="square" lIns="101600" tIns="101600" rIns="101600" bIns="101600" rtlCol="0" anchor="t"/>
          <a:lstStyle/>
          <a:p>
            <a:pPr algn="l" indent="0" marL="0">
              <a:lnSpc>
                <a:spcPct val="110000"/>
              </a:lnSpc>
              <a:buNone/>
            </a:pPr>
            <a:r>
              <a:rPr lang="en-US" sz="900" dirty="0">
                <a:solidFill>
                  <a:srgbClr val="16181A"/>
                </a:solidFill>
                <a:latin typeface="Arial" pitchFamily="34" charset="0"/>
                <a:ea typeface="Arial" pitchFamily="34" charset="-122"/>
                <a:cs typeface="Arial" pitchFamily="34" charset="-120"/>
              </a:rPr>
              <a:t>Bloodline claims Vin: it built his body, and needs it.</a:t>
            </a:r>
            <a:endParaRPr lang="en-US" sz="900" dirty="0"/>
          </a:p>
        </p:txBody>
      </p:sp>
      <p:sp>
        <p:nvSpPr>
          <p:cNvPr id="9" name="Text 7"/>
          <p:cNvSpPr/>
          <p:nvPr/>
        </p:nvSpPr>
        <p:spPr>
          <a:xfrm>
            <a:off x="548640" y="2496312"/>
            <a:ext cx="3657600" cy="685800"/>
          </a:xfrm>
          <a:prstGeom prst="rect">
            <a:avLst/>
          </a:prstGeom>
          <a:solidFill>
            <a:srgbClr val="FFFFFF">
              <a:alpha val="45000"/>
            </a:srgbClr>
          </a:solidFill>
          <a:ln w="9525">
            <a:solidFill>
              <a:srgbClr val="9AA0A6"/>
            </a:solidFill>
            <a:prstDash val="solid"/>
          </a:ln>
        </p:spPr>
        <p:txBody>
          <a:bodyPr wrap="square" lIns="101600" tIns="101600" rIns="101600" bIns="101600" rtlCol="0" anchor="t"/>
          <a:lstStyle/>
          <a:p>
            <a:pPr algn="l" indent="0" marL="0">
              <a:lnSpc>
                <a:spcPct val="110000"/>
              </a:lnSpc>
              <a:buNone/>
            </a:pPr>
            <a:r>
              <a:rPr lang="en-US" sz="900" dirty="0">
                <a:solidFill>
                  <a:srgbClr val="16181A"/>
                </a:solidFill>
                <a:latin typeface="Arial" pitchFamily="34" charset="0"/>
                <a:ea typeface="Arial" pitchFamily="34" charset="-122"/>
                <a:cs typeface="Arial" pitchFamily="34" charset="-120"/>
              </a:rPr>
              <a:t>Domingo claims South Columbia to survive the storms.</a:t>
            </a:r>
            <a:endParaRPr lang="en-US" sz="900" dirty="0"/>
          </a:p>
        </p:txBody>
      </p:sp>
      <p:sp>
        <p:nvSpPr>
          <p:cNvPr id="10" name="Text 8"/>
          <p:cNvSpPr/>
          <p:nvPr/>
        </p:nvSpPr>
        <p:spPr>
          <a:xfrm>
            <a:off x="4224528" y="2496312"/>
            <a:ext cx="777240" cy="685800"/>
          </a:xfrm>
          <a:prstGeom prst="rect">
            <a:avLst/>
          </a:prstGeom>
          <a:noFill/>
          <a:ln/>
        </p:spPr>
        <p:txBody>
          <a:bodyPr wrap="square" lIns="0" tIns="0" rIns="0" bIns="0" rtlCol="0" anchor="ctr"/>
          <a:lstStyle/>
          <a:p>
            <a:pPr algn="ctr" indent="0" marL="0">
              <a:buNone/>
            </a:pPr>
            <a:r>
              <a:rPr lang="en-US" sz="1300" dirty="0">
                <a:solidFill>
                  <a:srgbClr val="C9A24B"/>
                </a:solidFill>
                <a:latin typeface="Courier New" pitchFamily="34" charset="0"/>
                <a:ea typeface="Courier New" pitchFamily="34" charset="-122"/>
                <a:cs typeface="Courier New" pitchFamily="34" charset="-120"/>
              </a:rPr>
              <a:t>↔</a:t>
            </a:r>
            <a:endParaRPr lang="en-US" sz="1300" dirty="0"/>
          </a:p>
        </p:txBody>
      </p:sp>
      <p:sp>
        <p:nvSpPr>
          <p:cNvPr id="11" name="Text 9"/>
          <p:cNvSpPr/>
          <p:nvPr/>
        </p:nvSpPr>
        <p:spPr>
          <a:xfrm>
            <a:off x="5029200" y="2496312"/>
            <a:ext cx="3657600" cy="685800"/>
          </a:xfrm>
          <a:prstGeom prst="rect">
            <a:avLst/>
          </a:prstGeom>
          <a:solidFill>
            <a:srgbClr val="FFFFFF">
              <a:alpha val="45000"/>
            </a:srgbClr>
          </a:solidFill>
          <a:ln w="9525">
            <a:solidFill>
              <a:srgbClr val="9AA0A6"/>
            </a:solidFill>
            <a:prstDash val="solid"/>
          </a:ln>
        </p:spPr>
        <p:txBody>
          <a:bodyPr wrap="square" lIns="101600" tIns="101600" rIns="101600" bIns="101600" rtlCol="0" anchor="t"/>
          <a:lstStyle/>
          <a:p>
            <a:pPr algn="l" indent="0" marL="0">
              <a:lnSpc>
                <a:spcPct val="110000"/>
              </a:lnSpc>
              <a:buNone/>
            </a:pPr>
            <a:r>
              <a:rPr lang="en-US" sz="900" dirty="0">
                <a:solidFill>
                  <a:srgbClr val="16181A"/>
                </a:solidFill>
                <a:latin typeface="Arial" pitchFamily="34" charset="0"/>
                <a:ea typeface="Arial" pitchFamily="34" charset="-122"/>
                <a:cs typeface="Arial" pitchFamily="34" charset="-120"/>
              </a:rPr>
              <a:t>Elik and Tomas seize Vin’s controls to keep the body alive.</a:t>
            </a:r>
            <a:endParaRPr lang="en-US" sz="900" dirty="0"/>
          </a:p>
        </p:txBody>
      </p:sp>
      <p:sp>
        <p:nvSpPr>
          <p:cNvPr id="12" name="Text 10"/>
          <p:cNvSpPr/>
          <p:nvPr/>
        </p:nvSpPr>
        <p:spPr>
          <a:xfrm>
            <a:off x="548640" y="3273552"/>
            <a:ext cx="3657600" cy="685800"/>
          </a:xfrm>
          <a:prstGeom prst="rect">
            <a:avLst/>
          </a:prstGeom>
          <a:solidFill>
            <a:srgbClr val="FFFFFF">
              <a:alpha val="45000"/>
            </a:srgbClr>
          </a:solidFill>
          <a:ln w="9525">
            <a:solidFill>
              <a:srgbClr val="9AA0A6"/>
            </a:solidFill>
            <a:prstDash val="solid"/>
          </a:ln>
        </p:spPr>
        <p:txBody>
          <a:bodyPr wrap="square" lIns="101600" tIns="101600" rIns="101600" bIns="101600" rtlCol="0" anchor="t"/>
          <a:lstStyle/>
          <a:p>
            <a:pPr algn="l" indent="0" marL="0">
              <a:lnSpc>
                <a:spcPct val="110000"/>
              </a:lnSpc>
              <a:buNone/>
            </a:pPr>
            <a:r>
              <a:rPr lang="en-US" sz="900" dirty="0">
                <a:solidFill>
                  <a:srgbClr val="16181A"/>
                </a:solidFill>
                <a:latin typeface="Arial" pitchFamily="34" charset="0"/>
                <a:ea typeface="Arial" pitchFamily="34" charset="-122"/>
                <a:cs typeface="Arial" pitchFamily="34" charset="-120"/>
              </a:rPr>
              <a:t>TRINITY GLASS — the orbital deterrent — splits launch authority among three rivals.</a:t>
            </a:r>
            <a:endParaRPr lang="en-US" sz="900" dirty="0"/>
          </a:p>
        </p:txBody>
      </p:sp>
      <p:sp>
        <p:nvSpPr>
          <p:cNvPr id="13" name="Text 11"/>
          <p:cNvSpPr/>
          <p:nvPr/>
        </p:nvSpPr>
        <p:spPr>
          <a:xfrm>
            <a:off x="4224528" y="3273552"/>
            <a:ext cx="777240" cy="685800"/>
          </a:xfrm>
          <a:prstGeom prst="rect">
            <a:avLst/>
          </a:prstGeom>
          <a:noFill/>
          <a:ln/>
        </p:spPr>
        <p:txBody>
          <a:bodyPr wrap="square" lIns="0" tIns="0" rIns="0" bIns="0" rtlCol="0" anchor="ctr"/>
          <a:lstStyle/>
          <a:p>
            <a:pPr algn="ctr" indent="0" marL="0">
              <a:buNone/>
            </a:pPr>
            <a:r>
              <a:rPr lang="en-US" sz="1300" dirty="0">
                <a:solidFill>
                  <a:srgbClr val="C9A24B"/>
                </a:solidFill>
                <a:latin typeface="Courier New" pitchFamily="34" charset="0"/>
                <a:ea typeface="Courier New" pitchFamily="34" charset="-122"/>
                <a:cs typeface="Courier New" pitchFamily="34" charset="-120"/>
              </a:rPr>
              <a:t>↔</a:t>
            </a:r>
            <a:endParaRPr lang="en-US" sz="1300" dirty="0"/>
          </a:p>
        </p:txBody>
      </p:sp>
      <p:sp>
        <p:nvSpPr>
          <p:cNvPr id="14" name="Text 12"/>
          <p:cNvSpPr/>
          <p:nvPr/>
        </p:nvSpPr>
        <p:spPr>
          <a:xfrm>
            <a:off x="5029200" y="3273552"/>
            <a:ext cx="3657600" cy="685800"/>
          </a:xfrm>
          <a:prstGeom prst="rect">
            <a:avLst/>
          </a:prstGeom>
          <a:solidFill>
            <a:srgbClr val="FFFFFF">
              <a:alpha val="45000"/>
            </a:srgbClr>
          </a:solidFill>
          <a:ln w="9525">
            <a:solidFill>
              <a:srgbClr val="9AA0A6"/>
            </a:solidFill>
            <a:prstDash val="solid"/>
          </a:ln>
        </p:spPr>
        <p:txBody>
          <a:bodyPr wrap="square" lIns="101600" tIns="101600" rIns="101600" bIns="101600" rtlCol="0" anchor="t"/>
          <a:lstStyle/>
          <a:p>
            <a:pPr algn="l" indent="0" marL="0">
              <a:lnSpc>
                <a:spcPct val="110000"/>
              </a:lnSpc>
              <a:buNone/>
            </a:pPr>
            <a:r>
              <a:rPr lang="en-US" sz="900" dirty="0">
                <a:solidFill>
                  <a:srgbClr val="16181A"/>
                </a:solidFill>
                <a:latin typeface="Arial" pitchFamily="34" charset="0"/>
                <a:ea typeface="Arial" pitchFamily="34" charset="-122"/>
                <a:cs typeface="Arial" pitchFamily="34" charset="-120"/>
              </a:rPr>
              <a:t>CITYHEART — the city’s life-support architecture — splits command among three boys.</a:t>
            </a:r>
            <a:endParaRPr lang="en-US" sz="900" dirty="0"/>
          </a:p>
        </p:txBody>
      </p:sp>
      <p:sp>
        <p:nvSpPr>
          <p:cNvPr id="15" name="Text 13"/>
          <p:cNvSpPr/>
          <p:nvPr/>
        </p:nvSpPr>
        <p:spPr>
          <a:xfrm>
            <a:off x="548640" y="4160520"/>
            <a:ext cx="8046720" cy="685800"/>
          </a:xfrm>
          <a:prstGeom prst="rect">
            <a:avLst/>
          </a:prstGeom>
          <a:noFill/>
          <a:ln/>
        </p:spPr>
        <p:txBody>
          <a:bodyPr wrap="square" lIns="0" tIns="0" rIns="0" bIns="0" rtlCol="0" anchor="ctr"/>
          <a:lstStyle/>
          <a:p>
            <a:pPr indent="0" marL="0">
              <a:lnSpc>
                <a:spcPct val="115000"/>
              </a:lnSpc>
              <a:buNone/>
            </a:pPr>
            <a:r>
              <a:rPr lang="en-US" sz="1350" i="1" dirty="0">
                <a:solidFill>
                  <a:srgbClr val="16181A"/>
                </a:solidFill>
                <a:latin typeface="Georgia" pitchFamily="34" charset="0"/>
                <a:ea typeface="Georgia" pitchFamily="34" charset="-122"/>
                <a:cs typeface="Georgia" pitchFamily="34" charset="-120"/>
              </a:rPr>
              <a:t>“Freedom is not the absence of dependence. Freedom is the right to negotiate dependence without becoming property.”</a:t>
            </a:r>
            <a:endParaRPr lang="en-US" sz="1350" dirty="0"/>
          </a:p>
        </p:txBody>
      </p:sp>
      <p:sp>
        <p:nvSpPr>
          <p:cNvPr id="25" name="Slide Number Placeholder 0"/>
          <p:cNvSpPr>
            <a:spLocks noGrp="1"/>
          </p:cNvSpPr>
          <p:nvPr>
            <p:ph type="sldNum" sz="quarter" idx="4294967295"/>
          </p:nvPr>
        </p:nvSpPr>
        <p:spPr>
          <a:xfrm>
            <a:off x="8522208" y="486460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4A5560"/>
                </a:solidFill>
                <a:latin typeface="Courier New"/>
                <a:ea typeface="Courier New"/>
                <a:cs typeface="Courier New"/>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7863840" cy="292608"/>
          </a:xfrm>
          <a:prstGeom prst="rect">
            <a:avLst/>
          </a:prstGeom>
          <a:noFill/>
          <a:ln/>
        </p:spPr>
        <p:txBody>
          <a:bodyPr wrap="square" lIns="0" tIns="0" rIns="0" bIns="0" rtlCol="0"/>
          <a:lstStyle/>
          <a:p>
            <a:pPr indent="0" marL="0">
              <a:buNone/>
            </a:pPr>
            <a:r>
              <a:rPr lang="en-US" sz="900" spc="300" kern="0" dirty="0">
                <a:solidFill>
                  <a:srgbClr val="0E4B50"/>
                </a:solidFill>
                <a:latin typeface="Courier New" pitchFamily="34" charset="0"/>
                <a:ea typeface="Courier New" pitchFamily="34" charset="-122"/>
                <a:cs typeface="Courier New" pitchFamily="34" charset="-120"/>
              </a:rPr>
              <a:t>16 · TONE</a:t>
            </a:r>
            <a:endParaRPr lang="en-US" sz="900" dirty="0"/>
          </a:p>
        </p:txBody>
      </p:sp>
      <p:sp>
        <p:nvSpPr>
          <p:cNvPr id="3" name="Text 0"/>
          <p:cNvSpPr/>
          <p:nvPr>
            <p:ph idx="101" type="title" hasCustomPrompt="1"/>
          </p:nvPr>
        </p:nvSpPr>
        <p:spPr>
          <a:xfrm>
            <a:off x="548640" y="658368"/>
            <a:ext cx="8046720" cy="731520"/>
          </a:xfrm>
          <a:prstGeom prst="rect">
            <a:avLst/>
          </a:prstGeom>
          <a:noFill/>
          <a:ln/>
        </p:spPr>
        <p:txBody>
          <a:bodyPr wrap="square" lIns="0" tIns="0" rIns="0" bIns="0" rtlCol="0"/>
          <a:lstStyle/>
          <a:p>
            <a:pPr algn="l" indent="0" marL="0">
              <a:buNone/>
            </a:pPr>
            <a:r>
              <a:rPr lang="en-US" sz="2600" b="1" dirty="0">
                <a:solidFill>
                  <a:srgbClr val="16181A"/>
                </a:solidFill>
                <a:latin typeface="Georgia" pitchFamily="34" charset="0"/>
                <a:ea typeface="Georgia" pitchFamily="34" charset="-122"/>
                <a:cs typeface="Georgia" pitchFamily="34" charset="-120"/>
              </a:rPr>
              <a:t>Street-level intimacy inside continental-scale politics</a:t>
            </a:r>
            <a:endParaRPr lang="en-US" sz="2600" dirty="0"/>
          </a:p>
        </p:txBody>
      </p:sp>
      <p:sp>
        <p:nvSpPr>
          <p:cNvPr id="4" name="Text 2"/>
          <p:cNvSpPr/>
          <p:nvPr/>
        </p:nvSpPr>
        <p:spPr>
          <a:xfrm>
            <a:off x="548640" y="1691640"/>
            <a:ext cx="1947672" cy="1691640"/>
          </a:xfrm>
          <a:prstGeom prst="rect">
            <a:avLst/>
          </a:prstGeom>
          <a:solidFill>
            <a:srgbClr val="FFFFFF">
              <a:alpha val="45000"/>
            </a:srgbClr>
          </a:solidFill>
          <a:ln w="9525">
            <a:solidFill>
              <a:srgbClr val="9AA0A6"/>
            </a:solidFill>
            <a:prstDash val="solid"/>
          </a:ln>
        </p:spPr>
        <p:txBody>
          <a:bodyPr wrap="square" lIns="101600" tIns="101600" rIns="101600" bIns="101600" rtlCol="0" anchor="t"/>
          <a:lstStyle/>
          <a:p>
            <a:pPr algn="l" indent="0" marL="0">
              <a:spcAft>
                <a:spcPts val="500"/>
              </a:spcAft>
              <a:buNone/>
            </a:pPr>
            <a:r>
              <a:rPr lang="en-US" sz="700" spc="100" kern="0" dirty="0">
                <a:solidFill>
                  <a:srgbClr val="4A5560"/>
                </a:solidFill>
                <a:latin typeface="Courier New" pitchFamily="34" charset="0"/>
                <a:ea typeface="Courier New" pitchFamily="34" charset="-122"/>
                <a:cs typeface="Courier New" pitchFamily="34" charset="-120"/>
              </a:rPr>
              <a:t>TONE · TRAGEDY</a:t>
            </a:r>
            <a:endParaRPr lang="en-US" sz="700" dirty="0"/>
          </a:p>
          <a:p>
            <a:pPr algn="l" indent="0" marL="0">
              <a:lnSpc>
                <a:spcPct val="105000"/>
              </a:lnSpc>
              <a:spcAft>
                <a:spcPts val="500"/>
              </a:spcAft>
              <a:buNone/>
            </a:pPr>
            <a:r>
              <a:rPr lang="en-US" sz="1150" b="1" dirty="0">
                <a:solidFill>
                  <a:srgbClr val="16181A"/>
                </a:solidFill>
                <a:latin typeface="Georgia" pitchFamily="34" charset="0"/>
                <a:ea typeface="Georgia" pitchFamily="34" charset="-122"/>
                <a:cs typeface="Georgia" pitchFamily="34" charset="-120"/>
              </a:rPr>
              <a:t>Cyberpunk: Edgerunners</a:t>
            </a:r>
            <a:endParaRPr lang="en-US" sz="700" dirty="0"/>
          </a:p>
          <a:p>
            <a:pPr algn="l" indent="0" marL="0">
              <a:lnSpc>
                <a:spcPct val="112000"/>
              </a:lnSpc>
              <a:buNone/>
            </a:pPr>
            <a:r>
              <a:rPr lang="en-US" sz="880" dirty="0">
                <a:solidFill>
                  <a:srgbClr val="16181A"/>
                </a:solidFill>
                <a:latin typeface="Arial" pitchFamily="34" charset="0"/>
                <a:ea typeface="Arial" pitchFamily="34" charset="-122"/>
                <a:cs typeface="Arial" pitchFamily="34" charset="-120"/>
              </a:rPr>
              <a:t>Warmth that makes the cost land.</a:t>
            </a:r>
            <a:endParaRPr lang="en-US" sz="700" dirty="0"/>
          </a:p>
        </p:txBody>
      </p:sp>
      <p:sp>
        <p:nvSpPr>
          <p:cNvPr id="5" name="Text 3"/>
          <p:cNvSpPr/>
          <p:nvPr/>
        </p:nvSpPr>
        <p:spPr>
          <a:xfrm>
            <a:off x="2624328" y="1691640"/>
            <a:ext cx="1947672" cy="1691640"/>
          </a:xfrm>
          <a:prstGeom prst="rect">
            <a:avLst/>
          </a:prstGeom>
          <a:solidFill>
            <a:srgbClr val="FFFFFF">
              <a:alpha val="45000"/>
            </a:srgbClr>
          </a:solidFill>
          <a:ln w="9525">
            <a:solidFill>
              <a:srgbClr val="9AA0A6"/>
            </a:solidFill>
            <a:prstDash val="solid"/>
          </a:ln>
        </p:spPr>
        <p:txBody>
          <a:bodyPr wrap="square" lIns="101600" tIns="101600" rIns="101600" bIns="101600" rtlCol="0" anchor="t"/>
          <a:lstStyle/>
          <a:p>
            <a:pPr algn="l" indent="0" marL="0">
              <a:spcAft>
                <a:spcPts val="500"/>
              </a:spcAft>
              <a:buNone/>
            </a:pPr>
            <a:r>
              <a:rPr lang="en-US" sz="700" spc="100" kern="0" dirty="0">
                <a:solidFill>
                  <a:srgbClr val="4A5560"/>
                </a:solidFill>
                <a:latin typeface="Courier New" pitchFamily="34" charset="0"/>
                <a:ea typeface="Courier New" pitchFamily="34" charset="-122"/>
                <a:cs typeface="Courier New" pitchFamily="34" charset="-120"/>
              </a:rPr>
              <a:t>CITY · FAMILY</a:t>
            </a:r>
            <a:endParaRPr lang="en-US" sz="700" dirty="0"/>
          </a:p>
          <a:p>
            <a:pPr algn="l" indent="0" marL="0">
              <a:lnSpc>
                <a:spcPct val="105000"/>
              </a:lnSpc>
              <a:spcAft>
                <a:spcPts val="500"/>
              </a:spcAft>
              <a:buNone/>
            </a:pPr>
            <a:r>
              <a:rPr lang="en-US" sz="1150" b="1" dirty="0">
                <a:solidFill>
                  <a:srgbClr val="16181A"/>
                </a:solidFill>
                <a:latin typeface="Georgia" pitchFamily="34" charset="0"/>
                <a:ea typeface="Georgia" pitchFamily="34" charset="-122"/>
                <a:cs typeface="Georgia" pitchFamily="34" charset="-120"/>
              </a:rPr>
              <a:t>Arcane</a:t>
            </a:r>
            <a:endParaRPr lang="en-US" sz="700" dirty="0"/>
          </a:p>
          <a:p>
            <a:pPr algn="l" indent="0" marL="0">
              <a:lnSpc>
                <a:spcPct val="112000"/>
              </a:lnSpc>
              <a:buNone/>
            </a:pPr>
            <a:r>
              <a:rPr lang="en-US" sz="880" dirty="0">
                <a:solidFill>
                  <a:srgbClr val="16181A"/>
                </a:solidFill>
                <a:latin typeface="Arial" pitchFamily="34" charset="0"/>
                <a:ea typeface="Arial" pitchFamily="34" charset="-122"/>
                <a:cs typeface="Arial" pitchFamily="34" charset="-120"/>
              </a:rPr>
              <a:t>Institutions that love people badly.</a:t>
            </a:r>
            <a:endParaRPr lang="en-US" sz="700" dirty="0"/>
          </a:p>
        </p:txBody>
      </p:sp>
      <p:sp>
        <p:nvSpPr>
          <p:cNvPr id="6" name="Text 4"/>
          <p:cNvSpPr/>
          <p:nvPr/>
        </p:nvSpPr>
        <p:spPr>
          <a:xfrm>
            <a:off x="4700016" y="1691640"/>
            <a:ext cx="1947672" cy="1691640"/>
          </a:xfrm>
          <a:prstGeom prst="rect">
            <a:avLst/>
          </a:prstGeom>
          <a:solidFill>
            <a:srgbClr val="FFFFFF">
              <a:alpha val="45000"/>
            </a:srgbClr>
          </a:solidFill>
          <a:ln w="9525">
            <a:solidFill>
              <a:srgbClr val="9AA0A6"/>
            </a:solidFill>
            <a:prstDash val="solid"/>
          </a:ln>
        </p:spPr>
        <p:txBody>
          <a:bodyPr wrap="square" lIns="101600" tIns="101600" rIns="101600" bIns="101600" rtlCol="0" anchor="t"/>
          <a:lstStyle/>
          <a:p>
            <a:pPr algn="l" indent="0" marL="0">
              <a:spcAft>
                <a:spcPts val="500"/>
              </a:spcAft>
              <a:buNone/>
            </a:pPr>
            <a:r>
              <a:rPr lang="en-US" sz="700" spc="100" kern="0" dirty="0">
                <a:solidFill>
                  <a:srgbClr val="4A5560"/>
                </a:solidFill>
                <a:latin typeface="Courier New" pitchFamily="34" charset="0"/>
                <a:ea typeface="Courier New" pitchFamily="34" charset="-122"/>
                <a:cs typeface="Courier New" pitchFamily="34" charset="-120"/>
              </a:rPr>
              <a:t>SYSTEMS</a:t>
            </a:r>
            <a:endParaRPr lang="en-US" sz="700" dirty="0"/>
          </a:p>
          <a:p>
            <a:pPr algn="l" indent="0" marL="0">
              <a:lnSpc>
                <a:spcPct val="105000"/>
              </a:lnSpc>
              <a:spcAft>
                <a:spcPts val="500"/>
              </a:spcAft>
              <a:buNone/>
            </a:pPr>
            <a:r>
              <a:rPr lang="en-US" sz="1150" b="1" dirty="0">
                <a:solidFill>
                  <a:srgbClr val="16181A"/>
                </a:solidFill>
                <a:latin typeface="Georgia" pitchFamily="34" charset="0"/>
                <a:ea typeface="Georgia" pitchFamily="34" charset="-122"/>
                <a:cs typeface="Georgia" pitchFamily="34" charset="-120"/>
              </a:rPr>
              <a:t>The Expanse</a:t>
            </a:r>
            <a:endParaRPr lang="en-US" sz="700" dirty="0"/>
          </a:p>
          <a:p>
            <a:pPr algn="l" indent="0" marL="0">
              <a:lnSpc>
                <a:spcPct val="112000"/>
              </a:lnSpc>
              <a:buNone/>
            </a:pPr>
            <a:r>
              <a:rPr lang="en-US" sz="880" dirty="0">
                <a:solidFill>
                  <a:srgbClr val="16181A"/>
                </a:solidFill>
                <a:latin typeface="Arial" pitchFamily="34" charset="0"/>
                <a:ea typeface="Arial" pitchFamily="34" charset="-122"/>
                <a:cs typeface="Arial" pitchFamily="34" charset="-120"/>
              </a:rPr>
              <a:t>Politics that behave like weather.</a:t>
            </a:r>
            <a:endParaRPr lang="en-US" sz="700" dirty="0"/>
          </a:p>
        </p:txBody>
      </p:sp>
      <p:sp>
        <p:nvSpPr>
          <p:cNvPr id="7" name="Text 5"/>
          <p:cNvSpPr/>
          <p:nvPr/>
        </p:nvSpPr>
        <p:spPr>
          <a:xfrm>
            <a:off x="6775704" y="1691640"/>
            <a:ext cx="1947672" cy="1691640"/>
          </a:xfrm>
          <a:prstGeom prst="rect">
            <a:avLst/>
          </a:prstGeom>
          <a:solidFill>
            <a:srgbClr val="FFFFFF">
              <a:alpha val="45000"/>
            </a:srgbClr>
          </a:solidFill>
          <a:ln w="9525">
            <a:solidFill>
              <a:srgbClr val="9AA0A6"/>
            </a:solidFill>
            <a:prstDash val="solid"/>
          </a:ln>
        </p:spPr>
        <p:txBody>
          <a:bodyPr wrap="square" lIns="101600" tIns="101600" rIns="101600" bIns="101600" rtlCol="0" anchor="t"/>
          <a:lstStyle/>
          <a:p>
            <a:pPr algn="l" indent="0" marL="0">
              <a:spcAft>
                <a:spcPts val="500"/>
              </a:spcAft>
              <a:buNone/>
            </a:pPr>
            <a:r>
              <a:rPr lang="en-US" sz="700" spc="100" kern="0" dirty="0">
                <a:solidFill>
                  <a:srgbClr val="4A5560"/>
                </a:solidFill>
                <a:latin typeface="Courier New" pitchFamily="34" charset="0"/>
                <a:ea typeface="Courier New" pitchFamily="34" charset="-122"/>
                <a:cs typeface="Courier New" pitchFamily="34" charset="-120"/>
              </a:rPr>
              <a:t>BROTHERS</a:t>
            </a:r>
            <a:endParaRPr lang="en-US" sz="700" dirty="0"/>
          </a:p>
          <a:p>
            <a:pPr algn="l" indent="0" marL="0">
              <a:lnSpc>
                <a:spcPct val="105000"/>
              </a:lnSpc>
              <a:spcAft>
                <a:spcPts val="500"/>
              </a:spcAft>
              <a:buNone/>
            </a:pPr>
            <a:r>
              <a:rPr lang="en-US" sz="1150" b="1" dirty="0">
                <a:solidFill>
                  <a:srgbClr val="16181A"/>
                </a:solidFill>
                <a:latin typeface="Georgia" pitchFamily="34" charset="0"/>
                <a:ea typeface="Georgia" pitchFamily="34" charset="-122"/>
                <a:cs typeface="Georgia" pitchFamily="34" charset="-120"/>
              </a:rPr>
              <a:t>Fullmetal Alchemist: Brotherhood</a:t>
            </a:r>
            <a:endParaRPr lang="en-US" sz="700" dirty="0"/>
          </a:p>
          <a:p>
            <a:pPr algn="l" indent="0" marL="0">
              <a:lnSpc>
                <a:spcPct val="112000"/>
              </a:lnSpc>
              <a:buNone/>
            </a:pPr>
            <a:r>
              <a:rPr lang="en-US" sz="880" dirty="0">
                <a:solidFill>
                  <a:srgbClr val="16181A"/>
                </a:solidFill>
                <a:latin typeface="Arial" pitchFamily="34" charset="0"/>
                <a:ea typeface="Arial" pitchFamily="34" charset="-122"/>
                <a:cs typeface="Arial" pitchFamily="34" charset="-120"/>
              </a:rPr>
              <a:t>Two brothers, one body’s consequences.</a:t>
            </a:r>
            <a:endParaRPr lang="en-US" sz="700" dirty="0"/>
          </a:p>
        </p:txBody>
      </p:sp>
      <p:sp>
        <p:nvSpPr>
          <p:cNvPr id="8" name="Text 6"/>
          <p:cNvSpPr/>
          <p:nvPr/>
        </p:nvSpPr>
        <p:spPr>
          <a:xfrm>
            <a:off x="548640" y="3611880"/>
            <a:ext cx="8046720" cy="274320"/>
          </a:xfrm>
          <a:prstGeom prst="rect">
            <a:avLst/>
          </a:prstGeom>
          <a:noFill/>
          <a:ln/>
        </p:spPr>
        <p:txBody>
          <a:bodyPr wrap="square" lIns="0" tIns="0" rIns="0" bIns="0" rtlCol="0" anchor="ctr"/>
          <a:lstStyle/>
          <a:p>
            <a:pPr indent="0" marL="0">
              <a:buNone/>
            </a:pPr>
            <a:r>
              <a:rPr lang="en-US" sz="900" i="1" dirty="0">
                <a:solidFill>
                  <a:srgbClr val="4A5560"/>
                </a:solidFill>
                <a:latin typeface="Arial" pitchFamily="34" charset="0"/>
                <a:ea typeface="Arial" pitchFamily="34" charset="-122"/>
                <a:cs typeface="Arial" pitchFamily="34" charset="-120"/>
              </a:rPr>
              <a:t>Suggested comps — the creator may edit this slate.</a:t>
            </a:r>
            <a:endParaRPr lang="en-US" sz="900" dirty="0"/>
          </a:p>
        </p:txBody>
      </p:sp>
      <p:sp>
        <p:nvSpPr>
          <p:cNvPr id="25" name="Slide Number Placeholder 0"/>
          <p:cNvSpPr>
            <a:spLocks noGrp="1"/>
          </p:cNvSpPr>
          <p:nvPr>
            <p:ph type="sldNum" sz="quarter" idx="4294967295"/>
          </p:nvPr>
        </p:nvSpPr>
        <p:spPr>
          <a:xfrm>
            <a:off x="8522208" y="486460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4A5560"/>
                </a:solidFill>
                <a:latin typeface="Courier New"/>
                <a:ea typeface="Courier New"/>
                <a:cs typeface="Courier New"/>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7863840" cy="292608"/>
          </a:xfrm>
          <a:prstGeom prst="rect">
            <a:avLst/>
          </a:prstGeom>
          <a:noFill/>
          <a:ln/>
        </p:spPr>
        <p:txBody>
          <a:bodyPr wrap="square" lIns="0" tIns="0" rIns="0" bIns="0" rtlCol="0"/>
          <a:lstStyle/>
          <a:p>
            <a:pPr indent="0" marL="0">
              <a:buNone/>
            </a:pPr>
            <a:r>
              <a:rPr lang="en-US" sz="900" spc="300" kern="0" dirty="0">
                <a:solidFill>
                  <a:srgbClr val="0E4B50"/>
                </a:solidFill>
                <a:latin typeface="Courier New" pitchFamily="34" charset="0"/>
                <a:ea typeface="Courier New" pitchFamily="34" charset="-122"/>
                <a:cs typeface="Courier New" pitchFamily="34" charset="-120"/>
              </a:rPr>
              <a:t>17 · THE UNIVERSE</a:t>
            </a:r>
            <a:endParaRPr lang="en-US" sz="900" dirty="0"/>
          </a:p>
        </p:txBody>
      </p:sp>
      <p:sp>
        <p:nvSpPr>
          <p:cNvPr id="3" name="Text 0"/>
          <p:cNvSpPr/>
          <p:nvPr>
            <p:ph idx="101" type="title" hasCustomPrompt="1"/>
          </p:nvPr>
        </p:nvSpPr>
        <p:spPr>
          <a:xfrm>
            <a:off x="548640" y="658368"/>
            <a:ext cx="8046720" cy="731520"/>
          </a:xfrm>
          <a:prstGeom prst="rect">
            <a:avLst/>
          </a:prstGeom>
          <a:noFill/>
          <a:ln/>
        </p:spPr>
        <p:txBody>
          <a:bodyPr wrap="square" lIns="0" tIns="0" rIns="0" bIns="0" rtlCol="0"/>
          <a:lstStyle/>
          <a:p>
            <a:pPr algn="l" indent="0" marL="0">
              <a:buNone/>
            </a:pPr>
            <a:r>
              <a:rPr lang="en-US" sz="2600" b="1" dirty="0">
                <a:solidFill>
                  <a:srgbClr val="16181A"/>
                </a:solidFill>
                <a:latin typeface="Georgia" pitchFamily="34" charset="0"/>
                <a:ea typeface="Georgia" pitchFamily="34" charset="-122"/>
                <a:cs typeface="Georgia" pitchFamily="34" charset="-120"/>
              </a:rPr>
              <a:t>Built for more</a:t>
            </a:r>
            <a:endParaRPr lang="en-US" sz="2600" dirty="0"/>
          </a:p>
        </p:txBody>
      </p:sp>
      <p:sp>
        <p:nvSpPr>
          <p:cNvPr id="4" name="Text 2"/>
          <p:cNvSpPr/>
          <p:nvPr/>
        </p:nvSpPr>
        <p:spPr>
          <a:xfrm>
            <a:off x="548640" y="1463040"/>
            <a:ext cx="8046720" cy="411480"/>
          </a:xfrm>
          <a:prstGeom prst="rect">
            <a:avLst/>
          </a:prstGeom>
          <a:noFill/>
          <a:ln/>
        </p:spPr>
        <p:txBody>
          <a:bodyPr wrap="square" lIns="0" tIns="0" rIns="0" bIns="0" rtlCol="0" anchor="t"/>
          <a:lstStyle/>
          <a:p>
            <a:pPr indent="0" marL="0">
              <a:lnSpc>
                <a:spcPct val="125000"/>
              </a:lnSpc>
              <a:buNone/>
            </a:pPr>
            <a:r>
              <a:rPr lang="en-US" sz="1200" dirty="0">
                <a:solidFill>
                  <a:srgbClr val="16181A"/>
                </a:solidFill>
                <a:latin typeface="Arial" pitchFamily="34" charset="0"/>
                <a:ea typeface="Arial" pitchFamily="34" charset="-122"/>
                <a:cs typeface="Arial" pitchFamily="34" charset="-120"/>
              </a:rPr>
              <a:t>Book One closes its own story and leaves the universe’s engines running — spoiler-free:</a:t>
            </a:r>
            <a:endParaRPr lang="en-US" sz="1200" dirty="0"/>
          </a:p>
        </p:txBody>
      </p:sp>
      <p:sp>
        <p:nvSpPr>
          <p:cNvPr id="5" name="Text 3"/>
          <p:cNvSpPr/>
          <p:nvPr/>
        </p:nvSpPr>
        <p:spPr>
          <a:xfrm>
            <a:off x="548640" y="2011680"/>
            <a:ext cx="3977640" cy="914400"/>
          </a:xfrm>
          <a:prstGeom prst="rect">
            <a:avLst/>
          </a:prstGeom>
          <a:solidFill>
            <a:srgbClr val="FFFFFF">
              <a:alpha val="45000"/>
            </a:srgbClr>
          </a:solidFill>
          <a:ln w="9525">
            <a:solidFill>
              <a:srgbClr val="9AA0A6"/>
            </a:solidFill>
            <a:prstDash val="solid"/>
          </a:ln>
        </p:spPr>
        <p:txBody>
          <a:bodyPr wrap="square" lIns="101600" tIns="101600" rIns="101600" bIns="101600" rtlCol="0" anchor="t"/>
          <a:lstStyle/>
          <a:p>
            <a:pPr algn="l" indent="0" marL="0">
              <a:spcAft>
                <a:spcPts val="400"/>
              </a:spcAft>
              <a:buNone/>
            </a:pPr>
            <a:r>
              <a:rPr lang="en-US" sz="1200" b="1" dirty="0">
                <a:solidFill>
                  <a:srgbClr val="16181A"/>
                </a:solidFill>
                <a:latin typeface="Georgia" pitchFamily="34" charset="0"/>
                <a:ea typeface="Georgia" pitchFamily="34" charset="-122"/>
                <a:cs typeface="Georgia" pitchFamily="34" charset="-120"/>
              </a:rPr>
              <a:t>The recognition crisis</a:t>
            </a:r>
            <a:endParaRPr lang="en-US" sz="1200" dirty="0"/>
          </a:p>
          <a:p>
            <a:pPr algn="l" indent="0" marL="0">
              <a:lnSpc>
                <a:spcPct val="110000"/>
              </a:lnSpc>
              <a:buNone/>
            </a:pPr>
            <a:r>
              <a:rPr lang="en-US" sz="900" dirty="0">
                <a:solidFill>
                  <a:srgbClr val="16181A"/>
                </a:solidFill>
                <a:latin typeface="Arial" pitchFamily="34" charset="0"/>
                <a:ea typeface="Arial" pitchFamily="34" charset="-122"/>
                <a:cs typeface="Arial" pitchFamily="34" charset="-120"/>
              </a:rPr>
              <a:t>Three legal orders occupy one coastline. None of them blinks first.</a:t>
            </a:r>
            <a:endParaRPr lang="en-US" sz="1200" dirty="0"/>
          </a:p>
        </p:txBody>
      </p:sp>
      <p:sp>
        <p:nvSpPr>
          <p:cNvPr id="6" name="Text 4"/>
          <p:cNvSpPr/>
          <p:nvPr/>
        </p:nvSpPr>
        <p:spPr>
          <a:xfrm>
            <a:off x="4690872" y="2011680"/>
            <a:ext cx="3977640" cy="914400"/>
          </a:xfrm>
          <a:prstGeom prst="rect">
            <a:avLst/>
          </a:prstGeom>
          <a:solidFill>
            <a:srgbClr val="FFFFFF">
              <a:alpha val="45000"/>
            </a:srgbClr>
          </a:solidFill>
          <a:ln w="9525">
            <a:solidFill>
              <a:srgbClr val="9AA0A6"/>
            </a:solidFill>
            <a:prstDash val="solid"/>
          </a:ln>
        </p:spPr>
        <p:txBody>
          <a:bodyPr wrap="square" lIns="101600" tIns="101600" rIns="101600" bIns="101600" rtlCol="0" anchor="t"/>
          <a:lstStyle/>
          <a:p>
            <a:pPr algn="l" indent="0" marL="0">
              <a:spcAft>
                <a:spcPts val="400"/>
              </a:spcAft>
              <a:buNone/>
            </a:pPr>
            <a:r>
              <a:rPr lang="en-US" sz="1200" b="1" dirty="0">
                <a:solidFill>
                  <a:srgbClr val="16181A"/>
                </a:solidFill>
                <a:latin typeface="Georgia" pitchFamily="34" charset="0"/>
                <a:ea typeface="Georgia" pitchFamily="34" charset="-122"/>
                <a:cs typeface="Georgia" pitchFamily="34" charset="-120"/>
              </a:rPr>
              <a:t>The fight over Bloodline’s fragments</a:t>
            </a:r>
            <a:endParaRPr lang="en-US" sz="1200" dirty="0"/>
          </a:p>
          <a:p>
            <a:pPr algn="l" indent="0" marL="0">
              <a:lnSpc>
                <a:spcPct val="110000"/>
              </a:lnSpc>
              <a:buNone/>
            </a:pPr>
            <a:r>
              <a:rPr lang="en-US" sz="900" dirty="0">
                <a:solidFill>
                  <a:srgbClr val="16181A"/>
                </a:solidFill>
                <a:latin typeface="Arial" pitchFamily="34" charset="0"/>
                <a:ea typeface="Arial" pitchFamily="34" charset="-122"/>
                <a:cs typeface="Arial" pitchFamily="34" charset="-120"/>
              </a:rPr>
              <a:t>What breaks apart gets claimed — by rivals, states, and criminals.</a:t>
            </a:r>
            <a:endParaRPr lang="en-US" sz="1200" dirty="0"/>
          </a:p>
        </p:txBody>
      </p:sp>
      <p:sp>
        <p:nvSpPr>
          <p:cNvPr id="7" name="Text 5"/>
          <p:cNvSpPr/>
          <p:nvPr/>
        </p:nvSpPr>
        <p:spPr>
          <a:xfrm>
            <a:off x="548640" y="3035808"/>
            <a:ext cx="3977640" cy="914400"/>
          </a:xfrm>
          <a:prstGeom prst="rect">
            <a:avLst/>
          </a:prstGeom>
          <a:solidFill>
            <a:srgbClr val="FFFFFF">
              <a:alpha val="45000"/>
            </a:srgbClr>
          </a:solidFill>
          <a:ln w="9525">
            <a:solidFill>
              <a:srgbClr val="9AA0A6"/>
            </a:solidFill>
            <a:prstDash val="solid"/>
          </a:ln>
        </p:spPr>
        <p:txBody>
          <a:bodyPr wrap="square" lIns="101600" tIns="101600" rIns="101600" bIns="101600" rtlCol="0" anchor="t"/>
          <a:lstStyle/>
          <a:p>
            <a:pPr algn="l" indent="0" marL="0">
              <a:spcAft>
                <a:spcPts val="400"/>
              </a:spcAft>
              <a:buNone/>
            </a:pPr>
            <a:r>
              <a:rPr lang="en-US" sz="1200" b="1" dirty="0">
                <a:solidFill>
                  <a:srgbClr val="16181A"/>
                </a:solidFill>
                <a:latin typeface="Georgia" pitchFamily="34" charset="0"/>
                <a:ea typeface="Georgia" pitchFamily="34" charset="-122"/>
                <a:cs typeface="Georgia" pitchFamily="34" charset="-120"/>
              </a:rPr>
              <a:t>Off-world Resonator programs</a:t>
            </a:r>
            <a:endParaRPr lang="en-US" sz="1200" dirty="0"/>
          </a:p>
          <a:p>
            <a:pPr algn="l" indent="0" marL="0">
              <a:lnSpc>
                <a:spcPct val="110000"/>
              </a:lnSpc>
              <a:buNone/>
            </a:pPr>
            <a:r>
              <a:rPr lang="en-US" sz="900" dirty="0">
                <a:solidFill>
                  <a:srgbClr val="16181A"/>
                </a:solidFill>
                <a:latin typeface="Arial" pitchFamily="34" charset="0"/>
                <a:ea typeface="Arial" pitchFamily="34" charset="-122"/>
                <a:cs typeface="Arial" pitchFamily="34" charset="-120"/>
              </a:rPr>
              <a:t>The research leaked. The Moon and Mars were always listening.</a:t>
            </a:r>
            <a:endParaRPr lang="en-US" sz="1200" dirty="0"/>
          </a:p>
        </p:txBody>
      </p:sp>
      <p:sp>
        <p:nvSpPr>
          <p:cNvPr id="8" name="Text 6"/>
          <p:cNvSpPr/>
          <p:nvPr/>
        </p:nvSpPr>
        <p:spPr>
          <a:xfrm>
            <a:off x="4690872" y="3035808"/>
            <a:ext cx="3977640" cy="914400"/>
          </a:xfrm>
          <a:prstGeom prst="rect">
            <a:avLst/>
          </a:prstGeom>
          <a:solidFill>
            <a:srgbClr val="FFFFFF">
              <a:alpha val="45000"/>
            </a:srgbClr>
          </a:solidFill>
          <a:ln w="9525">
            <a:solidFill>
              <a:srgbClr val="0E4B50"/>
            </a:solidFill>
            <a:prstDash val="solid"/>
          </a:ln>
        </p:spPr>
        <p:txBody>
          <a:bodyPr wrap="square" lIns="101600" tIns="101600" rIns="101600" bIns="101600" rtlCol="0" anchor="t"/>
          <a:lstStyle/>
          <a:p>
            <a:pPr algn="l" indent="0" marL="0">
              <a:spcAft>
                <a:spcPts val="400"/>
              </a:spcAft>
              <a:buNone/>
            </a:pPr>
            <a:r>
              <a:rPr lang="en-US" sz="1200" b="1" dirty="0">
                <a:solidFill>
                  <a:srgbClr val="16181A"/>
                </a:solidFill>
                <a:latin typeface="Georgia" pitchFamily="34" charset="0"/>
                <a:ea typeface="Georgia" pitchFamily="34" charset="-122"/>
                <a:cs typeface="Georgia" pitchFamily="34" charset="-120"/>
              </a:rPr>
              <a:t>Hidden copies of Elik and Tomas</a:t>
            </a:r>
            <a:endParaRPr lang="en-US" sz="1200" dirty="0"/>
          </a:p>
          <a:p>
            <a:pPr algn="l" indent="0" marL="0">
              <a:lnSpc>
                <a:spcPct val="110000"/>
              </a:lnSpc>
              <a:buNone/>
            </a:pPr>
            <a:r>
              <a:rPr lang="en-US" sz="900" dirty="0">
                <a:solidFill>
                  <a:srgbClr val="16181A"/>
                </a:solidFill>
                <a:latin typeface="Arial" pitchFamily="34" charset="0"/>
                <a:ea typeface="Arial" pitchFamily="34" charset="-122"/>
                <a:cs typeface="Arial" pitchFamily="34" charset="-120"/>
              </a:rPr>
              <a:t>Somewhere, a defector kept unauthorized backups of two dead boys.</a:t>
            </a:r>
            <a:endParaRPr lang="en-US" sz="1200" dirty="0"/>
          </a:p>
        </p:txBody>
      </p:sp>
      <p:sp>
        <p:nvSpPr>
          <p:cNvPr id="9" name="Text 7"/>
          <p:cNvSpPr/>
          <p:nvPr/>
        </p:nvSpPr>
        <p:spPr>
          <a:xfrm>
            <a:off x="548640" y="4224528"/>
            <a:ext cx="2834640" cy="365760"/>
          </a:xfrm>
          <a:prstGeom prst="rect">
            <a:avLst/>
          </a:prstGeom>
          <a:solidFill>
            <a:srgbClr val="C9A24B">
              <a:alpha val="10000"/>
            </a:srgbClr>
          </a:solidFill>
          <a:ln w="12700">
            <a:solidFill>
              <a:srgbClr val="C9A24B"/>
            </a:solidFill>
          </a:ln>
        </p:spPr>
        <p:txBody>
          <a:bodyPr wrap="square" lIns="38100" tIns="38100" rIns="38100" bIns="38100" rtlCol="0" anchor="ctr"/>
          <a:lstStyle/>
          <a:p>
            <a:pPr algn="ctr" indent="0" marL="0">
              <a:buNone/>
            </a:pPr>
            <a:r>
              <a:rPr lang="en-US" sz="700" spc="100" kern="0" dirty="0">
                <a:solidFill>
                  <a:srgbClr val="A3212E"/>
                </a:solidFill>
                <a:latin typeface="Courier New" pitchFamily="34" charset="0"/>
                <a:ea typeface="Courier New" pitchFamily="34" charset="-122"/>
                <a:cs typeface="Courier New" pitchFamily="34" charset="-120"/>
              </a:rPr>
              <a:t>● </a:t>
            </a:r>
            <a:pPr algn="ctr" indent="0" marL="0">
              <a:buNone/>
            </a:pPr>
            <a:r>
              <a:rPr lang="en-US" sz="850" spc="100" kern="0" dirty="0">
                <a:solidFill>
                  <a:srgbClr val="16181A"/>
                </a:solidFill>
                <a:latin typeface="Courier New" pitchFamily="34" charset="0"/>
                <a:ea typeface="Courier New" pitchFamily="34" charset="-122"/>
                <a:cs typeface="Courier New" pitchFamily="34" charset="-120"/>
              </a:rPr>
              <a:t>SEQUEL CLOCKS: ALREADY WOUND</a:t>
            </a:r>
            <a:endParaRPr lang="en-US" sz="850" dirty="0"/>
          </a:p>
        </p:txBody>
      </p:sp>
      <p:sp>
        <p:nvSpPr>
          <p:cNvPr id="25" name="Slide Number Placeholder 0"/>
          <p:cNvSpPr>
            <a:spLocks noGrp="1"/>
          </p:cNvSpPr>
          <p:nvPr>
            <p:ph type="sldNum" sz="quarter" idx="4294967295"/>
          </p:nvPr>
        </p:nvSpPr>
        <p:spPr>
          <a:xfrm>
            <a:off x="8522208" y="486460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4A5560"/>
                </a:solidFill>
                <a:latin typeface="Courier New"/>
                <a:ea typeface="Courier New"/>
                <a:cs typeface="Courier New"/>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7863840" cy="292608"/>
          </a:xfrm>
          <a:prstGeom prst="rect">
            <a:avLst/>
          </a:prstGeom>
          <a:noFill/>
          <a:ln/>
        </p:spPr>
        <p:txBody>
          <a:bodyPr wrap="square" lIns="0" tIns="0" rIns="0" bIns="0" rtlCol="0"/>
          <a:lstStyle/>
          <a:p>
            <a:pPr indent="0" marL="0">
              <a:buNone/>
            </a:pPr>
            <a:r>
              <a:rPr lang="en-US" sz="900" spc="300" kern="0" dirty="0">
                <a:solidFill>
                  <a:srgbClr val="0E4B50"/>
                </a:solidFill>
                <a:latin typeface="Courier New" pitchFamily="34" charset="0"/>
                <a:ea typeface="Courier New" pitchFamily="34" charset="-122"/>
                <a:cs typeface="Courier New" pitchFamily="34" charset="-120"/>
              </a:rPr>
              <a:t>18 · PROVENANCE</a:t>
            </a:r>
            <a:endParaRPr lang="en-US" sz="900" dirty="0"/>
          </a:p>
        </p:txBody>
      </p:sp>
      <p:sp>
        <p:nvSpPr>
          <p:cNvPr id="3" name="Text 0"/>
          <p:cNvSpPr/>
          <p:nvPr>
            <p:ph idx="101" type="title" hasCustomPrompt="1"/>
          </p:nvPr>
        </p:nvSpPr>
        <p:spPr>
          <a:xfrm>
            <a:off x="548640" y="658368"/>
            <a:ext cx="8046720" cy="731520"/>
          </a:xfrm>
          <a:prstGeom prst="rect">
            <a:avLst/>
          </a:prstGeom>
          <a:noFill/>
          <a:ln/>
        </p:spPr>
        <p:txBody>
          <a:bodyPr wrap="square" lIns="0" tIns="0" rIns="0" bIns="0" rtlCol="0"/>
          <a:lstStyle/>
          <a:p>
            <a:pPr algn="l" indent="0" marL="0">
              <a:buNone/>
            </a:pPr>
            <a:r>
              <a:rPr lang="en-US" sz="2600" b="1" dirty="0">
                <a:solidFill>
                  <a:srgbClr val="16181A"/>
                </a:solidFill>
                <a:latin typeface="Georgia" pitchFamily="34" charset="0"/>
                <a:ea typeface="Georgia" pitchFamily="34" charset="-122"/>
                <a:cs typeface="Georgia" pitchFamily="34" charset="-120"/>
              </a:rPr>
              <a:t>Created by [name / handle TBD]</a:t>
            </a:r>
            <a:endParaRPr lang="en-US" sz="2600" dirty="0"/>
          </a:p>
        </p:txBody>
      </p:sp>
      <p:sp>
        <p:nvSpPr>
          <p:cNvPr id="4" name="Text 2"/>
          <p:cNvSpPr/>
          <p:nvPr/>
        </p:nvSpPr>
        <p:spPr>
          <a:xfrm>
            <a:off x="548640" y="1481328"/>
            <a:ext cx="8046720" cy="365760"/>
          </a:xfrm>
          <a:prstGeom prst="rect">
            <a:avLst/>
          </a:prstGeom>
          <a:noFill/>
          <a:ln/>
        </p:spPr>
        <p:txBody>
          <a:bodyPr wrap="square" lIns="0" tIns="0" rIns="0" bIns="0" rtlCol="0" anchor="ctr"/>
          <a:lstStyle/>
          <a:p>
            <a:pPr indent="0" marL="0">
              <a:buNone/>
            </a:pPr>
            <a:r>
              <a:rPr lang="en-US" sz="1300" dirty="0">
                <a:solidFill>
                  <a:srgbClr val="16181A"/>
                </a:solidFill>
                <a:latin typeface="Arial" pitchFamily="34" charset="0"/>
                <a:ea typeface="Arial" pitchFamily="34" charset="-122"/>
                <a:cs typeface="Arial" pitchFamily="34" charset="-120"/>
              </a:rPr>
              <a:t>Contact: [contact / links TBD]</a:t>
            </a:r>
            <a:endParaRPr lang="en-US" sz="1300" dirty="0"/>
          </a:p>
        </p:txBody>
      </p:sp>
      <p:sp>
        <p:nvSpPr>
          <p:cNvPr id="5" name="Text 3"/>
          <p:cNvSpPr/>
          <p:nvPr/>
        </p:nvSpPr>
        <p:spPr>
          <a:xfrm>
            <a:off x="548640" y="2011680"/>
            <a:ext cx="3657600" cy="384048"/>
          </a:xfrm>
          <a:prstGeom prst="rect">
            <a:avLst/>
          </a:prstGeom>
          <a:solidFill>
            <a:srgbClr val="C9A24B">
              <a:alpha val="10000"/>
            </a:srgbClr>
          </a:solidFill>
          <a:ln w="9525">
            <a:solidFill>
              <a:srgbClr val="C9A24B"/>
            </a:solidFill>
          </a:ln>
        </p:spPr>
        <p:txBody>
          <a:bodyPr wrap="square" lIns="38100" tIns="38100" rIns="38100" bIns="38100" rtlCol="0" anchor="ctr"/>
          <a:lstStyle/>
          <a:p>
            <a:pPr algn="ctr" indent="0" marL="0">
              <a:buNone/>
            </a:pPr>
            <a:r>
              <a:rPr lang="en-US" sz="780" dirty="0">
                <a:solidFill>
                  <a:srgbClr val="16181A"/>
                </a:solidFill>
                <a:latin typeface="Courier New" pitchFamily="34" charset="0"/>
                <a:ea typeface="Courier New" pitchFamily="34" charset="-122"/>
                <a:cs typeface="Courier New" pitchFamily="34" charset="-120"/>
              </a:rPr>
              <a:t>WORLD BIBLE: 12 VOLUMES · 57 FILES · 1967–2084</a:t>
            </a:r>
            <a:endParaRPr lang="en-US" sz="780" dirty="0"/>
          </a:p>
        </p:txBody>
      </p:sp>
      <p:sp>
        <p:nvSpPr>
          <p:cNvPr id="6" name="Text 4"/>
          <p:cNvSpPr/>
          <p:nvPr/>
        </p:nvSpPr>
        <p:spPr>
          <a:xfrm>
            <a:off x="4315968" y="2011680"/>
            <a:ext cx="2651760" cy="384048"/>
          </a:xfrm>
          <a:prstGeom prst="rect">
            <a:avLst/>
          </a:prstGeom>
          <a:solidFill>
            <a:srgbClr val="C9A24B">
              <a:alpha val="10000"/>
            </a:srgbClr>
          </a:solidFill>
          <a:ln w="9525">
            <a:solidFill>
              <a:srgbClr val="C9A24B"/>
            </a:solidFill>
          </a:ln>
        </p:spPr>
        <p:txBody>
          <a:bodyPr wrap="square" lIns="38100" tIns="38100" rIns="38100" bIns="38100" rtlCol="0" anchor="ctr"/>
          <a:lstStyle/>
          <a:p>
            <a:pPr algn="ctr" indent="0" marL="0">
              <a:buNone/>
            </a:pPr>
            <a:r>
              <a:rPr lang="en-US" sz="780" dirty="0">
                <a:solidFill>
                  <a:srgbClr val="16181A"/>
                </a:solidFill>
                <a:latin typeface="Courier New" pitchFamily="34" charset="0"/>
                <a:ea typeface="Courier New" pitchFamily="34" charset="-122"/>
                <a:cs typeface="Courier New" pitchFamily="34" charset="-120"/>
              </a:rPr>
              <a:t>CONCEPT ART: [ARTIST CREDIT TBD]</a:t>
            </a:r>
            <a:endParaRPr lang="en-US" sz="780" dirty="0"/>
          </a:p>
        </p:txBody>
      </p:sp>
      <p:sp>
        <p:nvSpPr>
          <p:cNvPr id="7" name="Text 5"/>
          <p:cNvSpPr/>
          <p:nvPr/>
        </p:nvSpPr>
        <p:spPr>
          <a:xfrm>
            <a:off x="7077456" y="2011680"/>
            <a:ext cx="1600200" cy="384048"/>
          </a:xfrm>
          <a:prstGeom prst="rect">
            <a:avLst/>
          </a:prstGeom>
          <a:solidFill>
            <a:srgbClr val="C9A24B">
              <a:alpha val="10000"/>
            </a:srgbClr>
          </a:solidFill>
          <a:ln w="9525">
            <a:solidFill>
              <a:srgbClr val="C9A24B"/>
            </a:solidFill>
          </a:ln>
        </p:spPr>
        <p:txBody>
          <a:bodyPr wrap="square" lIns="38100" tIns="38100" rIns="38100" bIns="38100" rtlCol="0" anchor="ctr"/>
          <a:lstStyle/>
          <a:p>
            <a:pPr algn="ctr" indent="0" marL="0">
              <a:buNone/>
            </a:pPr>
            <a:r>
              <a:rPr lang="en-US" sz="780" dirty="0">
                <a:solidFill>
                  <a:srgbClr val="16181A"/>
                </a:solidFill>
                <a:latin typeface="Courier New" pitchFamily="34" charset="0"/>
                <a:ea typeface="Courier New" pitchFamily="34" charset="-122"/>
                <a:cs typeface="Courier New" pitchFamily="34" charset="-120"/>
              </a:rPr>
              <a:t>PITCH EDITION: SALTLINE</a:t>
            </a:r>
            <a:endParaRPr lang="en-US" sz="780" dirty="0"/>
          </a:p>
        </p:txBody>
      </p:sp>
      <p:sp>
        <p:nvSpPr>
          <p:cNvPr id="8" name="Text 6"/>
          <p:cNvSpPr/>
          <p:nvPr/>
        </p:nvSpPr>
        <p:spPr>
          <a:xfrm>
            <a:off x="548640" y="2834640"/>
            <a:ext cx="8046720" cy="1097280"/>
          </a:xfrm>
          <a:prstGeom prst="rect">
            <a:avLst/>
          </a:prstGeom>
          <a:noFill/>
          <a:ln/>
        </p:spPr>
        <p:txBody>
          <a:bodyPr wrap="square" lIns="0" tIns="0" rIns="0" bIns="0" rtlCol="0" anchor="t"/>
          <a:lstStyle/>
          <a:p>
            <a:pPr indent="0" marL="0">
              <a:lnSpc>
                <a:spcPct val="125000"/>
              </a:lnSpc>
              <a:buNone/>
            </a:pPr>
            <a:r>
              <a:rPr lang="en-US" sz="1000" i="1" dirty="0">
                <a:solidFill>
                  <a:srgbClr val="4A5560"/>
                </a:solidFill>
                <a:latin typeface="Arial" pitchFamily="34" charset="0"/>
                <a:ea typeface="Arial" pitchFamily="34" charset="-122"/>
                <a:cs typeface="Arial" pitchFamily="34" charset="-120"/>
              </a:rPr>
              <a:t>Chromopunk: Resonators is an unofficial, fan-created alternate continuity inspired by the Cyberpunk universe created by Mike Pondsmith, published by R. Talsorian Games, with game-world development by CD PROJEKT RED. No ownership is claimed over official names, settings, or terminology. This is a non-commercial creative-development project. No official logos or artwork are reproduced in this document.</a:t>
            </a:r>
            <a:endParaRPr lang="en-US" sz="1000" dirty="0"/>
          </a:p>
        </p:txBody>
      </p:sp>
      <p:sp>
        <p:nvSpPr>
          <p:cNvPr id="9" name="Text 7"/>
          <p:cNvSpPr/>
          <p:nvPr/>
        </p:nvSpPr>
        <p:spPr>
          <a:xfrm>
            <a:off x="548640" y="4069080"/>
            <a:ext cx="8046720" cy="365760"/>
          </a:xfrm>
          <a:prstGeom prst="rect">
            <a:avLst/>
          </a:prstGeom>
          <a:noFill/>
          <a:ln/>
        </p:spPr>
        <p:txBody>
          <a:bodyPr wrap="square" lIns="0" tIns="0" rIns="0" bIns="0" rtlCol="0" anchor="ctr"/>
          <a:lstStyle/>
          <a:p>
            <a:pPr indent="0" marL="0">
              <a:buNone/>
            </a:pPr>
            <a:r>
              <a:rPr lang="en-US" sz="1050" dirty="0">
                <a:solidFill>
                  <a:srgbClr val="16181A"/>
                </a:solidFill>
                <a:latin typeface="Arial" pitchFamily="34" charset="0"/>
                <a:ea typeface="Arial" pitchFamily="34" charset="-122"/>
                <a:cs typeface="Arial" pitchFamily="34" charset="-120"/>
              </a:rPr>
              <a:t>The full world bible — timeline, district atlas, faction files, chapter map, mystery ledger, glossary — is available on request.</a:t>
            </a:r>
            <a:endParaRPr lang="en-US" sz="1050" dirty="0"/>
          </a:p>
        </p:txBody>
      </p:sp>
      <p:sp>
        <p:nvSpPr>
          <p:cNvPr id="25" name="Slide Number Placeholder 0"/>
          <p:cNvSpPr>
            <a:spLocks noGrp="1"/>
          </p:cNvSpPr>
          <p:nvPr>
            <p:ph type="sldNum" sz="quarter" idx="4294967295"/>
          </p:nvPr>
        </p:nvSpPr>
        <p:spPr>
          <a:xfrm>
            <a:off x="8522208" y="486460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4A5560"/>
                </a:solidFill>
                <a:latin typeface="Courier New"/>
                <a:ea typeface="Courier New"/>
                <a:cs typeface="Courier New"/>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1234440"/>
            <a:ext cx="8229600" cy="320040"/>
          </a:xfrm>
          <a:prstGeom prst="rect">
            <a:avLst/>
          </a:prstGeom>
          <a:noFill/>
          <a:ln/>
        </p:spPr>
        <p:txBody>
          <a:bodyPr wrap="square" rtlCol="0" anchor="ctr"/>
          <a:lstStyle/>
          <a:p>
            <a:pPr algn="ctr" indent="0" marL="0">
              <a:buNone/>
            </a:pPr>
            <a:r>
              <a:rPr lang="en-US" sz="1000" spc="500" kern="0" dirty="0">
                <a:solidFill>
                  <a:srgbClr val="A3212E"/>
                </a:solidFill>
                <a:latin typeface="Courier New" pitchFamily="34" charset="0"/>
                <a:ea typeface="Courier New" pitchFamily="34" charset="-122"/>
                <a:cs typeface="Courier New" pitchFamily="34" charset="-120"/>
              </a:rPr>
              <a:t>APPENDIX · SEALED</a:t>
            </a:r>
            <a:endParaRPr lang="en-US" sz="1000" dirty="0"/>
          </a:p>
        </p:txBody>
      </p:sp>
      <p:sp>
        <p:nvSpPr>
          <p:cNvPr id="3" name="Text 1"/>
          <p:cNvSpPr/>
          <p:nvPr/>
        </p:nvSpPr>
        <p:spPr>
          <a:xfrm>
            <a:off x="457200" y="1645920"/>
            <a:ext cx="8229600" cy="822960"/>
          </a:xfrm>
          <a:prstGeom prst="rect">
            <a:avLst/>
          </a:prstGeom>
          <a:noFill/>
          <a:ln/>
        </p:spPr>
        <p:txBody>
          <a:bodyPr wrap="square" rtlCol="0" anchor="ctr"/>
          <a:lstStyle/>
          <a:p>
            <a:pPr algn="ctr" indent="0" marL="0">
              <a:buNone/>
            </a:pPr>
            <a:r>
              <a:rPr lang="en-US" sz="3000" b="1" dirty="0">
                <a:solidFill>
                  <a:srgbClr val="16181A"/>
                </a:solidFill>
                <a:latin typeface="Georgia" pitchFamily="34" charset="0"/>
                <a:ea typeface="Georgia" pitchFamily="34" charset="-122"/>
                <a:cs typeface="Georgia" pitchFamily="34" charset="-120"/>
              </a:rPr>
              <a:t>SPOILERS — BOOK ONE ENDING</a:t>
            </a:r>
            <a:endParaRPr lang="en-US" sz="3000" dirty="0"/>
          </a:p>
        </p:txBody>
      </p:sp>
      <p:sp>
        <p:nvSpPr>
          <p:cNvPr id="4" name="Text 2"/>
          <p:cNvSpPr/>
          <p:nvPr/>
        </p:nvSpPr>
        <p:spPr>
          <a:xfrm>
            <a:off x="1188720" y="2606040"/>
            <a:ext cx="6766560" cy="411480"/>
          </a:xfrm>
          <a:prstGeom prst="rect">
            <a:avLst/>
          </a:prstGeom>
          <a:noFill/>
          <a:ln/>
        </p:spPr>
        <p:txBody>
          <a:bodyPr wrap="square" rtlCol="0" anchor="ctr"/>
          <a:lstStyle/>
          <a:p>
            <a:pPr algn="ctr" indent="0" marL="0">
              <a:buNone/>
            </a:pPr>
            <a:r>
              <a:rPr lang="en-US" sz="1150" b="1" dirty="0">
                <a:solidFill>
                  <a:srgbClr val="16181A"/>
                </a:solidFill>
                <a:latin typeface="Arial" pitchFamily="34" charset="0"/>
                <a:ea typeface="Arial" pitchFamily="34" charset="-122"/>
                <a:cs typeface="Arial" pitchFamily="34" charset="-120"/>
              </a:rPr>
              <a:t>Publishers and studio readers: </a:t>
            </a:r>
            <a:pPr algn="ctr" indent="0" marL="0">
              <a:buNone/>
            </a:pPr>
            <a:r>
              <a:rPr lang="en-US" sz="1150" dirty="0">
                <a:solidFill>
                  <a:srgbClr val="16181A"/>
                </a:solidFill>
                <a:latin typeface="Arial" pitchFamily="34" charset="0"/>
                <a:ea typeface="Arial" pitchFamily="34" charset="-122"/>
                <a:cs typeface="Arial" pitchFamily="34" charset="-120"/>
              </a:rPr>
              <a:t>the ending is next — you should see the landing before you buy the flight.</a:t>
            </a:r>
            <a:endParaRPr lang="en-US" sz="1150" dirty="0"/>
          </a:p>
        </p:txBody>
      </p:sp>
      <p:sp>
        <p:nvSpPr>
          <p:cNvPr id="5" name="Text 3"/>
          <p:cNvSpPr/>
          <p:nvPr/>
        </p:nvSpPr>
        <p:spPr>
          <a:xfrm>
            <a:off x="1188720" y="3063240"/>
            <a:ext cx="6766560" cy="411480"/>
          </a:xfrm>
          <a:prstGeom prst="rect">
            <a:avLst/>
          </a:prstGeom>
          <a:noFill/>
          <a:ln/>
        </p:spPr>
        <p:txBody>
          <a:bodyPr wrap="square" rtlCol="0" anchor="ctr"/>
          <a:lstStyle/>
          <a:p>
            <a:pPr algn="ctr" indent="0" marL="0">
              <a:buNone/>
            </a:pPr>
            <a:r>
              <a:rPr lang="en-US" sz="1150" b="1" dirty="0">
                <a:solidFill>
                  <a:srgbClr val="16181A"/>
                </a:solidFill>
                <a:latin typeface="Arial" pitchFamily="34" charset="0"/>
                <a:ea typeface="Arial" pitchFamily="34" charset="-122"/>
                <a:cs typeface="Arial" pitchFamily="34" charset="-120"/>
              </a:rPr>
              <a:t>Fans and collaborators: </a:t>
            </a:r>
            <a:pPr algn="ctr" indent="0" marL="0">
              <a:buNone/>
            </a:pPr>
            <a:r>
              <a:rPr lang="en-US" sz="1150" dirty="0">
                <a:solidFill>
                  <a:srgbClr val="16181A"/>
                </a:solidFill>
                <a:latin typeface="Arial" pitchFamily="34" charset="0"/>
                <a:ea typeface="Arial" pitchFamily="34" charset="-122"/>
                <a:cs typeface="Arial" pitchFamily="34" charset="-120"/>
              </a:rPr>
              <a:t>the next two slides reveal how Book One ends. Stop here, or turn the page.</a:t>
            </a:r>
            <a:endParaRPr lang="en-US" sz="1150" dirty="0"/>
          </a:p>
        </p:txBody>
      </p:sp>
      <p:sp>
        <p:nvSpPr>
          <p:cNvPr id="6" name="Text 4"/>
          <p:cNvSpPr/>
          <p:nvPr/>
        </p:nvSpPr>
        <p:spPr>
          <a:xfrm>
            <a:off x="3200400" y="3749040"/>
            <a:ext cx="2743200" cy="365760"/>
          </a:xfrm>
          <a:prstGeom prst="rect">
            <a:avLst/>
          </a:prstGeom>
          <a:solidFill>
            <a:srgbClr val="C9A24B">
              <a:alpha val="10000"/>
            </a:srgbClr>
          </a:solidFill>
          <a:ln w="12700">
            <a:solidFill>
              <a:srgbClr val="C9A24B"/>
            </a:solidFill>
          </a:ln>
        </p:spPr>
        <p:txBody>
          <a:bodyPr wrap="square" lIns="38100" tIns="38100" rIns="38100" bIns="38100" rtlCol="0" anchor="ctr"/>
          <a:lstStyle/>
          <a:p>
            <a:pPr algn="ctr" indent="0" marL="0">
              <a:buNone/>
            </a:pPr>
            <a:r>
              <a:rPr lang="en-US" sz="700" spc="100" kern="0" dirty="0">
                <a:solidFill>
                  <a:srgbClr val="A3212E"/>
                </a:solidFill>
                <a:latin typeface="Courier New" pitchFamily="34" charset="0"/>
                <a:ea typeface="Courier New" pitchFamily="34" charset="-122"/>
                <a:cs typeface="Courier New" pitchFamily="34" charset="-120"/>
              </a:rPr>
              <a:t>● </a:t>
            </a:r>
            <a:pPr algn="ctr" indent="0" marL="0">
              <a:buNone/>
            </a:pPr>
            <a:r>
              <a:rPr lang="en-US" sz="850" spc="100" kern="0" dirty="0">
                <a:solidFill>
                  <a:srgbClr val="16181A"/>
                </a:solidFill>
                <a:latin typeface="Courier New" pitchFamily="34" charset="0"/>
                <a:ea typeface="Courier New" pitchFamily="34" charset="-122"/>
                <a:cs typeface="Courier New" pitchFamily="34" charset="-120"/>
              </a:rPr>
              <a:t>T–0 · MIDNIGHT, DEC 31, 2084</a:t>
            </a:r>
            <a:endParaRPr lang="en-US" sz="850" dirty="0"/>
          </a:p>
        </p:txBody>
      </p:sp>
      <p:sp>
        <p:nvSpPr>
          <p:cNvPr id="25" name="Slide Number Placeholder 0"/>
          <p:cNvSpPr>
            <a:spLocks noGrp="1"/>
          </p:cNvSpPr>
          <p:nvPr>
            <p:ph type="sldNum" sz="quarter" idx="4294967295"/>
          </p:nvPr>
        </p:nvSpPr>
        <p:spPr>
          <a:xfrm>
            <a:off x="8522208" y="486460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4A5560"/>
                </a:solidFill>
                <a:latin typeface="Courier New"/>
                <a:ea typeface="Courier New"/>
                <a:cs typeface="Courier New"/>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7863840" cy="292608"/>
          </a:xfrm>
          <a:prstGeom prst="rect">
            <a:avLst/>
          </a:prstGeom>
          <a:noFill/>
          <a:ln/>
        </p:spPr>
        <p:txBody>
          <a:bodyPr wrap="square" lIns="0" tIns="0" rIns="0" bIns="0" rtlCol="0"/>
          <a:lstStyle/>
          <a:p>
            <a:pPr indent="0" marL="0">
              <a:buNone/>
            </a:pPr>
            <a:r>
              <a:rPr lang="en-US" sz="900" spc="300" kern="0" dirty="0">
                <a:solidFill>
                  <a:srgbClr val="0E4B50"/>
                </a:solidFill>
                <a:latin typeface="Courier New" pitchFamily="34" charset="0"/>
                <a:ea typeface="Courier New" pitchFamily="34" charset="-122"/>
                <a:cs typeface="Courier New" pitchFamily="34" charset="-120"/>
              </a:rPr>
              <a:t>APPENDIX A · THE ENDING</a:t>
            </a:r>
            <a:endParaRPr lang="en-US" sz="900" dirty="0"/>
          </a:p>
        </p:txBody>
      </p:sp>
      <p:sp>
        <p:nvSpPr>
          <p:cNvPr id="3" name="Text 0"/>
          <p:cNvSpPr/>
          <p:nvPr>
            <p:ph idx="101" type="title" hasCustomPrompt="1"/>
          </p:nvPr>
        </p:nvSpPr>
        <p:spPr>
          <a:xfrm>
            <a:off x="548640" y="658368"/>
            <a:ext cx="8046720" cy="731520"/>
          </a:xfrm>
          <a:prstGeom prst="rect">
            <a:avLst/>
          </a:prstGeom>
          <a:noFill/>
          <a:ln/>
        </p:spPr>
        <p:txBody>
          <a:bodyPr wrap="square" lIns="0" tIns="0" rIns="0" bIns="0" rtlCol="0"/>
          <a:lstStyle/>
          <a:p>
            <a:pPr algn="l" indent="0" marL="0">
              <a:buNone/>
            </a:pPr>
            <a:r>
              <a:rPr lang="en-US" sz="2600" b="1" dirty="0">
                <a:solidFill>
                  <a:srgbClr val="16181A"/>
                </a:solidFill>
                <a:latin typeface="Georgia" pitchFamily="34" charset="0"/>
                <a:ea typeface="Georgia" pitchFamily="34" charset="-122"/>
                <a:cs typeface="Georgia" pitchFamily="34" charset="-120"/>
              </a:rPr>
              <a:t>The Distributed City</a:t>
            </a:r>
            <a:endParaRPr lang="en-US" sz="2600" dirty="0"/>
          </a:p>
        </p:txBody>
      </p:sp>
      <p:sp>
        <p:nvSpPr>
          <p:cNvPr id="4" name="Text 2"/>
          <p:cNvSpPr/>
          <p:nvPr/>
        </p:nvSpPr>
        <p:spPr>
          <a:xfrm>
            <a:off x="548640" y="1481328"/>
            <a:ext cx="8046720" cy="1463040"/>
          </a:xfrm>
          <a:prstGeom prst="rect">
            <a:avLst/>
          </a:prstGeom>
          <a:noFill/>
          <a:ln/>
        </p:spPr>
        <p:txBody>
          <a:bodyPr wrap="square" lIns="0" tIns="0" rIns="0" bIns="0" rtlCol="0" anchor="t"/>
          <a:lstStyle/>
          <a:p>
            <a:pPr indent="0" marL="0">
              <a:lnSpc>
                <a:spcPct val="125000"/>
              </a:lnSpc>
              <a:buNone/>
            </a:pPr>
            <a:r>
              <a:rPr lang="en-US" sz="1250" dirty="0">
                <a:solidFill>
                  <a:srgbClr val="16181A"/>
                </a:solidFill>
                <a:latin typeface="Arial" pitchFamily="34" charset="0"/>
                <a:ea typeface="Arial" pitchFamily="34" charset="-122"/>
                <a:cs typeface="Arial" pitchFamily="34" charset="-120"/>
              </a:rPr>
              <a:t>Vin, Elik, and Tomas divide CITYHEART’s authority across district utilities, public hospitals, worker networks, Resonator cooperatives, and South Columbia. No single institution can hold the city’s life again. The referendum passes: </a:t>
            </a:r>
            <a:pPr indent="0" marL="0">
              <a:lnSpc>
                <a:spcPct val="125000"/>
              </a:lnSpc>
              <a:buNone/>
            </a:pPr>
            <a:r>
              <a:rPr lang="en-US" sz="1250" b="1" dirty="0">
                <a:solidFill>
                  <a:srgbClr val="C9A24B"/>
                </a:solidFill>
                <a:latin typeface="Arial" pitchFamily="34" charset="0"/>
                <a:ea typeface="Arial" pitchFamily="34" charset="-122"/>
                <a:cs typeface="Arial" pitchFamily="34" charset="-120"/>
              </a:rPr>
              <a:t>56.2%</a:t>
            </a:r>
            <a:pPr indent="0" marL="0">
              <a:lnSpc>
                <a:spcPct val="125000"/>
              </a:lnSpc>
              <a:buNone/>
            </a:pPr>
            <a:r>
              <a:rPr lang="en-US" sz="1250" dirty="0">
                <a:solidFill>
                  <a:srgbClr val="16181A"/>
                </a:solidFill>
                <a:latin typeface="Arial" pitchFamily="34" charset="0"/>
                <a:ea typeface="Arial" pitchFamily="34" charset="-122"/>
                <a:cs typeface="Arial" pitchFamily="34" charset="-120"/>
              </a:rPr>
              <a:t>. Independence is declared January 1, 2085. Jaylin survives to face consequence — still arguing the city will prove him right.</a:t>
            </a:r>
            <a:endParaRPr lang="en-US" sz="1250" dirty="0"/>
          </a:p>
        </p:txBody>
      </p:sp>
      <p:sp>
        <p:nvSpPr>
          <p:cNvPr id="5" name="Text 3"/>
          <p:cNvSpPr/>
          <p:nvPr/>
        </p:nvSpPr>
        <p:spPr>
          <a:xfrm>
            <a:off x="548640" y="3063240"/>
            <a:ext cx="8119872" cy="1188720"/>
          </a:xfrm>
          <a:prstGeom prst="rect">
            <a:avLst/>
          </a:prstGeom>
          <a:solidFill>
            <a:srgbClr val="FFFFFF">
              <a:alpha val="45000"/>
            </a:srgbClr>
          </a:solidFill>
          <a:ln w="9525">
            <a:solidFill>
              <a:srgbClr val="A3212E"/>
            </a:solidFill>
            <a:prstDash val="solid"/>
          </a:ln>
        </p:spPr>
        <p:txBody>
          <a:bodyPr wrap="square" lIns="101600" tIns="101600" rIns="101600" bIns="101600" rtlCol="0" anchor="t"/>
          <a:lstStyle/>
          <a:p>
            <a:pPr algn="l" indent="0" marL="0">
              <a:spcAft>
                <a:spcPts val="500"/>
              </a:spcAft>
              <a:buNone/>
            </a:pPr>
            <a:r>
              <a:rPr lang="en-US" sz="750" spc="300" kern="0" dirty="0">
                <a:solidFill>
                  <a:srgbClr val="A3212E"/>
                </a:solidFill>
                <a:latin typeface="Courier New" pitchFamily="34" charset="0"/>
                <a:ea typeface="Courier New" pitchFamily="34" charset="-122"/>
                <a:cs typeface="Courier New" pitchFamily="34" charset="-120"/>
              </a:rPr>
              <a:t>THE PRICE</a:t>
            </a:r>
            <a:endParaRPr lang="en-US" sz="750" dirty="0"/>
          </a:p>
          <a:p>
            <a:pPr algn="l" indent="0" marL="0">
              <a:lnSpc>
                <a:spcPct val="120000"/>
              </a:lnSpc>
              <a:buNone/>
            </a:pPr>
            <a:r>
              <a:rPr lang="en-US" sz="1000" dirty="0">
                <a:solidFill>
                  <a:srgbClr val="16181A"/>
                </a:solidFill>
                <a:latin typeface="Arial" pitchFamily="34" charset="0"/>
                <a:ea typeface="Arial" pitchFamily="34" charset="-122"/>
                <a:cs typeface="Arial" pitchFamily="34" charset="-120"/>
              </a:rPr>
              <a:t>Blackouts and medical failures in transition. Some Grid residents — terminal patients wired into Bloodline’s deep infrastructure — die, because the system was designed to punish removal. No clean victory: Jaylin’s warnings were not entirely false.</a:t>
            </a:r>
            <a:endParaRPr lang="en-US" sz="750" dirty="0"/>
          </a:p>
        </p:txBody>
      </p:sp>
      <p:sp>
        <p:nvSpPr>
          <p:cNvPr id="25" name="Slide Number Placeholder 0"/>
          <p:cNvSpPr>
            <a:spLocks noGrp="1"/>
          </p:cNvSpPr>
          <p:nvPr>
            <p:ph type="sldNum" sz="quarter" idx="4294967295"/>
          </p:nvPr>
        </p:nvSpPr>
        <p:spPr>
          <a:xfrm>
            <a:off x="8522208" y="486460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4A5560"/>
                </a:solidFill>
                <a:latin typeface="Courier New"/>
                <a:ea typeface="Courier New"/>
                <a:cs typeface="Courier New"/>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7863840" cy="292608"/>
          </a:xfrm>
          <a:prstGeom prst="rect">
            <a:avLst/>
          </a:prstGeom>
          <a:noFill/>
          <a:ln/>
        </p:spPr>
        <p:txBody>
          <a:bodyPr wrap="square" lIns="0" tIns="0" rIns="0" bIns="0" rtlCol="0"/>
          <a:lstStyle/>
          <a:p>
            <a:pPr indent="0" marL="0">
              <a:buNone/>
            </a:pPr>
            <a:r>
              <a:rPr lang="en-US" sz="900" spc="300" kern="0" dirty="0">
                <a:solidFill>
                  <a:srgbClr val="0E4B50"/>
                </a:solidFill>
                <a:latin typeface="Courier New" pitchFamily="34" charset="0"/>
                <a:ea typeface="Courier New" pitchFamily="34" charset="-122"/>
                <a:cs typeface="Courier New" pitchFamily="34" charset="-120"/>
              </a:rPr>
              <a:t>APPENDIX B · THE MYSTERY LEDGER</a:t>
            </a:r>
            <a:endParaRPr lang="en-US" sz="900" dirty="0"/>
          </a:p>
        </p:txBody>
      </p:sp>
      <p:sp>
        <p:nvSpPr>
          <p:cNvPr id="3" name="Text 0"/>
          <p:cNvSpPr/>
          <p:nvPr>
            <p:ph idx="101" type="title" hasCustomPrompt="1"/>
          </p:nvPr>
        </p:nvSpPr>
        <p:spPr>
          <a:xfrm>
            <a:off x="548640" y="658368"/>
            <a:ext cx="8046720" cy="731520"/>
          </a:xfrm>
          <a:prstGeom prst="rect">
            <a:avLst/>
          </a:prstGeom>
          <a:noFill/>
          <a:ln/>
        </p:spPr>
        <p:txBody>
          <a:bodyPr wrap="square" lIns="0" tIns="0" rIns="0" bIns="0" rtlCol="0"/>
          <a:lstStyle/>
          <a:p>
            <a:pPr algn="l" indent="0" marL="0">
              <a:buNone/>
            </a:pPr>
            <a:r>
              <a:rPr lang="en-US" sz="2600" b="1" dirty="0">
                <a:solidFill>
                  <a:srgbClr val="16181A"/>
                </a:solidFill>
                <a:latin typeface="Georgia" pitchFamily="34" charset="0"/>
                <a:ea typeface="Georgia" pitchFamily="34" charset="-122"/>
                <a:cs typeface="Georgia" pitchFamily="34" charset="-120"/>
              </a:rPr>
              <a:t>Public lie → hidden truth → cost of truth</a:t>
            </a:r>
            <a:endParaRPr lang="en-US" sz="2600" dirty="0"/>
          </a:p>
        </p:txBody>
      </p:sp>
      <p:sp>
        <p:nvSpPr>
          <p:cNvPr id="4" name="Shape 2"/>
          <p:cNvSpPr/>
          <p:nvPr/>
        </p:nvSpPr>
        <p:spPr>
          <a:xfrm>
            <a:off x="548640" y="1444752"/>
            <a:ext cx="8119872" cy="731520"/>
          </a:xfrm>
          <a:prstGeom prst="rect">
            <a:avLst/>
          </a:prstGeom>
          <a:solidFill>
            <a:srgbClr val="FFFFFF">
              <a:alpha val="45000"/>
            </a:srgbClr>
          </a:solidFill>
          <a:ln w="9525">
            <a:solidFill>
              <a:srgbClr val="9AA0A6"/>
            </a:solidFill>
            <a:prstDash val="solid"/>
          </a:ln>
        </p:spPr>
      </p:sp>
      <p:sp>
        <p:nvSpPr>
          <p:cNvPr id="5" name="Text 3"/>
          <p:cNvSpPr/>
          <p:nvPr/>
        </p:nvSpPr>
        <p:spPr>
          <a:xfrm>
            <a:off x="658368" y="1490472"/>
            <a:ext cx="2148840" cy="640080"/>
          </a:xfrm>
          <a:prstGeom prst="rect">
            <a:avLst/>
          </a:prstGeom>
          <a:noFill/>
          <a:ln/>
        </p:spPr>
        <p:txBody>
          <a:bodyPr wrap="square" lIns="0" tIns="0" rIns="0" bIns="0" rtlCol="0" anchor="t"/>
          <a:lstStyle/>
          <a:p>
            <a:pPr indent="0" marL="0">
              <a:lnSpc>
                <a:spcPct val="110000"/>
              </a:lnSpc>
              <a:buNone/>
            </a:pPr>
            <a:r>
              <a:rPr lang="en-US" sz="750" b="1" dirty="0">
                <a:solidFill>
                  <a:srgbClr val="A3212E"/>
                </a:solidFill>
                <a:latin typeface="Courier New" pitchFamily="34" charset="0"/>
                <a:ea typeface="Courier New" pitchFamily="34" charset="-122"/>
                <a:cs typeface="Courier New" pitchFamily="34" charset="-120"/>
              </a:rPr>
              <a:t>WHY DID DOMINGO SURVIVE?</a:t>
            </a:r>
            <a:endParaRPr lang="en-US" sz="750" dirty="0"/>
          </a:p>
        </p:txBody>
      </p:sp>
      <p:sp>
        <p:nvSpPr>
          <p:cNvPr id="6" name="Text 4"/>
          <p:cNvSpPr/>
          <p:nvPr/>
        </p:nvSpPr>
        <p:spPr>
          <a:xfrm>
            <a:off x="2852928" y="1490472"/>
            <a:ext cx="1691640" cy="640080"/>
          </a:xfrm>
          <a:prstGeom prst="rect">
            <a:avLst/>
          </a:prstGeom>
          <a:noFill/>
          <a:ln/>
        </p:spPr>
        <p:txBody>
          <a:bodyPr wrap="square" lIns="0" tIns="0" rIns="0" bIns="0" rtlCol="0" anchor="t"/>
          <a:lstStyle/>
          <a:p>
            <a:pPr indent="0" marL="0">
              <a:lnSpc>
                <a:spcPct val="105000"/>
              </a:lnSpc>
              <a:buNone/>
            </a:pPr>
            <a:r>
              <a:rPr lang="en-US" sz="600" spc="200" kern="0" dirty="0">
                <a:solidFill>
                  <a:srgbClr val="4A5560"/>
                </a:solidFill>
                <a:latin typeface="Courier New" pitchFamily="34" charset="0"/>
                <a:ea typeface="Courier New" pitchFamily="34" charset="-122"/>
                <a:cs typeface="Courier New" pitchFamily="34" charset="-120"/>
              </a:rPr>
              <a:t>THE LIE
</a:t>
            </a:r>
            <a:pPr indent="0" marL="0">
              <a:lnSpc>
                <a:spcPct val="105000"/>
              </a:lnSpc>
              <a:buNone/>
            </a:pPr>
            <a:r>
              <a:rPr lang="en-US" sz="780" dirty="0">
                <a:solidFill>
                  <a:srgbClr val="16181A"/>
                </a:solidFill>
                <a:latin typeface="Arial" pitchFamily="34" charset="0"/>
                <a:ea typeface="Arial" pitchFamily="34" charset="-122"/>
                <a:cs typeface="Arial" pitchFamily="34" charset="-120"/>
              </a:rPr>
              <a:t>Bloodline’s flawless defense.</a:t>
            </a:r>
            <a:endParaRPr lang="en-US" sz="600" dirty="0"/>
          </a:p>
        </p:txBody>
      </p:sp>
      <p:sp>
        <p:nvSpPr>
          <p:cNvPr id="7" name="Text 5"/>
          <p:cNvSpPr/>
          <p:nvPr/>
        </p:nvSpPr>
        <p:spPr>
          <a:xfrm>
            <a:off x="4636008" y="1490472"/>
            <a:ext cx="2377440" cy="640080"/>
          </a:xfrm>
          <a:prstGeom prst="rect">
            <a:avLst/>
          </a:prstGeom>
          <a:noFill/>
          <a:ln/>
        </p:spPr>
        <p:txBody>
          <a:bodyPr wrap="square" lIns="0" tIns="0" rIns="0" bIns="0" rtlCol="0" anchor="t"/>
          <a:lstStyle/>
          <a:p>
            <a:pPr indent="0" marL="0">
              <a:lnSpc>
                <a:spcPct val="105000"/>
              </a:lnSpc>
              <a:buNone/>
            </a:pPr>
            <a:r>
              <a:rPr lang="en-US" sz="600" spc="200" kern="0" dirty="0">
                <a:solidFill>
                  <a:srgbClr val="4A5560"/>
                </a:solidFill>
                <a:latin typeface="Courier New" pitchFamily="34" charset="0"/>
                <a:ea typeface="Courier New" pitchFamily="34" charset="-122"/>
                <a:cs typeface="Courier New" pitchFamily="34" charset="-120"/>
              </a:rPr>
              <a:t>THE TRUTH
</a:t>
            </a:r>
            <a:pPr indent="0" marL="0">
              <a:lnSpc>
                <a:spcPct val="105000"/>
              </a:lnSpc>
              <a:buNone/>
            </a:pPr>
            <a:r>
              <a:rPr lang="en-US" sz="780" dirty="0">
                <a:solidFill>
                  <a:srgbClr val="16181A"/>
                </a:solidFill>
                <a:latin typeface="Arial" pitchFamily="34" charset="0"/>
                <a:ea typeface="Arial" pitchFamily="34" charset="-122"/>
                <a:cs typeface="Arial" pitchFamily="34" charset="-120"/>
              </a:rPr>
              <a:t>Jaylin aimed CITYHEART’s protection at the strategic core; poorer districts absorbed the rest.</a:t>
            </a:r>
            <a:endParaRPr lang="en-US" sz="600" dirty="0"/>
          </a:p>
        </p:txBody>
      </p:sp>
      <p:sp>
        <p:nvSpPr>
          <p:cNvPr id="8" name="Text 6"/>
          <p:cNvSpPr/>
          <p:nvPr/>
        </p:nvSpPr>
        <p:spPr>
          <a:xfrm>
            <a:off x="7104888" y="1490472"/>
            <a:ext cx="1463040" cy="640080"/>
          </a:xfrm>
          <a:prstGeom prst="rect">
            <a:avLst/>
          </a:prstGeom>
          <a:noFill/>
          <a:ln/>
        </p:spPr>
        <p:txBody>
          <a:bodyPr wrap="square" lIns="0" tIns="0" rIns="0" bIns="0" rtlCol="0" anchor="t"/>
          <a:lstStyle/>
          <a:p>
            <a:pPr indent="0" marL="0">
              <a:lnSpc>
                <a:spcPct val="105000"/>
              </a:lnSpc>
              <a:buNone/>
            </a:pPr>
            <a:r>
              <a:rPr lang="en-US" sz="600" spc="200" kern="0" dirty="0">
                <a:solidFill>
                  <a:srgbClr val="4A5560"/>
                </a:solidFill>
                <a:latin typeface="Courier New" pitchFamily="34" charset="0"/>
                <a:ea typeface="Courier New" pitchFamily="34" charset="-122"/>
                <a:cs typeface="Courier New" pitchFamily="34" charset="-120"/>
              </a:rPr>
              <a:t>THE COST
</a:t>
            </a:r>
            <a:pPr indent="0" marL="0">
              <a:lnSpc>
                <a:spcPct val="105000"/>
              </a:lnSpc>
              <a:buNone/>
            </a:pPr>
            <a:r>
              <a:rPr lang="en-US" sz="780" dirty="0">
                <a:solidFill>
                  <a:srgbClr val="16181A"/>
                </a:solidFill>
                <a:latin typeface="Arial" pitchFamily="34" charset="0"/>
                <a:ea typeface="Arial" pitchFamily="34" charset="-122"/>
                <a:cs typeface="Arial" pitchFamily="34" charset="-120"/>
              </a:rPr>
              <a:t>The city must admit survival was courage and calculated sacrifice.</a:t>
            </a:r>
            <a:endParaRPr lang="en-US" sz="600" dirty="0"/>
          </a:p>
        </p:txBody>
      </p:sp>
      <p:sp>
        <p:nvSpPr>
          <p:cNvPr id="9" name="Shape 7"/>
          <p:cNvSpPr/>
          <p:nvPr/>
        </p:nvSpPr>
        <p:spPr>
          <a:xfrm>
            <a:off x="548640" y="2249424"/>
            <a:ext cx="8119872" cy="731520"/>
          </a:xfrm>
          <a:prstGeom prst="rect">
            <a:avLst/>
          </a:prstGeom>
          <a:solidFill>
            <a:srgbClr val="FFFFFF">
              <a:alpha val="45000"/>
            </a:srgbClr>
          </a:solidFill>
          <a:ln w="9525">
            <a:solidFill>
              <a:srgbClr val="9AA0A6"/>
            </a:solidFill>
            <a:prstDash val="solid"/>
          </a:ln>
        </p:spPr>
      </p:sp>
      <p:sp>
        <p:nvSpPr>
          <p:cNvPr id="10" name="Text 8"/>
          <p:cNvSpPr/>
          <p:nvPr/>
        </p:nvSpPr>
        <p:spPr>
          <a:xfrm>
            <a:off x="658368" y="2295144"/>
            <a:ext cx="2148840" cy="640080"/>
          </a:xfrm>
          <a:prstGeom prst="rect">
            <a:avLst/>
          </a:prstGeom>
          <a:noFill/>
          <a:ln/>
        </p:spPr>
        <p:txBody>
          <a:bodyPr wrap="square" lIns="0" tIns="0" rIns="0" bIns="0" rtlCol="0" anchor="t"/>
          <a:lstStyle/>
          <a:p>
            <a:pPr indent="0" marL="0">
              <a:lnSpc>
                <a:spcPct val="110000"/>
              </a:lnSpc>
              <a:buNone/>
            </a:pPr>
            <a:r>
              <a:rPr lang="en-US" sz="750" b="1" dirty="0">
                <a:solidFill>
                  <a:srgbClr val="A3212E"/>
                </a:solidFill>
                <a:latin typeface="Courier New" pitchFamily="34" charset="0"/>
                <a:ea typeface="Courier New" pitchFamily="34" charset="-122"/>
                <a:cs typeface="Courier New" pitchFamily="34" charset="-120"/>
              </a:rPr>
              <a:t>WHAT HAPPENED AT WHITE MESA?</a:t>
            </a:r>
            <a:endParaRPr lang="en-US" sz="750" dirty="0"/>
          </a:p>
        </p:txBody>
      </p:sp>
      <p:sp>
        <p:nvSpPr>
          <p:cNvPr id="11" name="Text 9"/>
          <p:cNvSpPr/>
          <p:nvPr/>
        </p:nvSpPr>
        <p:spPr>
          <a:xfrm>
            <a:off x="2852928" y="2295144"/>
            <a:ext cx="1691640" cy="640080"/>
          </a:xfrm>
          <a:prstGeom prst="rect">
            <a:avLst/>
          </a:prstGeom>
          <a:noFill/>
          <a:ln/>
        </p:spPr>
        <p:txBody>
          <a:bodyPr wrap="square" lIns="0" tIns="0" rIns="0" bIns="0" rtlCol="0" anchor="t"/>
          <a:lstStyle/>
          <a:p>
            <a:pPr indent="0" marL="0">
              <a:lnSpc>
                <a:spcPct val="105000"/>
              </a:lnSpc>
              <a:buNone/>
            </a:pPr>
            <a:r>
              <a:rPr lang="en-US" sz="600" spc="200" kern="0" dirty="0">
                <a:solidFill>
                  <a:srgbClr val="4A5560"/>
                </a:solidFill>
                <a:latin typeface="Courier New" pitchFamily="34" charset="0"/>
                <a:ea typeface="Courier New" pitchFamily="34" charset="-122"/>
                <a:cs typeface="Courier New" pitchFamily="34" charset="-120"/>
              </a:rPr>
              <a:t>THE LIE
</a:t>
            </a:r>
            <a:pPr indent="0" marL="0">
              <a:lnSpc>
                <a:spcPct val="105000"/>
              </a:lnSpc>
              <a:buNone/>
            </a:pPr>
            <a:r>
              <a:rPr lang="en-US" sz="780" dirty="0">
                <a:solidFill>
                  <a:srgbClr val="16181A"/>
                </a:solidFill>
                <a:latin typeface="Arial" pitchFamily="34" charset="0"/>
                <a:ea typeface="Arial" pitchFamily="34" charset="-122"/>
                <a:cs typeface="Arial" pitchFamily="34" charset="-120"/>
              </a:rPr>
              <a:t>Boy Thunder’s finest hour.</a:t>
            </a:r>
            <a:endParaRPr lang="en-US" sz="600" dirty="0"/>
          </a:p>
        </p:txBody>
      </p:sp>
      <p:sp>
        <p:nvSpPr>
          <p:cNvPr id="12" name="Text 10"/>
          <p:cNvSpPr/>
          <p:nvPr/>
        </p:nvSpPr>
        <p:spPr>
          <a:xfrm>
            <a:off x="4636008" y="2295144"/>
            <a:ext cx="2377440" cy="640080"/>
          </a:xfrm>
          <a:prstGeom prst="rect">
            <a:avLst/>
          </a:prstGeom>
          <a:noFill/>
          <a:ln/>
        </p:spPr>
        <p:txBody>
          <a:bodyPr wrap="square" lIns="0" tIns="0" rIns="0" bIns="0" rtlCol="0" anchor="t"/>
          <a:lstStyle/>
          <a:p>
            <a:pPr indent="0" marL="0">
              <a:lnSpc>
                <a:spcPct val="105000"/>
              </a:lnSpc>
              <a:buNone/>
            </a:pPr>
            <a:r>
              <a:rPr lang="en-US" sz="600" spc="200" kern="0" dirty="0">
                <a:solidFill>
                  <a:srgbClr val="4A5560"/>
                </a:solidFill>
                <a:latin typeface="Courier New" pitchFamily="34" charset="0"/>
                <a:ea typeface="Courier New" pitchFamily="34" charset="-122"/>
                <a:cs typeface="Courier New" pitchFamily="34" charset="-120"/>
              </a:rPr>
              <a:t>THE TRUTH
</a:t>
            </a:r>
            <a:pPr indent="0" marL="0">
              <a:lnSpc>
                <a:spcPct val="105000"/>
              </a:lnSpc>
              <a:buNone/>
            </a:pPr>
            <a:r>
              <a:rPr lang="en-US" sz="780" dirty="0">
                <a:solidFill>
                  <a:srgbClr val="16181A"/>
                </a:solidFill>
                <a:latin typeface="Arial" pitchFamily="34" charset="0"/>
                <a:ea typeface="Arial" pitchFamily="34" charset="-122"/>
                <a:cs typeface="Arial" pitchFamily="34" charset="-120"/>
              </a:rPr>
              <a:t>The ordered overload killed civilians, prisoners, and his own cadets — then Bloodline edited his memory and the footage.</a:t>
            </a:r>
            <a:endParaRPr lang="en-US" sz="600" dirty="0"/>
          </a:p>
        </p:txBody>
      </p:sp>
      <p:sp>
        <p:nvSpPr>
          <p:cNvPr id="13" name="Text 11"/>
          <p:cNvSpPr/>
          <p:nvPr/>
        </p:nvSpPr>
        <p:spPr>
          <a:xfrm>
            <a:off x="7104888" y="2295144"/>
            <a:ext cx="1463040" cy="640080"/>
          </a:xfrm>
          <a:prstGeom prst="rect">
            <a:avLst/>
          </a:prstGeom>
          <a:noFill/>
          <a:ln/>
        </p:spPr>
        <p:txBody>
          <a:bodyPr wrap="square" lIns="0" tIns="0" rIns="0" bIns="0" rtlCol="0" anchor="t"/>
          <a:lstStyle/>
          <a:p>
            <a:pPr indent="0" marL="0">
              <a:lnSpc>
                <a:spcPct val="105000"/>
              </a:lnSpc>
              <a:buNone/>
            </a:pPr>
            <a:r>
              <a:rPr lang="en-US" sz="600" spc="200" kern="0" dirty="0">
                <a:solidFill>
                  <a:srgbClr val="4A5560"/>
                </a:solidFill>
                <a:latin typeface="Courier New" pitchFamily="34" charset="0"/>
                <a:ea typeface="Courier New" pitchFamily="34" charset="-122"/>
                <a:cs typeface="Courier New" pitchFamily="34" charset="-120"/>
              </a:rPr>
              <a:t>THE COST
</a:t>
            </a:r>
            <a:pPr indent="0" marL="0">
              <a:lnSpc>
                <a:spcPct val="105000"/>
              </a:lnSpc>
              <a:buNone/>
            </a:pPr>
            <a:r>
              <a:rPr lang="en-US" sz="780" dirty="0">
                <a:solidFill>
                  <a:srgbClr val="16181A"/>
                </a:solidFill>
                <a:latin typeface="Arial" pitchFamily="34" charset="0"/>
                <a:ea typeface="Arial" pitchFamily="34" charset="-122"/>
                <a:cs typeface="Arial" pitchFamily="34" charset="-120"/>
              </a:rPr>
              <a:t>Tomas must own the act without carrying it alone.</a:t>
            </a:r>
            <a:endParaRPr lang="en-US" sz="600" dirty="0"/>
          </a:p>
        </p:txBody>
      </p:sp>
      <p:sp>
        <p:nvSpPr>
          <p:cNvPr id="14" name="Shape 12"/>
          <p:cNvSpPr/>
          <p:nvPr/>
        </p:nvSpPr>
        <p:spPr>
          <a:xfrm>
            <a:off x="548640" y="3054096"/>
            <a:ext cx="8119872" cy="731520"/>
          </a:xfrm>
          <a:prstGeom prst="rect">
            <a:avLst/>
          </a:prstGeom>
          <a:solidFill>
            <a:srgbClr val="FFFFFF">
              <a:alpha val="45000"/>
            </a:srgbClr>
          </a:solidFill>
          <a:ln w="9525">
            <a:solidFill>
              <a:srgbClr val="9AA0A6"/>
            </a:solidFill>
            <a:prstDash val="solid"/>
          </a:ln>
        </p:spPr>
      </p:sp>
      <p:sp>
        <p:nvSpPr>
          <p:cNvPr id="15" name="Text 13"/>
          <p:cNvSpPr/>
          <p:nvPr/>
        </p:nvSpPr>
        <p:spPr>
          <a:xfrm>
            <a:off x="658368" y="3099816"/>
            <a:ext cx="2148840" cy="640080"/>
          </a:xfrm>
          <a:prstGeom prst="rect">
            <a:avLst/>
          </a:prstGeom>
          <a:noFill/>
          <a:ln/>
        </p:spPr>
        <p:txBody>
          <a:bodyPr wrap="square" lIns="0" tIns="0" rIns="0" bIns="0" rtlCol="0" anchor="t"/>
          <a:lstStyle/>
          <a:p>
            <a:pPr indent="0" marL="0">
              <a:lnSpc>
                <a:spcPct val="110000"/>
              </a:lnSpc>
              <a:buNone/>
            </a:pPr>
            <a:r>
              <a:rPr lang="en-US" sz="750" b="1" dirty="0">
                <a:solidFill>
                  <a:srgbClr val="A3212E"/>
                </a:solidFill>
                <a:latin typeface="Courier New" pitchFamily="34" charset="0"/>
                <a:ea typeface="Courier New" pitchFamily="34" charset="-122"/>
                <a:cs typeface="Courier New" pitchFamily="34" charset="-120"/>
              </a:rPr>
              <a:t>WHO LAUNCHED THE FOURFOLD FALL?</a:t>
            </a:r>
            <a:endParaRPr lang="en-US" sz="750" dirty="0"/>
          </a:p>
        </p:txBody>
      </p:sp>
      <p:sp>
        <p:nvSpPr>
          <p:cNvPr id="16" name="Text 14"/>
          <p:cNvSpPr/>
          <p:nvPr/>
        </p:nvSpPr>
        <p:spPr>
          <a:xfrm>
            <a:off x="2852928" y="3099816"/>
            <a:ext cx="1691640" cy="640080"/>
          </a:xfrm>
          <a:prstGeom prst="rect">
            <a:avLst/>
          </a:prstGeom>
          <a:noFill/>
          <a:ln/>
        </p:spPr>
        <p:txBody>
          <a:bodyPr wrap="square" lIns="0" tIns="0" rIns="0" bIns="0" rtlCol="0" anchor="t"/>
          <a:lstStyle/>
          <a:p>
            <a:pPr indent="0" marL="0">
              <a:lnSpc>
                <a:spcPct val="105000"/>
              </a:lnSpc>
              <a:buNone/>
            </a:pPr>
            <a:r>
              <a:rPr lang="en-US" sz="600" spc="200" kern="0" dirty="0">
                <a:solidFill>
                  <a:srgbClr val="4A5560"/>
                </a:solidFill>
                <a:latin typeface="Courier New" pitchFamily="34" charset="0"/>
                <a:ea typeface="Courier New" pitchFamily="34" charset="-122"/>
                <a:cs typeface="Courier New" pitchFamily="34" charset="-120"/>
              </a:rPr>
              <a:t>THE LIE
</a:t>
            </a:r>
            <a:pPr indent="0" marL="0">
              <a:lnSpc>
                <a:spcPct val="105000"/>
              </a:lnSpc>
              <a:buNone/>
            </a:pPr>
            <a:r>
              <a:rPr lang="en-US" sz="780" dirty="0">
                <a:solidFill>
                  <a:srgbClr val="16181A"/>
                </a:solidFill>
                <a:latin typeface="Arial" pitchFamily="34" charset="0"/>
                <a:ea typeface="Arial" pitchFamily="34" charset="-122"/>
                <a:cs typeface="Arial" pitchFamily="34" charset="-120"/>
              </a:rPr>
              <a:t>Each corporation blames the others.</a:t>
            </a:r>
            <a:endParaRPr lang="en-US" sz="600" dirty="0"/>
          </a:p>
        </p:txBody>
      </p:sp>
      <p:sp>
        <p:nvSpPr>
          <p:cNvPr id="17" name="Text 15"/>
          <p:cNvSpPr/>
          <p:nvPr/>
        </p:nvSpPr>
        <p:spPr>
          <a:xfrm>
            <a:off x="4636008" y="3099816"/>
            <a:ext cx="2377440" cy="640080"/>
          </a:xfrm>
          <a:prstGeom prst="rect">
            <a:avLst/>
          </a:prstGeom>
          <a:noFill/>
          <a:ln/>
        </p:spPr>
        <p:txBody>
          <a:bodyPr wrap="square" lIns="0" tIns="0" rIns="0" bIns="0" rtlCol="0" anchor="t"/>
          <a:lstStyle/>
          <a:p>
            <a:pPr indent="0" marL="0">
              <a:lnSpc>
                <a:spcPct val="105000"/>
              </a:lnSpc>
              <a:buNone/>
            </a:pPr>
            <a:r>
              <a:rPr lang="en-US" sz="600" spc="200" kern="0" dirty="0">
                <a:solidFill>
                  <a:srgbClr val="4A5560"/>
                </a:solidFill>
                <a:latin typeface="Courier New" pitchFamily="34" charset="0"/>
                <a:ea typeface="Courier New" pitchFamily="34" charset="-122"/>
                <a:cs typeface="Courier New" pitchFamily="34" charset="-120"/>
              </a:rPr>
              <a:t>THE TRUTH
</a:t>
            </a:r>
            <a:pPr indent="0" marL="0">
              <a:lnSpc>
                <a:spcPct val="105000"/>
              </a:lnSpc>
              <a:buNone/>
            </a:pPr>
            <a:r>
              <a:rPr lang="en-US" sz="780" dirty="0">
                <a:solidFill>
                  <a:srgbClr val="16181A"/>
                </a:solidFill>
                <a:latin typeface="Arial" pitchFamily="34" charset="0"/>
                <a:ea typeface="Arial" pitchFamily="34" charset="-122"/>
                <a:cs typeface="Arial" pitchFamily="34" charset="-120"/>
              </a:rPr>
              <a:t>The shared deterrent self-escalated after someone seeded authentic launch authority across all three networks.</a:t>
            </a:r>
            <a:endParaRPr lang="en-US" sz="600" dirty="0"/>
          </a:p>
        </p:txBody>
      </p:sp>
      <p:sp>
        <p:nvSpPr>
          <p:cNvPr id="18" name="Text 16"/>
          <p:cNvSpPr/>
          <p:nvPr/>
        </p:nvSpPr>
        <p:spPr>
          <a:xfrm>
            <a:off x="7104888" y="3099816"/>
            <a:ext cx="1463040" cy="640080"/>
          </a:xfrm>
          <a:prstGeom prst="rect">
            <a:avLst/>
          </a:prstGeom>
          <a:noFill/>
          <a:ln/>
        </p:spPr>
        <p:txBody>
          <a:bodyPr wrap="square" lIns="0" tIns="0" rIns="0" bIns="0" rtlCol="0" anchor="t"/>
          <a:lstStyle/>
          <a:p>
            <a:pPr indent="0" marL="0">
              <a:lnSpc>
                <a:spcPct val="105000"/>
              </a:lnSpc>
              <a:buNone/>
            </a:pPr>
            <a:r>
              <a:rPr lang="en-US" sz="600" spc="200" kern="0" dirty="0">
                <a:solidFill>
                  <a:srgbClr val="4A5560"/>
                </a:solidFill>
                <a:latin typeface="Courier New" pitchFamily="34" charset="0"/>
                <a:ea typeface="Courier New" pitchFamily="34" charset="-122"/>
                <a:cs typeface="Courier New" pitchFamily="34" charset="-120"/>
              </a:rPr>
              <a:t>THE COST
</a:t>
            </a:r>
            <a:pPr indent="0" marL="0">
              <a:lnSpc>
                <a:spcPct val="105000"/>
              </a:lnSpc>
              <a:buNone/>
            </a:pPr>
            <a:r>
              <a:rPr lang="en-US" sz="780" dirty="0">
                <a:solidFill>
                  <a:srgbClr val="16181A"/>
                </a:solidFill>
                <a:latin typeface="Arial" pitchFamily="34" charset="0"/>
                <a:ea typeface="Arial" pitchFamily="34" charset="-122"/>
                <a:cs typeface="Arial" pitchFamily="34" charset="-120"/>
              </a:rPr>
              <a:t>No single enemy can absorb the blame.</a:t>
            </a:r>
            <a:endParaRPr lang="en-US" sz="600" dirty="0"/>
          </a:p>
        </p:txBody>
      </p:sp>
      <p:sp>
        <p:nvSpPr>
          <p:cNvPr id="19" name="Shape 17"/>
          <p:cNvSpPr/>
          <p:nvPr/>
        </p:nvSpPr>
        <p:spPr>
          <a:xfrm>
            <a:off x="548640" y="3858768"/>
            <a:ext cx="8119872" cy="731520"/>
          </a:xfrm>
          <a:prstGeom prst="rect">
            <a:avLst/>
          </a:prstGeom>
          <a:solidFill>
            <a:srgbClr val="FFFFFF">
              <a:alpha val="45000"/>
            </a:srgbClr>
          </a:solidFill>
          <a:ln w="9525">
            <a:solidFill>
              <a:srgbClr val="9AA0A6"/>
            </a:solidFill>
            <a:prstDash val="solid"/>
          </a:ln>
        </p:spPr>
      </p:sp>
      <p:sp>
        <p:nvSpPr>
          <p:cNvPr id="20" name="Text 18"/>
          <p:cNvSpPr/>
          <p:nvPr/>
        </p:nvSpPr>
        <p:spPr>
          <a:xfrm>
            <a:off x="658368" y="3904488"/>
            <a:ext cx="2148840" cy="640080"/>
          </a:xfrm>
          <a:prstGeom prst="rect">
            <a:avLst/>
          </a:prstGeom>
          <a:noFill/>
          <a:ln/>
        </p:spPr>
        <p:txBody>
          <a:bodyPr wrap="square" lIns="0" tIns="0" rIns="0" bIns="0" rtlCol="0" anchor="t"/>
          <a:lstStyle/>
          <a:p>
            <a:pPr indent="0" marL="0">
              <a:lnSpc>
                <a:spcPct val="110000"/>
              </a:lnSpc>
              <a:buNone/>
            </a:pPr>
            <a:r>
              <a:rPr lang="en-US" sz="750" b="1" dirty="0">
                <a:solidFill>
                  <a:srgbClr val="A3212E"/>
                </a:solidFill>
                <a:latin typeface="Courier New" pitchFamily="34" charset="0"/>
                <a:ea typeface="Courier New" pitchFamily="34" charset="-122"/>
                <a:cs typeface="Courier New" pitchFamily="34" charset="-120"/>
              </a:rPr>
              <a:t>IS VIN ALIVE?</a:t>
            </a:r>
            <a:endParaRPr lang="en-US" sz="750" dirty="0"/>
          </a:p>
        </p:txBody>
      </p:sp>
      <p:sp>
        <p:nvSpPr>
          <p:cNvPr id="21" name="Text 19"/>
          <p:cNvSpPr/>
          <p:nvPr/>
        </p:nvSpPr>
        <p:spPr>
          <a:xfrm>
            <a:off x="2852928" y="3904488"/>
            <a:ext cx="1691640" cy="640080"/>
          </a:xfrm>
          <a:prstGeom prst="rect">
            <a:avLst/>
          </a:prstGeom>
          <a:noFill/>
          <a:ln/>
        </p:spPr>
        <p:txBody>
          <a:bodyPr wrap="square" lIns="0" tIns="0" rIns="0" bIns="0" rtlCol="0" anchor="t"/>
          <a:lstStyle/>
          <a:p>
            <a:pPr indent="0" marL="0">
              <a:lnSpc>
                <a:spcPct val="105000"/>
              </a:lnSpc>
              <a:buNone/>
            </a:pPr>
            <a:r>
              <a:rPr lang="en-US" sz="600" spc="200" kern="0" dirty="0">
                <a:solidFill>
                  <a:srgbClr val="4A5560"/>
                </a:solidFill>
                <a:latin typeface="Courier New" pitchFamily="34" charset="0"/>
                <a:ea typeface="Courier New" pitchFamily="34" charset="-122"/>
                <a:cs typeface="Courier New" pitchFamily="34" charset="-120"/>
              </a:rPr>
              <a:t>THE LIE
</a:t>
            </a:r>
            <a:pPr indent="0" marL="0">
              <a:lnSpc>
                <a:spcPct val="105000"/>
              </a:lnSpc>
              <a:buNone/>
            </a:pPr>
            <a:r>
              <a:rPr lang="en-US" sz="780" dirty="0">
                <a:solidFill>
                  <a:srgbClr val="16181A"/>
                </a:solidFill>
                <a:latin typeface="Arial" pitchFamily="34" charset="0"/>
                <a:ea typeface="Arial" pitchFamily="34" charset="-122"/>
                <a:cs typeface="Arial" pitchFamily="34" charset="-120"/>
              </a:rPr>
              <a:t>Dead in gang territory, 2079.</a:t>
            </a:r>
            <a:endParaRPr lang="en-US" sz="600" dirty="0"/>
          </a:p>
        </p:txBody>
      </p:sp>
      <p:sp>
        <p:nvSpPr>
          <p:cNvPr id="22" name="Text 20"/>
          <p:cNvSpPr/>
          <p:nvPr/>
        </p:nvSpPr>
        <p:spPr>
          <a:xfrm>
            <a:off x="4636008" y="3904488"/>
            <a:ext cx="2377440" cy="640080"/>
          </a:xfrm>
          <a:prstGeom prst="rect">
            <a:avLst/>
          </a:prstGeom>
          <a:noFill/>
          <a:ln/>
        </p:spPr>
        <p:txBody>
          <a:bodyPr wrap="square" lIns="0" tIns="0" rIns="0" bIns="0" rtlCol="0" anchor="t"/>
          <a:lstStyle/>
          <a:p>
            <a:pPr indent="0" marL="0">
              <a:lnSpc>
                <a:spcPct val="105000"/>
              </a:lnSpc>
              <a:buNone/>
            </a:pPr>
            <a:r>
              <a:rPr lang="en-US" sz="600" spc="200" kern="0" dirty="0">
                <a:solidFill>
                  <a:srgbClr val="4A5560"/>
                </a:solidFill>
                <a:latin typeface="Courier New" pitchFamily="34" charset="0"/>
                <a:ea typeface="Courier New" pitchFamily="34" charset="-122"/>
                <a:cs typeface="Courier New" pitchFamily="34" charset="-120"/>
              </a:rPr>
              <a:t>THE TRUTH
</a:t>
            </a:r>
            <a:pPr indent="0" marL="0">
              <a:lnSpc>
                <a:spcPct val="105000"/>
              </a:lnSpc>
              <a:buNone/>
            </a:pPr>
            <a:r>
              <a:rPr lang="en-US" sz="780" dirty="0">
                <a:solidFill>
                  <a:srgbClr val="16181A"/>
                </a:solidFill>
                <a:latin typeface="Arial" pitchFamily="34" charset="0"/>
                <a:ea typeface="Arial" pitchFamily="34" charset="-122"/>
                <a:cs typeface="Arial" pitchFamily="34" charset="-120"/>
              </a:rPr>
              <a:t>His uncle held him — Bright House, then the program — for five years.</a:t>
            </a:r>
            <a:endParaRPr lang="en-US" sz="600" dirty="0"/>
          </a:p>
        </p:txBody>
      </p:sp>
      <p:sp>
        <p:nvSpPr>
          <p:cNvPr id="23" name="Text 21"/>
          <p:cNvSpPr/>
          <p:nvPr/>
        </p:nvSpPr>
        <p:spPr>
          <a:xfrm>
            <a:off x="7104888" y="3904488"/>
            <a:ext cx="1463040" cy="640080"/>
          </a:xfrm>
          <a:prstGeom prst="rect">
            <a:avLst/>
          </a:prstGeom>
          <a:noFill/>
          <a:ln/>
        </p:spPr>
        <p:txBody>
          <a:bodyPr wrap="square" lIns="0" tIns="0" rIns="0" bIns="0" rtlCol="0" anchor="t"/>
          <a:lstStyle/>
          <a:p>
            <a:pPr indent="0" marL="0">
              <a:lnSpc>
                <a:spcPct val="105000"/>
              </a:lnSpc>
              <a:buNone/>
            </a:pPr>
            <a:r>
              <a:rPr lang="en-US" sz="600" spc="200" kern="0" dirty="0">
                <a:solidFill>
                  <a:srgbClr val="4A5560"/>
                </a:solidFill>
                <a:latin typeface="Courier New" pitchFamily="34" charset="0"/>
                <a:ea typeface="Courier New" pitchFamily="34" charset="-122"/>
                <a:cs typeface="Courier New" pitchFamily="34" charset="-120"/>
              </a:rPr>
              <a:t>THE COST
</a:t>
            </a:r>
            <a:pPr indent="0" marL="0">
              <a:lnSpc>
                <a:spcPct val="105000"/>
              </a:lnSpc>
              <a:buNone/>
            </a:pPr>
            <a:r>
              <a:rPr lang="en-US" sz="780" dirty="0">
                <a:solidFill>
                  <a:srgbClr val="16181A"/>
                </a:solidFill>
                <a:latin typeface="Arial" pitchFamily="34" charset="0"/>
                <a:ea typeface="Arial" pitchFamily="34" charset="-122"/>
                <a:cs typeface="Arial" pitchFamily="34" charset="-120"/>
              </a:rPr>
              <a:t>Nicole’s public sainthood stands on a managed lie.</a:t>
            </a:r>
            <a:endParaRPr lang="en-US" sz="600" dirty="0"/>
          </a:p>
        </p:txBody>
      </p:sp>
      <p:sp>
        <p:nvSpPr>
          <p:cNvPr id="24" name="Text 22"/>
          <p:cNvSpPr/>
          <p:nvPr/>
        </p:nvSpPr>
        <p:spPr>
          <a:xfrm>
            <a:off x="548640" y="4681728"/>
            <a:ext cx="8046720" cy="274320"/>
          </a:xfrm>
          <a:prstGeom prst="rect">
            <a:avLst/>
          </a:prstGeom>
          <a:noFill/>
          <a:ln/>
        </p:spPr>
        <p:txBody>
          <a:bodyPr wrap="square" lIns="0" tIns="0" rIns="0" bIns="0" rtlCol="0" anchor="ctr"/>
          <a:lstStyle/>
          <a:p>
            <a:pPr indent="0" marL="0">
              <a:buNone/>
            </a:pPr>
            <a:r>
              <a:rPr lang="en-US" sz="950" i="1" dirty="0">
                <a:solidFill>
                  <a:srgbClr val="4A5560"/>
                </a:solidFill>
                <a:latin typeface="Arial" pitchFamily="34" charset="0"/>
                <a:ea typeface="Arial" pitchFamily="34" charset="-122"/>
                <a:cs typeface="Arial" pitchFamily="34" charset="-120"/>
              </a:rPr>
              <a:t>Every answer changes a relationship or forces a decision. Answers are never trivia.</a:t>
            </a:r>
            <a:endParaRPr lang="en-US" sz="950" dirty="0"/>
          </a:p>
        </p:txBody>
      </p:sp>
      <p:sp>
        <p:nvSpPr>
          <p:cNvPr id="25" name="Slide Number Placeholder 0"/>
          <p:cNvSpPr>
            <a:spLocks noGrp="1"/>
          </p:cNvSpPr>
          <p:nvPr>
            <p:ph type="sldNum" sz="quarter" idx="4294967295"/>
          </p:nvPr>
        </p:nvSpPr>
        <p:spPr>
          <a:xfrm>
            <a:off x="8522208" y="486460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4A5560"/>
                </a:solidFill>
                <a:latin typeface="Courier New"/>
                <a:ea typeface="Courier New"/>
                <a:cs typeface="Courier New"/>
              </a:defRPr>
            </a:lvl1pPr>
          </a:lstStyle>
          <a:p>
            <a:pPr algn="l"/>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Chromopunk: Resonators — Pitch</dc:title>
  <dc:subject>PptxGenJS Presentation</dc:subject>
  <dc:creator>Chromopunk: Resonators (fan project)</dc:creator>
  <cp:lastModifiedBy>Chromopunk: Resonators (fan project)</cp:lastModifiedBy>
  <cp:revision>1</cp:revision>
  <dcterms:created xsi:type="dcterms:W3CDTF">2026-07-20T23:13:29Z</dcterms:created>
  <dcterms:modified xsi:type="dcterms:W3CDTF">2026-07-20T23:13:29Z</dcterms:modified>
</cp:coreProperties>
</file>